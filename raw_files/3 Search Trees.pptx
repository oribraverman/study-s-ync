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85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75" r:id="rId17"/>
    <p:sldId id="276" r:id="rId18"/>
    <p:sldId id="277" r:id="rId19"/>
    <p:sldId id="280" r:id="rId20"/>
    <p:sldId id="281" r:id="rId21"/>
    <p:sldId id="282" r:id="rId22"/>
    <p:sldId id="283" r:id="rId23"/>
    <p:sldId id="284" r:id="rId24"/>
    <p:sldId id="291" r:id="rId25"/>
    <p:sldId id="292" r:id="rId26"/>
    <p:sldId id="293" r:id="rId27"/>
    <p:sldId id="295" r:id="rId28"/>
    <p:sldId id="294" r:id="rId29"/>
    <p:sldId id="297" r:id="rId30"/>
    <p:sldId id="296" r:id="rId31"/>
    <p:sldId id="298" r:id="rId32"/>
    <p:sldId id="299" r:id="rId33"/>
    <p:sldId id="300" r:id="rId34"/>
    <p:sldId id="301" r:id="rId35"/>
    <p:sldId id="302" r:id="rId36"/>
    <p:sldId id="290" r:id="rId37"/>
    <p:sldId id="271" r:id="rId38"/>
    <p:sldId id="272" r:id="rId39"/>
    <p:sldId id="286" r:id="rId40"/>
    <p:sldId id="273" r:id="rId41"/>
    <p:sldId id="274" r:id="rId42"/>
    <p:sldId id="28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FF0000"/>
    <a:srgbClr val="000000"/>
    <a:srgbClr val="FFC000"/>
    <a:srgbClr val="BFBFB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F39B4-F28E-4C72-968F-218D64F3C0E6}" v="1" dt="2026-03-10T15:35:14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>
      <p:cViewPr varScale="1">
        <p:scale>
          <a:sx n="80" d="100"/>
          <a:sy n="80" d="100"/>
        </p:scale>
        <p:origin x="763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custSel modSld">
      <pc:chgData name="Shmuel Wimer" userId="8ef14acc-0d94-4859-bee1-3b6488f0f102" providerId="ADAL" clId="{2891196E-E581-47E3-AAD7-5B981CEF6CD4}" dt="2026-03-10T15:35:14.178" v="1" actId="27636"/>
      <pc:docMkLst>
        <pc:docMk/>
      </pc:docMkLst>
      <pc:sldChg chg="modSp mod">
        <pc:chgData name="Shmuel Wimer" userId="8ef14acc-0d94-4859-bee1-3b6488f0f102" providerId="ADAL" clId="{2891196E-E581-47E3-AAD7-5B981CEF6CD4}" dt="2026-03-10T15:35:14.178" v="1" actId="27636"/>
        <pc:sldMkLst>
          <pc:docMk/>
          <pc:sldMk cId="4163084423" sldId="256"/>
        </pc:sldMkLst>
        <pc:spChg chg="mod">
          <ac:chgData name="Shmuel Wimer" userId="8ef14acc-0d94-4859-bee1-3b6488f0f102" providerId="ADAL" clId="{2891196E-E581-47E3-AAD7-5B981CEF6CD4}" dt="2026-03-10T15:35:14.178" v="1" actId="27636"/>
          <ac:spMkLst>
            <pc:docMk/>
            <pc:sldMk cId="4163084423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05-May-26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7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76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75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75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23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71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33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88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54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76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7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1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5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00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49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5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57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42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54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18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754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028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53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644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037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749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71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430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529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177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616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696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3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2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4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13" Type="http://schemas.openxmlformats.org/officeDocument/2006/relationships/image" Target="../media/image67.png"/><Relationship Id="rId18" Type="http://schemas.openxmlformats.org/officeDocument/2006/relationships/image" Target="../media/image71.png"/><Relationship Id="rId3" Type="http://schemas.openxmlformats.org/officeDocument/2006/relationships/image" Target="../media/image42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5" Type="http://schemas.openxmlformats.org/officeDocument/2006/relationships/image" Target="../media/image60.png"/><Relationship Id="rId15" Type="http://schemas.openxmlformats.org/officeDocument/2006/relationships/image" Target="../media/image68.png"/><Relationship Id="rId10" Type="http://schemas.openxmlformats.org/officeDocument/2006/relationships/image" Target="../media/image64.png"/><Relationship Id="rId19" Type="http://schemas.openxmlformats.org/officeDocument/2006/relationships/image" Target="../media/image72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Relationship Id="rId14" Type="http://schemas.openxmlformats.org/officeDocument/2006/relationships/image" Target="../media/image6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4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3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77.png"/><Relationship Id="rId21" Type="http://schemas.openxmlformats.org/officeDocument/2006/relationships/image" Target="../media/image9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85.png"/><Relationship Id="rId5" Type="http://schemas.openxmlformats.org/officeDocument/2006/relationships/image" Target="../media/image84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150.png"/><Relationship Id="rId18" Type="http://schemas.openxmlformats.org/officeDocument/2006/relationships/image" Target="../media/image1200.png"/><Relationship Id="rId3" Type="http://schemas.openxmlformats.org/officeDocument/2006/relationships/image" Target="../media/image1100.png"/><Relationship Id="rId7" Type="http://schemas.openxmlformats.org/officeDocument/2006/relationships/image" Target="../media/image128.png"/><Relationship Id="rId12" Type="http://schemas.openxmlformats.org/officeDocument/2006/relationships/image" Target="../media/image1140.png"/><Relationship Id="rId17" Type="http://schemas.openxmlformats.org/officeDocument/2006/relationships/image" Target="../media/image119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80.png"/><Relationship Id="rId20" Type="http://schemas.openxmlformats.org/officeDocument/2006/relationships/image" Target="../media/image1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1.png"/><Relationship Id="rId11" Type="http://schemas.openxmlformats.org/officeDocument/2006/relationships/image" Target="../media/image1120.png"/><Relationship Id="rId5" Type="http://schemas.openxmlformats.org/officeDocument/2006/relationships/image" Target="../media/image127.png"/><Relationship Id="rId15" Type="http://schemas.openxmlformats.org/officeDocument/2006/relationships/image" Target="../media/image1170.png"/><Relationship Id="rId10" Type="http://schemas.openxmlformats.org/officeDocument/2006/relationships/image" Target="../media/image131.png"/><Relationship Id="rId19" Type="http://schemas.openxmlformats.org/officeDocument/2006/relationships/image" Target="../media/image1210.png"/><Relationship Id="rId4" Type="http://schemas.openxmlformats.org/officeDocument/2006/relationships/image" Target="../media/image126.png"/><Relationship Id="rId9" Type="http://schemas.openxmlformats.org/officeDocument/2006/relationships/image" Target="../media/image1110.png"/><Relationship Id="rId14" Type="http://schemas.openxmlformats.org/officeDocument/2006/relationships/image" Target="../media/image1160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0.png"/><Relationship Id="rId5" Type="http://schemas.openxmlformats.org/officeDocument/2006/relationships/image" Target="../media/image1240.png"/><Relationship Id="rId4" Type="http://schemas.openxmlformats.org/officeDocument/2006/relationships/image" Target="../media/image12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8" Type="http://schemas.openxmlformats.org/officeDocument/2006/relationships/image" Target="../media/image134.png"/><Relationship Id="rId3" Type="http://schemas.openxmlformats.org/officeDocument/2006/relationships/image" Target="../media/image1290.png"/><Relationship Id="rId21" Type="http://schemas.openxmlformats.org/officeDocument/2006/relationships/image" Target="../media/image147.png"/><Relationship Id="rId17" Type="http://schemas.openxmlformats.org/officeDocument/2006/relationships/image" Target="../media/image143.png"/><Relationship Id="rId7" Type="http://schemas.openxmlformats.org/officeDocument/2006/relationships/image" Target="../media/image1330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0.png"/><Relationship Id="rId11" Type="http://schemas.openxmlformats.org/officeDocument/2006/relationships/image" Target="../media/image137.png"/><Relationship Id="rId15" Type="http://schemas.openxmlformats.org/officeDocument/2006/relationships/image" Target="../media/image141.png"/><Relationship Id="rId5" Type="http://schemas.openxmlformats.org/officeDocument/2006/relationships/image" Target="../media/image1311.png"/><Relationship Id="rId19" Type="http://schemas.openxmlformats.org/officeDocument/2006/relationships/image" Target="../media/image145.png"/><Relationship Id="rId10" Type="http://schemas.openxmlformats.org/officeDocument/2006/relationships/image" Target="../media/image136.png"/><Relationship Id="rId14" Type="http://schemas.openxmlformats.org/officeDocument/2006/relationships/image" Target="../media/image140.png"/><Relationship Id="rId4" Type="http://schemas.openxmlformats.org/officeDocument/2006/relationships/image" Target="../media/image1300.png"/><Relationship Id="rId9" Type="http://schemas.openxmlformats.org/officeDocument/2006/relationships/image" Target="../media/image1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0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25" Type="http://schemas.openxmlformats.org/officeDocument/2006/relationships/image" Target="../media/image158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24" Type="http://schemas.openxmlformats.org/officeDocument/2006/relationships/image" Target="../media/image157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68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26" Type="http://schemas.openxmlformats.org/officeDocument/2006/relationships/image" Target="../media/image581.png"/><Relationship Id="rId18" Type="http://schemas.openxmlformats.org/officeDocument/2006/relationships/image" Target="../media/image184.png"/><Relationship Id="rId3" Type="http://schemas.openxmlformats.org/officeDocument/2006/relationships/image" Target="../media/image1690.png"/><Relationship Id="rId21" Type="http://schemas.openxmlformats.org/officeDocument/2006/relationships/image" Target="../media/image187.png"/><Relationship Id="rId25" Type="http://schemas.openxmlformats.org/officeDocument/2006/relationships/image" Target="../media/image169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24" Type="http://schemas.openxmlformats.org/officeDocument/2006/relationships/image" Target="../media/image190.png"/><Relationship Id="rId5" Type="http://schemas.openxmlformats.org/officeDocument/2006/relationships/image" Target="../media/image171.png"/><Relationship Id="rId15" Type="http://schemas.openxmlformats.org/officeDocument/2006/relationships/image" Target="../media/image181.png"/><Relationship Id="rId23" Type="http://schemas.openxmlformats.org/officeDocument/2006/relationships/image" Target="../media/image189.png"/><Relationship Id="rId28" Type="http://schemas.openxmlformats.org/officeDocument/2006/relationships/image" Target="../media/image99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27" Type="http://schemas.openxmlformats.org/officeDocument/2006/relationships/image" Target="../media/image74.png"/><Relationship Id="rId14" Type="http://schemas.openxmlformats.org/officeDocument/2006/relationships/image" Target="../media/image180.png"/><Relationship Id="rId22" Type="http://schemas.openxmlformats.org/officeDocument/2006/relationships/image" Target="../media/image18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1500.png"/><Relationship Id="rId7" Type="http://schemas.openxmlformats.org/officeDocument/2006/relationships/image" Target="../media/image106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351.png"/><Relationship Id="rId5" Type="http://schemas.openxmlformats.org/officeDocument/2006/relationships/image" Target="../media/image1041.png"/><Relationship Id="rId10" Type="http://schemas.openxmlformats.org/officeDocument/2006/relationships/image" Target="../media/image340.png"/><Relationship Id="rId4" Type="http://schemas.openxmlformats.org/officeDocument/2006/relationships/image" Target="../media/image1600.png"/><Relationship Id="rId9" Type="http://schemas.openxmlformats.org/officeDocument/2006/relationships/image" Target="../media/image3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400.png"/><Relationship Id="rId12" Type="http://schemas.openxmlformats.org/officeDocument/2006/relationships/image" Target="../media/image35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11" Type="http://schemas.openxmlformats.org/officeDocument/2006/relationships/image" Target="../media/image114.png"/><Relationship Id="rId5" Type="http://schemas.openxmlformats.org/officeDocument/2006/relationships/image" Target="../media/image380.png"/><Relationship Id="rId10" Type="http://schemas.openxmlformats.org/officeDocument/2006/relationships/image" Target="../media/image330.png"/><Relationship Id="rId9" Type="http://schemas.openxmlformats.org/officeDocument/2006/relationships/image" Target="../media/image320.png"/><Relationship Id="rId4" Type="http://schemas.openxmlformats.org/officeDocument/2006/relationships/image" Target="../media/image2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116.png"/><Relationship Id="rId7" Type="http://schemas.openxmlformats.org/officeDocument/2006/relationships/image" Target="../media/image410.png"/><Relationship Id="rId12" Type="http://schemas.openxmlformats.org/officeDocument/2006/relationships/image" Target="../media/image51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500.png"/><Relationship Id="rId5" Type="http://schemas.openxmlformats.org/officeDocument/2006/relationships/image" Target="../media/image470.png"/><Relationship Id="rId10" Type="http://schemas.openxmlformats.org/officeDocument/2006/relationships/image" Target="../media/image490.png"/><Relationship Id="rId4" Type="http://schemas.openxmlformats.org/officeDocument/2006/relationships/image" Target="../media/image460.png"/><Relationship Id="rId9" Type="http://schemas.openxmlformats.org/officeDocument/2006/relationships/image" Target="../media/image43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3" Type="http://schemas.openxmlformats.org/officeDocument/2006/relationships/image" Target="../media/image450.png"/><Relationship Id="rId7" Type="http://schemas.openxmlformats.org/officeDocument/2006/relationships/image" Target="../media/image7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0.png"/><Relationship Id="rId5" Type="http://schemas.openxmlformats.org/officeDocument/2006/relationships/image" Target="../media/image1040.png"/><Relationship Id="rId4" Type="http://schemas.openxmlformats.org/officeDocument/2006/relationships/image" Target="../media/image1030.png"/><Relationship Id="rId9" Type="http://schemas.openxmlformats.org/officeDocument/2006/relationships/image" Target="../media/image10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0.png"/><Relationship Id="rId4" Type="http://schemas.openxmlformats.org/officeDocument/2006/relationships/image" Target="../media/image106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2.png"/><Relationship Id="rId7" Type="http://schemas.openxmlformats.org/officeDocument/2006/relationships/image" Target="../media/image11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0.png"/><Relationship Id="rId5" Type="http://schemas.openxmlformats.org/officeDocument/2006/relationships/image" Target="../media/image1141.png"/><Relationship Id="rId10" Type="http://schemas.openxmlformats.org/officeDocument/2006/relationships/image" Target="../media/image1152.png"/><Relationship Id="rId4" Type="http://schemas.openxmlformats.org/officeDocument/2006/relationships/image" Target="../media/image1062.png"/><Relationship Id="rId9" Type="http://schemas.openxmlformats.org/officeDocument/2006/relationships/image" Target="../media/image11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1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1.png"/><Relationship Id="rId4" Type="http://schemas.openxmlformats.org/officeDocument/2006/relationships/image" Target="../media/image1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Search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6008" y="1771071"/>
            <a:ext cx="5859982" cy="865078"/>
          </a:xfrm>
        </p:spPr>
        <p:txBody>
          <a:bodyPr>
            <a:normAutofit fontScale="92500"/>
          </a:bodyPr>
          <a:lstStyle/>
          <a:p>
            <a:r>
              <a:rPr lang="en-US" dirty="0"/>
              <a:t>Prepared by Shmuel Wimer</a:t>
            </a:r>
          </a:p>
          <a:p>
            <a:r>
              <a:rPr lang="en-US" dirty="0"/>
              <a:t>Instructed </a:t>
            </a:r>
            <a:r>
              <a:rPr lang="en-US"/>
              <a:t>by Deganit Armon </a:t>
            </a:r>
            <a:r>
              <a:rPr lang="en-US" dirty="0"/>
              <a:t>and Shmuel Wimer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8" y="2955177"/>
            <a:ext cx="2869418" cy="32167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Binary Search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350169"/>
                <a:ext cx="10261140" cy="4635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BST</a:t>
                </a:r>
                <a:r>
                  <a:rPr lang="en-US" sz="2800" dirty="0"/>
                  <a:t> Supports dynamic-set operations: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SEARCH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MINIMUM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latin typeface="Cambria Math" panose="02040503050406030204" pitchFamily="18" charset="0"/>
                      </a:rPr>
                      <m:t>MAXIMUM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PREDECESSOR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SUCCESSOR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INSERT</m:t>
                    </m:r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latin typeface="Cambria Math" panose="02040503050406030204" pitchFamily="18" charset="0"/>
                      </a:rPr>
                      <m:t>DELETE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Useful for </a:t>
                </a:r>
                <a:r>
                  <a:rPr lang="en-US" sz="2800" b="1" dirty="0"/>
                  <a:t>dictionaries</a:t>
                </a:r>
                <a:r>
                  <a:rPr lang="en-US" sz="2800" dirty="0"/>
                  <a:t>.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worst-case time for complete BST,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worst-case time if the tree is a chain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nodes.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Expected height of a randomly built BST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, special BSTs maintain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height.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50169"/>
                <a:ext cx="10261140" cy="4635115"/>
              </a:xfrm>
              <a:prstGeom prst="rect">
                <a:avLst/>
              </a:prstGeom>
              <a:blipFill>
                <a:blip r:embed="rId3"/>
                <a:stretch>
                  <a:fillRect l="-1188" t="-131" r="-1188" b="-1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Search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/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BST property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1134657" y="1268760"/>
            <a:ext cx="10091913" cy="2981324"/>
            <a:chOff x="1048256" y="1232756"/>
            <a:chExt cx="10091913" cy="2981324"/>
          </a:xfrm>
        </p:grpSpPr>
        <p:grpSp>
          <p:nvGrpSpPr>
            <p:cNvPr id="23" name="Group 22"/>
            <p:cNvGrpSpPr/>
            <p:nvPr/>
          </p:nvGrpSpPr>
          <p:grpSpPr>
            <a:xfrm>
              <a:off x="3056278" y="1232756"/>
              <a:ext cx="5776026" cy="2981324"/>
              <a:chOff x="2912262" y="3158970"/>
              <a:chExt cx="5776026" cy="2981324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5823384" y="3158970"/>
                <a:ext cx="545232" cy="540060"/>
                <a:chOff x="5823384" y="3158970"/>
                <a:chExt cx="545232" cy="540060"/>
              </a:xfrm>
            </p:grpSpPr>
            <p:sp>
              <p:nvSpPr>
                <p:cNvPr id="5" name="Oval 4"/>
                <p:cNvSpPr/>
                <p:nvPr/>
              </p:nvSpPr>
              <p:spPr>
                <a:xfrm>
                  <a:off x="5823384" y="3158970"/>
                  <a:ext cx="545232" cy="54006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/>
                    <p:cNvSpPr txBox="1"/>
                    <p:nvPr/>
                  </p:nvSpPr>
                  <p:spPr>
                    <a:xfrm>
                      <a:off x="5843972" y="3167390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6" name="TextBox 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3972" y="3167390"/>
                      <a:ext cx="504056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" name="Group 15"/>
              <p:cNvGrpSpPr/>
              <p:nvPr/>
            </p:nvGrpSpPr>
            <p:grpSpPr>
              <a:xfrm>
                <a:off x="2912262" y="4160074"/>
                <a:ext cx="2577895" cy="1980220"/>
                <a:chOff x="2912262" y="4160074"/>
                <a:chExt cx="2577895" cy="1980220"/>
              </a:xfrm>
            </p:grpSpPr>
            <p:sp>
              <p:nvSpPr>
                <p:cNvPr id="7" name="Isosceles Triangle 6"/>
                <p:cNvSpPr/>
                <p:nvPr/>
              </p:nvSpPr>
              <p:spPr>
                <a:xfrm>
                  <a:off x="2912262" y="4160074"/>
                  <a:ext cx="2577895" cy="1980220"/>
                </a:xfrm>
                <a:prstGeom prst="triangle">
                  <a:avLst/>
                </a:prstGeom>
                <a:solidFill>
                  <a:srgbClr val="0000FF">
                    <a:alpha val="3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" name="Group 11"/>
                <p:cNvGrpSpPr/>
                <p:nvPr/>
              </p:nvGrpSpPr>
              <p:grpSpPr>
                <a:xfrm>
                  <a:off x="3581400" y="5409220"/>
                  <a:ext cx="545232" cy="540060"/>
                  <a:chOff x="5823384" y="3158970"/>
                  <a:chExt cx="545232" cy="540060"/>
                </a:xfrm>
              </p:grpSpPr>
              <p:sp>
                <p:nvSpPr>
                  <p:cNvPr id="13" name="Oval 12"/>
                  <p:cNvSpPr/>
                  <p:nvPr/>
                </p:nvSpPr>
                <p:spPr>
                  <a:xfrm>
                    <a:off x="5823384" y="3158970"/>
                    <a:ext cx="545232" cy="54006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TextBox 13"/>
                      <p:cNvSpPr txBox="1"/>
                      <p:nvPr/>
                    </p:nvSpPr>
                    <p:spPr>
                      <a:xfrm>
                        <a:off x="5843972" y="3167390"/>
                        <a:ext cx="50405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" name="TextBox 1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843972" y="3167390"/>
                        <a:ext cx="504056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1" name="Freeform 10"/>
              <p:cNvSpPr/>
              <p:nvPr/>
            </p:nvSpPr>
            <p:spPr>
              <a:xfrm>
                <a:off x="3878179" y="3561347"/>
                <a:ext cx="1981200" cy="1844842"/>
              </a:xfrm>
              <a:custGeom>
                <a:avLst/>
                <a:gdLst>
                  <a:gd name="connsiteX0" fmla="*/ 0 w 1981200"/>
                  <a:gd name="connsiteY0" fmla="*/ 1844842 h 1844842"/>
                  <a:gd name="connsiteX1" fmla="*/ 368968 w 1981200"/>
                  <a:gd name="connsiteY1" fmla="*/ 1576137 h 1844842"/>
                  <a:gd name="connsiteX2" fmla="*/ 264695 w 1981200"/>
                  <a:gd name="connsiteY2" fmla="*/ 1231232 h 1844842"/>
                  <a:gd name="connsiteX3" fmla="*/ 409074 w 1981200"/>
                  <a:gd name="connsiteY3" fmla="*/ 1018674 h 1844842"/>
                  <a:gd name="connsiteX4" fmla="*/ 332874 w 1981200"/>
                  <a:gd name="connsiteY4" fmla="*/ 613611 h 1844842"/>
                  <a:gd name="connsiteX5" fmla="*/ 685800 w 1981200"/>
                  <a:gd name="connsiteY5" fmla="*/ 364958 h 1844842"/>
                  <a:gd name="connsiteX6" fmla="*/ 1981200 w 1981200"/>
                  <a:gd name="connsiteY6" fmla="*/ 0 h 1844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1200" h="1844842">
                    <a:moveTo>
                      <a:pt x="0" y="1844842"/>
                    </a:moveTo>
                    <a:cubicBezTo>
                      <a:pt x="162426" y="1761623"/>
                      <a:pt x="324852" y="1678405"/>
                      <a:pt x="368968" y="1576137"/>
                    </a:cubicBezTo>
                    <a:cubicBezTo>
                      <a:pt x="413084" y="1473869"/>
                      <a:pt x="258011" y="1324143"/>
                      <a:pt x="264695" y="1231232"/>
                    </a:cubicBezTo>
                    <a:cubicBezTo>
                      <a:pt x="271379" y="1138321"/>
                      <a:pt x="397711" y="1121611"/>
                      <a:pt x="409074" y="1018674"/>
                    </a:cubicBezTo>
                    <a:cubicBezTo>
                      <a:pt x="420437" y="915737"/>
                      <a:pt x="286753" y="722564"/>
                      <a:pt x="332874" y="613611"/>
                    </a:cubicBezTo>
                    <a:cubicBezTo>
                      <a:pt x="378995" y="504658"/>
                      <a:pt x="411079" y="467226"/>
                      <a:pt x="685800" y="364958"/>
                    </a:cubicBezTo>
                    <a:cubicBezTo>
                      <a:pt x="960521" y="262690"/>
                      <a:pt x="1470860" y="131345"/>
                      <a:pt x="198120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6225623" y="3843046"/>
                <a:ext cx="2462665" cy="1727872"/>
                <a:chOff x="6225623" y="3843046"/>
                <a:chExt cx="2462665" cy="1727872"/>
              </a:xfrm>
            </p:grpSpPr>
            <p:sp>
              <p:nvSpPr>
                <p:cNvPr id="18" name="Isosceles Triangle 17"/>
                <p:cNvSpPr/>
                <p:nvPr/>
              </p:nvSpPr>
              <p:spPr>
                <a:xfrm>
                  <a:off x="6225623" y="3843046"/>
                  <a:ext cx="2462665" cy="1727872"/>
                </a:xfrm>
                <a:prstGeom prst="triangle">
                  <a:avLst/>
                </a:prstGeom>
                <a:solidFill>
                  <a:srgbClr val="FF0000">
                    <a:alpha val="3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" name="Group 18"/>
                <p:cNvGrpSpPr/>
                <p:nvPr/>
              </p:nvGrpSpPr>
              <p:grpSpPr>
                <a:xfrm>
                  <a:off x="7068108" y="4833156"/>
                  <a:ext cx="545232" cy="540060"/>
                  <a:chOff x="5823384" y="3158970"/>
                  <a:chExt cx="545232" cy="540060"/>
                </a:xfrm>
              </p:grpSpPr>
              <p:sp>
                <p:nvSpPr>
                  <p:cNvPr id="20" name="Oval 19"/>
                  <p:cNvSpPr/>
                  <p:nvPr/>
                </p:nvSpPr>
                <p:spPr>
                  <a:xfrm>
                    <a:off x="5823384" y="3158970"/>
                    <a:ext cx="545232" cy="54006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TextBox 20"/>
                      <p:cNvSpPr txBox="1"/>
                      <p:nvPr/>
                    </p:nvSpPr>
                    <p:spPr>
                      <a:xfrm>
                        <a:off x="5843972" y="3167390"/>
                        <a:ext cx="50405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1" name="TextBox 2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843972" y="3167390"/>
                        <a:ext cx="504056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5" name="Freeform 14"/>
              <p:cNvSpPr/>
              <p:nvPr/>
            </p:nvSpPr>
            <p:spPr>
              <a:xfrm>
                <a:off x="6352674" y="3493168"/>
                <a:ext cx="1217453" cy="1348408"/>
              </a:xfrm>
              <a:custGeom>
                <a:avLst/>
                <a:gdLst>
                  <a:gd name="connsiteX0" fmla="*/ 1110915 w 1217453"/>
                  <a:gd name="connsiteY0" fmla="*/ 1102895 h 1102895"/>
                  <a:gd name="connsiteX1" fmla="*/ 1215189 w 1217453"/>
                  <a:gd name="connsiteY1" fmla="*/ 870285 h 1102895"/>
                  <a:gd name="connsiteX2" fmla="*/ 1022684 w 1217453"/>
                  <a:gd name="connsiteY2" fmla="*/ 729916 h 1102895"/>
                  <a:gd name="connsiteX3" fmla="*/ 1118937 w 1217453"/>
                  <a:gd name="connsiteY3" fmla="*/ 381000 h 1102895"/>
                  <a:gd name="connsiteX4" fmla="*/ 1026694 w 1217453"/>
                  <a:gd name="connsiteY4" fmla="*/ 228600 h 1102895"/>
                  <a:gd name="connsiteX5" fmla="*/ 513347 w 1217453"/>
                  <a:gd name="connsiteY5" fmla="*/ 92243 h 1102895"/>
                  <a:gd name="connsiteX6" fmla="*/ 0 w 1217453"/>
                  <a:gd name="connsiteY6" fmla="*/ 0 h 1102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7453" h="1102895">
                    <a:moveTo>
                      <a:pt x="1110915" y="1102895"/>
                    </a:moveTo>
                    <a:cubicBezTo>
                      <a:pt x="1170404" y="1017671"/>
                      <a:pt x="1229894" y="932448"/>
                      <a:pt x="1215189" y="870285"/>
                    </a:cubicBezTo>
                    <a:cubicBezTo>
                      <a:pt x="1200484" y="808122"/>
                      <a:pt x="1038726" y="811463"/>
                      <a:pt x="1022684" y="729916"/>
                    </a:cubicBezTo>
                    <a:cubicBezTo>
                      <a:pt x="1006642" y="648369"/>
                      <a:pt x="1118269" y="464553"/>
                      <a:pt x="1118937" y="381000"/>
                    </a:cubicBezTo>
                    <a:cubicBezTo>
                      <a:pt x="1119605" y="297447"/>
                      <a:pt x="1127626" y="276726"/>
                      <a:pt x="1026694" y="228600"/>
                    </a:cubicBezTo>
                    <a:cubicBezTo>
                      <a:pt x="925762" y="180474"/>
                      <a:pt x="684463" y="130343"/>
                      <a:pt x="513347" y="92243"/>
                    </a:cubicBezTo>
                    <a:cubicBezTo>
                      <a:pt x="342231" y="54143"/>
                      <a:pt x="171115" y="27071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048256" y="2047636"/>
                  <a:ext cx="29739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left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subtree</m:t>
                        </m:r>
                      </m:oMath>
                    </m:oMathPara>
                  </a14:m>
                  <a:endParaRPr lang="en-US" sz="2800" b="0" i="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𝑘𝑒𝑦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𝑘𝑒𝑦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256" y="2047636"/>
                  <a:ext cx="2973939" cy="9541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8040216" y="1755038"/>
                  <a:ext cx="3099953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right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subtree</m:t>
                        </m:r>
                      </m:oMath>
                    </m:oMathPara>
                  </a14:m>
                  <a:endParaRPr lang="en-US" sz="2800" b="0" i="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𝑘𝑒𝑦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𝑘𝑒𝑦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0216" y="1755038"/>
                  <a:ext cx="3099953" cy="9541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1134657" y="2345868"/>
            <a:ext cx="10067850" cy="3829050"/>
            <a:chOff x="1134657" y="2345868"/>
            <a:chExt cx="10067850" cy="3829050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4657" y="4077072"/>
              <a:ext cx="5253896" cy="2097846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21132" y="2345868"/>
              <a:ext cx="3381375" cy="3829050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2073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/>
          <p:cNvSpPr txBox="1"/>
          <p:nvPr/>
        </p:nvSpPr>
        <p:spPr>
          <a:xfrm>
            <a:off x="965430" y="621851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Nodes’ keys can be efficiently reported by an </a:t>
            </a:r>
            <a:r>
              <a:rPr lang="en-US" sz="2800" b="1" i="1" dirty="0"/>
              <a:t>inorder</a:t>
            </a:r>
            <a:r>
              <a:rPr lang="en-US" sz="2800" b="1" i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traversal.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65430" y="4844013"/>
            <a:ext cx="10261140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i="1" dirty="0"/>
              <a:t>Postorder</a:t>
            </a:r>
            <a:r>
              <a:rPr lang="en-US" sz="2800" b="1" i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traversal</a:t>
            </a:r>
            <a:r>
              <a:rPr lang="en-US" sz="2800" b="1" i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reports root’s key </a:t>
            </a:r>
            <a:r>
              <a:rPr lang="en-US" sz="2800" b="1" dirty="0"/>
              <a:t>after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left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FF0000"/>
                </a:solidFill>
              </a:rPr>
              <a:t>right</a:t>
            </a:r>
            <a:r>
              <a:rPr lang="en-US" sz="2800" dirty="0"/>
              <a:t> subtrees.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i="1" dirty="0"/>
              <a:t>Preorder</a:t>
            </a:r>
            <a:r>
              <a:rPr lang="en-US" sz="2800" b="1" i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traversal</a:t>
            </a:r>
            <a:r>
              <a:rPr lang="en-US" sz="2800" b="1" i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reports root’s key </a:t>
            </a:r>
            <a:r>
              <a:rPr lang="en-US" sz="2800" b="1" dirty="0"/>
              <a:t>before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left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FF0000"/>
                </a:solidFill>
              </a:rPr>
              <a:t>right</a:t>
            </a:r>
            <a:r>
              <a:rPr lang="en-US" sz="2800" dirty="0"/>
              <a:t> subtrees.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965430" y="1268760"/>
            <a:ext cx="10261140" cy="3499022"/>
            <a:chOff x="965430" y="1268760"/>
            <a:chExt cx="10261140" cy="3499022"/>
          </a:xfrm>
        </p:grpSpPr>
        <p:sp>
          <p:nvSpPr>
            <p:cNvPr id="10" name="TextBox 9"/>
            <p:cNvSpPr txBox="1"/>
            <p:nvPr/>
          </p:nvSpPr>
          <p:spPr>
            <a:xfrm>
              <a:off x="965430" y="1268760"/>
              <a:ext cx="10261140" cy="1126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  <a:spcAft>
                  <a:spcPts val="1800"/>
                </a:spcAft>
              </a:pPr>
              <a:r>
                <a:rPr lang="en-US" sz="2800" dirty="0"/>
                <a:t>Node’s key (root) reported </a:t>
              </a:r>
              <a:r>
                <a:rPr lang="en-US" sz="2800" b="1" dirty="0"/>
                <a:t>after</a:t>
              </a:r>
              <a:r>
                <a:rPr lang="en-US" sz="2800" dirty="0"/>
                <a:t> all </a:t>
              </a:r>
              <a:r>
                <a:rPr lang="en-US" sz="2800" b="1" dirty="0">
                  <a:solidFill>
                    <a:srgbClr val="0000FF"/>
                  </a:solidFill>
                </a:rPr>
                <a:t>left</a:t>
              </a:r>
              <a:r>
                <a:rPr lang="en-US" sz="2800" dirty="0"/>
                <a:t> subtree’s nodes and </a:t>
              </a:r>
              <a:r>
                <a:rPr lang="en-US" sz="2800" b="1" dirty="0"/>
                <a:t>before</a:t>
              </a:r>
              <a:r>
                <a:rPr lang="en-US" sz="2800" dirty="0"/>
                <a:t> </a:t>
              </a:r>
              <a:r>
                <a:rPr lang="en-US" sz="2800" b="1" dirty="0">
                  <a:solidFill>
                    <a:srgbClr val="FF0000"/>
                  </a:solidFill>
                </a:rPr>
                <a:t>right</a:t>
              </a:r>
              <a:r>
                <a:rPr lang="en-US" sz="2800" dirty="0"/>
                <a:t> subtree’s nodes.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3251684" y="2530471"/>
              <a:ext cx="5913524" cy="2237311"/>
              <a:chOff x="3251684" y="2530471"/>
              <a:chExt cx="5913524" cy="2237311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1684" y="2530471"/>
                <a:ext cx="5858978" cy="2175134"/>
              </a:xfrm>
              <a:prstGeom prst="rect">
                <a:avLst/>
              </a:prstGeom>
            </p:spPr>
          </p:pic>
          <p:grpSp>
            <p:nvGrpSpPr>
              <p:cNvPr id="13" name="Group 12"/>
              <p:cNvGrpSpPr/>
              <p:nvPr/>
            </p:nvGrpSpPr>
            <p:grpSpPr>
              <a:xfrm>
                <a:off x="3251684" y="2530471"/>
                <a:ext cx="5913524" cy="2237311"/>
                <a:chOff x="3251684" y="2362721"/>
                <a:chExt cx="5913524" cy="2237311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4322197" y="3227308"/>
                  <a:ext cx="4787924" cy="468052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4322197" y="4069803"/>
                  <a:ext cx="4787924" cy="468052"/>
                </a:xfrm>
                <a:prstGeom prst="rect">
                  <a:avLst/>
                </a:prstGeom>
                <a:solidFill>
                  <a:srgbClr val="FF0000">
                    <a:alpha val="3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3251684" y="2362721"/>
                  <a:ext cx="5913524" cy="2237311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2873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56692"/>
                <a:ext cx="10261140" cy="5383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. 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-node BST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INORDER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TREE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WALK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INORDER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TREE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WALK</m:t>
                    </m:r>
                  </m:oMath>
                </a14:m>
                <a:r>
                  <a:rPr lang="en-US" sz="2800" dirty="0"/>
                  <a:t> visits all nodes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 We show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Empty subtree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800" dirty="0"/>
                  <a:t>) yields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(1)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dirty="0"/>
                  <a:t>, for some constant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be root of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-node tree,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in left and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in right subtrees.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Excluding time spent 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INORDER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TREE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WALK</m:t>
                    </m:r>
                  </m:oMath>
                </a14:m>
                <a:r>
                  <a:rPr lang="en-US" sz="2800" dirty="0"/>
                  <a:t> calls, body spends time bounded by some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hence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5383012"/>
              </a:xfrm>
              <a:prstGeom prst="rect">
                <a:avLst/>
              </a:prstGeom>
              <a:blipFill>
                <a:blip r:embed="rId3"/>
                <a:stretch>
                  <a:fillRect l="-1188" t="-227" r="-1188" b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56692"/>
                <a:ext cx="10261140" cy="210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(2)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i="1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Let’s </a:t>
                </a:r>
                <a:r>
                  <a:rPr lang="en-US" sz="2800" b="1" dirty="0"/>
                  <a:t>substitute</a:t>
                </a:r>
                <a:r>
                  <a:rPr lang="en-US" sz="2800" dirty="0"/>
                  <a:t> the </a:t>
                </a:r>
                <a:r>
                  <a:rPr lang="en-US" sz="2800" b="1" dirty="0"/>
                  <a:t>guess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i="1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induction base there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i="1" dirty="0"/>
                  <a:t>, </a:t>
                </a:r>
                <a:r>
                  <a:rPr lang="en-US" sz="2800" dirty="0"/>
                  <a:t>true by (1).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2105192"/>
              </a:xfrm>
              <a:prstGeom prst="rect">
                <a:avLst/>
              </a:prstGeom>
              <a:blipFill>
                <a:blip r:embed="rId4"/>
                <a:stretch>
                  <a:fillRect l="-1188" t="-580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972918" y="2924944"/>
            <a:ext cx="10261140" cy="3264355"/>
            <a:chOff x="972918" y="2924944"/>
            <a:chExt cx="10261140" cy="3264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972918" y="2924944"/>
                  <a:ext cx="10261140" cy="32643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Assume by induction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800" dirty="0"/>
                    <a:t>. Then from (2),</a:t>
                  </a:r>
                </a:p>
                <a:p>
                  <a:pPr>
                    <a:spcAft>
                      <a:spcPts val="1800"/>
                    </a:spcAft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endParaRPr lang="en-US" sz="2800" i="1" dirty="0">
                    <a:latin typeface="Cambria Math" panose="02040503050406030204" pitchFamily="18" charset="0"/>
                  </a:endParaRPr>
                </a:p>
                <a:p>
                  <a:pPr>
                    <a:spcAft>
                      <a:spcPts val="1800"/>
                    </a:spcAft>
                  </a:pPr>
                  <a:endParaRPr lang="en-US" sz="2800" i="1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20000"/>
                    </a:lnSpc>
                  </a:pPr>
                  <a14:m>
                    <m:oMath xmlns:m="http://schemas.openxmlformats.org/officeDocument/2006/math"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l-G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2800" i="1" dirty="0"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2800" dirty="0"/>
                    <a:t>.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a14:m>
                  <a:endParaRPr lang="en-US" sz="28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18" y="2924944"/>
                  <a:ext cx="10261140" cy="3264355"/>
                </a:xfrm>
                <a:prstGeom prst="rect">
                  <a:avLst/>
                </a:prstGeom>
                <a:blipFill>
                  <a:blip r:embed="rId5"/>
                  <a:stretch>
                    <a:fillRect l="-1248" t="-374" r="-297" b="-3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/>
            <p:cNvGrpSpPr/>
            <p:nvPr/>
          </p:nvGrpSpPr>
          <p:grpSpPr>
            <a:xfrm>
              <a:off x="1761886" y="4473116"/>
              <a:ext cx="2101866" cy="523220"/>
              <a:chOff x="3080207" y="4828494"/>
              <a:chExt cx="2062943" cy="488266"/>
            </a:xfrm>
          </p:grpSpPr>
          <p:sp>
            <p:nvSpPr>
              <p:cNvPr id="8" name="Rectangular Callout 7"/>
              <p:cNvSpPr/>
              <p:nvPr/>
            </p:nvSpPr>
            <p:spPr>
              <a:xfrm>
                <a:off x="3117197" y="4854236"/>
                <a:ext cx="1919940" cy="436781"/>
              </a:xfrm>
              <a:prstGeom prst="wedgeRectCallout">
                <a:avLst>
                  <a:gd name="adj1" fmla="val -14635"/>
                  <a:gd name="adj2" fmla="val 96362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080207" y="4828494"/>
                <a:ext cx="2062943" cy="488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by induction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835860" y="4470893"/>
              <a:ext cx="2101866" cy="523220"/>
              <a:chOff x="3080207" y="4828494"/>
              <a:chExt cx="2062943" cy="488266"/>
            </a:xfrm>
          </p:grpSpPr>
          <p:sp>
            <p:nvSpPr>
              <p:cNvPr id="16" name="Rectangular Callout 15"/>
              <p:cNvSpPr/>
              <p:nvPr/>
            </p:nvSpPr>
            <p:spPr>
              <a:xfrm>
                <a:off x="3117197" y="4854236"/>
                <a:ext cx="1919940" cy="436781"/>
              </a:xfrm>
              <a:prstGeom prst="wedgeRectCallout">
                <a:avLst>
                  <a:gd name="adj1" fmla="val -14635"/>
                  <a:gd name="adj2" fmla="val 96362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080207" y="4828494"/>
                <a:ext cx="2062943" cy="488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by induction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800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Querying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268760"/>
                <a:ext cx="1026114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SEARCH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MINIMUM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latin typeface="Cambria Math" panose="02040503050406030204" pitchFamily="18" charset="0"/>
                      </a:rPr>
                      <m:t>MAXIMUM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PREDECESSOR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SUCCESSOR</m:t>
                    </m:r>
                  </m:oMath>
                </a14:m>
                <a:r>
                  <a:rPr lang="en-US" sz="2800" dirty="0"/>
                  <a:t>, all take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time,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tree height (depth).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68760"/>
                <a:ext cx="10261140" cy="954107"/>
              </a:xfrm>
              <a:prstGeom prst="rect">
                <a:avLst/>
              </a:prstGeom>
              <a:blipFill>
                <a:blip r:embed="rId3"/>
                <a:stretch>
                  <a:fillRect l="-1188" t="-5732" r="-1188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50" y="2427312"/>
            <a:ext cx="58293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57054" y="3233750"/>
            <a:ext cx="2114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searching </a:t>
            </a:r>
            <a:r>
              <a:rPr lang="en-US" sz="2800" dirty="0">
                <a:solidFill>
                  <a:srgbClr val="FF0000"/>
                </a:solidFill>
              </a:rPr>
              <a:t>13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870190" y="2443551"/>
            <a:ext cx="1980220" cy="993563"/>
            <a:chOff x="4871864" y="2407547"/>
            <a:chExt cx="1980220" cy="993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339916" y="2407547"/>
                  <a:ext cx="151216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a14:m>
                  <a:r>
                    <a:rPr lang="en-US" sz="2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      ? 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9916" y="2407547"/>
                  <a:ext cx="1512168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/>
            <p:cNvCxnSpPr/>
            <p:nvPr/>
          </p:nvCxnSpPr>
          <p:spPr>
            <a:xfrm flipV="1">
              <a:off x="4871864" y="2780719"/>
              <a:ext cx="1260140" cy="62039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18062" y="3296251"/>
            <a:ext cx="1657858" cy="924837"/>
            <a:chOff x="3719736" y="3260247"/>
            <a:chExt cx="1657858" cy="9248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719736" y="3260247"/>
                  <a:ext cx="151216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a14:m>
                  <a:r>
                    <a:rPr lang="en-US" sz="2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      ? 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9736" y="3260247"/>
                  <a:ext cx="1512168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Connector 21"/>
            <p:cNvCxnSpPr/>
            <p:nvPr/>
          </p:nvCxnSpPr>
          <p:spPr>
            <a:xfrm>
              <a:off x="4837534" y="3633055"/>
              <a:ext cx="540060" cy="55202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4511824" y="4054747"/>
            <a:ext cx="1512168" cy="898928"/>
            <a:chOff x="4511824" y="4047455"/>
            <a:chExt cx="1512168" cy="8989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511824" y="4047455"/>
                  <a:ext cx="151216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a14:m>
                  <a:r>
                    <a:rPr lang="en-US" sz="2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      ? 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1824" y="4047455"/>
                  <a:ext cx="151216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/>
            <p:nvPr/>
          </p:nvCxnSpPr>
          <p:spPr>
            <a:xfrm>
              <a:off x="5593618" y="4509120"/>
              <a:ext cx="232352" cy="4372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4690170" y="4935213"/>
            <a:ext cx="1764196" cy="461665"/>
            <a:chOff x="4691844" y="4899209"/>
            <a:chExt cx="1764196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691844" y="4899209"/>
                  <a:ext cx="17641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a14:m>
                  <a:r>
                    <a:rPr lang="en-US" sz="2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       ? 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44" y="4899209"/>
                  <a:ext cx="176419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/>
            <p:cNvSpPr/>
            <p:nvPr/>
          </p:nvSpPr>
          <p:spPr>
            <a:xfrm>
              <a:off x="5699956" y="4909239"/>
              <a:ext cx="405045" cy="41116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082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692696"/>
                <a:ext cx="10261140" cy="1184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Recursive (left) and iterative (right) codes take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time.</a:t>
                </a:r>
              </a:p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Iterative code is much more efficient in most processors.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2696"/>
                <a:ext cx="10261140" cy="1184940"/>
              </a:xfrm>
              <a:prstGeom prst="rect">
                <a:avLst/>
              </a:prstGeom>
              <a:blipFill>
                <a:blip r:embed="rId2"/>
                <a:stretch>
                  <a:fillRect l="-1188" t="-5155" b="-1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538420" y="2708920"/>
            <a:ext cx="11138200" cy="2628293"/>
            <a:chOff x="502416" y="2708920"/>
            <a:chExt cx="11138200" cy="2628293"/>
          </a:xfrm>
        </p:grpSpPr>
        <p:grpSp>
          <p:nvGrpSpPr>
            <p:cNvPr id="26" name="Group 25"/>
            <p:cNvGrpSpPr/>
            <p:nvPr/>
          </p:nvGrpSpPr>
          <p:grpSpPr>
            <a:xfrm>
              <a:off x="502416" y="2708920"/>
              <a:ext cx="5870086" cy="2628293"/>
              <a:chOff x="502416" y="2708920"/>
              <a:chExt cx="5870086" cy="2628293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502416" y="2708920"/>
                <a:ext cx="5870086" cy="2628293"/>
                <a:chOff x="489452" y="2708919"/>
                <a:chExt cx="5870086" cy="2628293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489452" y="2708919"/>
                  <a:ext cx="5870086" cy="2571750"/>
                  <a:chOff x="489452" y="2708919"/>
                  <a:chExt cx="5870086" cy="2571750"/>
                </a:xfrm>
              </p:grpSpPr>
              <p:grpSp>
                <p:nvGrpSpPr>
                  <p:cNvPr id="10" name="Group 9"/>
                  <p:cNvGrpSpPr/>
                  <p:nvPr/>
                </p:nvGrpSpPr>
                <p:grpSpPr>
                  <a:xfrm>
                    <a:off x="489452" y="2708919"/>
                    <a:ext cx="5870086" cy="2571750"/>
                    <a:chOff x="489452" y="2708919"/>
                    <a:chExt cx="5870086" cy="2571750"/>
                  </a:xfrm>
                </p:grpSpPr>
                <p:pic>
                  <p:nvPicPr>
                    <p:cNvPr id="5" name="Picture 4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87388" y="2708919"/>
                      <a:ext cx="5772150" cy="257175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489452" y="3226221"/>
                      <a:ext cx="475978" cy="199253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2932189" y="3573016"/>
                    <a:ext cx="327182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found or not exists</a:t>
                    </a:r>
                  </a:p>
                </p:txBody>
              </p:sp>
            </p:grpSp>
            <p:sp>
              <p:nvSpPr>
                <p:cNvPr id="16" name="Rectangle 15"/>
                <p:cNvSpPr/>
                <p:nvPr/>
              </p:nvSpPr>
              <p:spPr>
                <a:xfrm>
                  <a:off x="551384" y="2708919"/>
                  <a:ext cx="5808154" cy="2628293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" name="Group 24"/>
              <p:cNvGrpSpPr/>
              <p:nvPr/>
            </p:nvGrpSpPr>
            <p:grpSpPr>
              <a:xfrm>
                <a:off x="2667509" y="4401108"/>
                <a:ext cx="3651638" cy="743602"/>
                <a:chOff x="2667509" y="4401108"/>
                <a:chExt cx="3651638" cy="743602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2680343" y="4401108"/>
                  <a:ext cx="3638803" cy="356342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2667509" y="4788368"/>
                  <a:ext cx="3651638" cy="356342"/>
                </a:xfrm>
                <a:prstGeom prst="rect">
                  <a:avLst/>
                </a:prstGeom>
                <a:solidFill>
                  <a:srgbClr val="FF0000">
                    <a:alpha val="3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7" name="Group 26"/>
            <p:cNvGrpSpPr/>
            <p:nvPr/>
          </p:nvGrpSpPr>
          <p:grpSpPr>
            <a:xfrm>
              <a:off x="6421470" y="2708920"/>
              <a:ext cx="5219146" cy="2628293"/>
              <a:chOff x="6470438" y="2708920"/>
              <a:chExt cx="5219146" cy="2628293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6470438" y="2708920"/>
                <a:ext cx="5219146" cy="2628293"/>
                <a:chOff x="6457474" y="2708919"/>
                <a:chExt cx="5219146" cy="2628293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6457474" y="2770832"/>
                  <a:ext cx="5160637" cy="2509837"/>
                  <a:chOff x="6457474" y="2770832"/>
                  <a:chExt cx="5160637" cy="2509837"/>
                </a:xfrm>
              </p:grpSpPr>
              <p:grpSp>
                <p:nvGrpSpPr>
                  <p:cNvPr id="11" name="Group 10"/>
                  <p:cNvGrpSpPr/>
                  <p:nvPr/>
                </p:nvGrpSpPr>
                <p:grpSpPr>
                  <a:xfrm>
                    <a:off x="6457474" y="2770832"/>
                    <a:ext cx="4853265" cy="2450203"/>
                    <a:chOff x="6457474" y="2770832"/>
                    <a:chExt cx="4853265" cy="2450203"/>
                  </a:xfrm>
                </p:grpSpPr>
                <p:pic>
                  <p:nvPicPr>
                    <p:cNvPr id="6" name="Picture 5"/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6672064" y="2770832"/>
                      <a:ext cx="4638675" cy="2447925"/>
                    </a:xfrm>
                    <a:prstGeom prst="rect">
                      <a:avLst/>
                    </a:prstGeom>
                    <a:ln w="28575">
                      <a:noFill/>
                    </a:ln>
                  </p:spPr>
                </p:pic>
                <p:sp>
                  <p:nvSpPr>
                    <p:cNvPr id="9" name="Rectangle 8"/>
                    <p:cNvSpPr/>
                    <p:nvPr/>
                  </p:nvSpPr>
                  <p:spPr>
                    <a:xfrm>
                      <a:off x="6457474" y="3228500"/>
                      <a:ext cx="475978" cy="199253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8346288" y="4757449"/>
                    <a:ext cx="3271823" cy="523220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found or not exists</a:t>
                    </a:r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>
                  <a:off x="6564052" y="2708919"/>
                  <a:ext cx="5112568" cy="2628293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Rectangle 22"/>
              <p:cNvSpPr/>
              <p:nvPr/>
            </p:nvSpPr>
            <p:spPr>
              <a:xfrm>
                <a:off x="8359252" y="4096237"/>
                <a:ext cx="1769195" cy="356342"/>
              </a:xfrm>
              <a:prstGeom prst="rect">
                <a:avLst/>
              </a:prstGeom>
              <a:solidFill>
                <a:srgbClr val="0000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8359252" y="4500519"/>
                <a:ext cx="1769196" cy="356342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6268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50" y="620688"/>
            <a:ext cx="5829300" cy="381000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3251684" y="1010099"/>
            <a:ext cx="2878646" cy="2542038"/>
            <a:chOff x="3251684" y="1010099"/>
            <a:chExt cx="2878646" cy="2542038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4870190" y="1010099"/>
              <a:ext cx="1260140" cy="620391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4007768" y="1862826"/>
              <a:ext cx="540060" cy="54006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3564138" y="2708920"/>
              <a:ext cx="227606" cy="432048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3251684" y="3140968"/>
              <a:ext cx="405045" cy="411169"/>
            </a:xfrm>
            <a:prstGeom prst="ellipse">
              <a:avLst/>
            </a:pr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492045" y="1010100"/>
            <a:ext cx="2457272" cy="1749949"/>
            <a:chOff x="1218031" y="1835702"/>
            <a:chExt cx="2457272" cy="1749949"/>
          </a:xfrm>
        </p:grpSpPr>
        <p:cxnSp>
          <p:nvCxnSpPr>
            <p:cNvPr id="31" name="Straight Connector 30"/>
            <p:cNvCxnSpPr/>
            <p:nvPr/>
          </p:nvCxnSpPr>
          <p:spPr>
            <a:xfrm flipH="1" flipV="1">
              <a:off x="1218031" y="1835702"/>
              <a:ext cx="1260139" cy="620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819002" y="2706430"/>
              <a:ext cx="517584" cy="504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3270258" y="3174482"/>
              <a:ext cx="405045" cy="41116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19436" y="5733256"/>
                <a:ext cx="101914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en-US" sz="2800" b="1" dirty="0">
                    <a:solidFill>
                      <a:srgbClr val="0000FF"/>
                    </a:solidFill>
                  </a:rPr>
                  <a:t>Minimum</a:t>
                </a:r>
                <a:r>
                  <a:rPr lang="en-US" sz="2800" dirty="0"/>
                  <a:t> and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maximum</a:t>
                </a:r>
                <a:r>
                  <a:rPr lang="en-US" sz="2800" dirty="0"/>
                  <a:t> codes take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time.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36" y="5733256"/>
                <a:ext cx="10191464" cy="523220"/>
              </a:xfrm>
              <a:prstGeom prst="rect">
                <a:avLst/>
              </a:prstGeom>
              <a:blipFill>
                <a:blip r:embed="rId4"/>
                <a:stretch>
                  <a:fillRect l="-1196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/>
          <p:cNvGrpSpPr/>
          <p:nvPr/>
        </p:nvGrpSpPr>
        <p:grpSpPr>
          <a:xfrm>
            <a:off x="7824192" y="3728057"/>
            <a:ext cx="3456384" cy="1789175"/>
            <a:chOff x="7824192" y="3728057"/>
            <a:chExt cx="3456384" cy="1789175"/>
          </a:xfrm>
        </p:grpSpPr>
        <p:grpSp>
          <p:nvGrpSpPr>
            <p:cNvPr id="43" name="Group 42"/>
            <p:cNvGrpSpPr/>
            <p:nvPr/>
          </p:nvGrpSpPr>
          <p:grpSpPr>
            <a:xfrm>
              <a:off x="7896200" y="3772085"/>
              <a:ext cx="3314700" cy="1666875"/>
              <a:chOff x="7896200" y="3772085"/>
              <a:chExt cx="3314700" cy="1666875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6200" y="3772085"/>
                <a:ext cx="3314700" cy="1666875"/>
              </a:xfrm>
              <a:prstGeom prst="rect">
                <a:avLst/>
              </a:prstGeom>
              <a:ln w="28575">
                <a:noFill/>
              </a:ln>
            </p:spPr>
          </p:pic>
          <p:sp>
            <p:nvSpPr>
              <p:cNvPr id="42" name="Rectangle 41"/>
              <p:cNvSpPr/>
              <p:nvPr/>
            </p:nvSpPr>
            <p:spPr>
              <a:xfrm>
                <a:off x="7960282" y="4221088"/>
                <a:ext cx="475978" cy="1152128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7824192" y="3728057"/>
              <a:ext cx="3456384" cy="1789175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83432" y="3728465"/>
            <a:ext cx="3204356" cy="1789175"/>
            <a:chOff x="983432" y="3728465"/>
            <a:chExt cx="3204356" cy="1789175"/>
          </a:xfrm>
        </p:grpSpPr>
        <p:grpSp>
          <p:nvGrpSpPr>
            <p:cNvPr id="39" name="Group 38"/>
            <p:cNvGrpSpPr/>
            <p:nvPr/>
          </p:nvGrpSpPr>
          <p:grpSpPr>
            <a:xfrm>
              <a:off x="1019436" y="3753036"/>
              <a:ext cx="3114675" cy="1704975"/>
              <a:chOff x="1019436" y="3753036"/>
              <a:chExt cx="3114675" cy="1704975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9436" y="3753036"/>
                <a:ext cx="3114675" cy="1704975"/>
              </a:xfrm>
              <a:prstGeom prst="rect">
                <a:avLst/>
              </a:prstGeom>
              <a:ln w="28575">
                <a:noFill/>
              </a:ln>
            </p:spPr>
          </p:pic>
          <p:sp>
            <p:nvSpPr>
              <p:cNvPr id="41" name="Rectangle 40"/>
              <p:cNvSpPr/>
              <p:nvPr/>
            </p:nvSpPr>
            <p:spPr>
              <a:xfrm>
                <a:off x="1083518" y="4221088"/>
                <a:ext cx="475978" cy="1152128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ectangle 45"/>
            <p:cNvSpPr/>
            <p:nvPr/>
          </p:nvSpPr>
          <p:spPr>
            <a:xfrm>
              <a:off x="983432" y="3728465"/>
              <a:ext cx="3204356" cy="1789175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769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92696"/>
                <a:ext cx="10261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If a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successor</a:t>
                </a:r>
                <a:r>
                  <a:rPr lang="en-US" sz="2800" dirty="0"/>
                  <a:t> of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exists it is found by either two cases. </a:t>
                </a:r>
                <a:endParaRPr lang="en-US" sz="2800" i="1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2696"/>
                <a:ext cx="10261140" cy="523220"/>
              </a:xfrm>
              <a:prstGeom prst="rect">
                <a:avLst/>
              </a:prstGeom>
              <a:blipFill>
                <a:blip r:embed="rId3"/>
                <a:stretch>
                  <a:fillRect l="-118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965865" y="1433134"/>
            <a:ext cx="4756751" cy="3694960"/>
            <a:chOff x="1260322" y="1654273"/>
            <a:chExt cx="4756751" cy="36949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260322" y="3964238"/>
                  <a:ext cx="4756751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spcAft>
                      <a:spcPts val="1800"/>
                    </a:spcAft>
                  </a:pPr>
                  <a:r>
                    <a:rPr lang="en-US" sz="2800" dirty="0"/>
                    <a:t>If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800" dirty="0"/>
                    <a:t> has right subtree the successor is minimum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800" dirty="0"/>
                    <a:t> (leftmost) of that right subtree.</a:t>
                  </a:r>
                  <a:endParaRPr lang="en-US" sz="2800" i="1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322" y="3964238"/>
                  <a:ext cx="4756751" cy="1384995"/>
                </a:xfrm>
                <a:prstGeom prst="rect">
                  <a:avLst/>
                </a:prstGeom>
                <a:blipFill>
                  <a:blip r:embed="rId4"/>
                  <a:stretch>
                    <a:fillRect l="-2561" t="-3965" r="-2561" b="-11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Group 75"/>
            <p:cNvGrpSpPr/>
            <p:nvPr/>
          </p:nvGrpSpPr>
          <p:grpSpPr>
            <a:xfrm>
              <a:off x="2089533" y="1654273"/>
              <a:ext cx="2988332" cy="2143631"/>
              <a:chOff x="2089533" y="1654273"/>
              <a:chExt cx="2988332" cy="2143631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2089533" y="1654273"/>
                <a:ext cx="2988332" cy="2143631"/>
                <a:chOff x="4654847" y="1258229"/>
                <a:chExt cx="2988332" cy="2143631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6053801" y="1258229"/>
                  <a:ext cx="545232" cy="550591"/>
                  <a:chOff x="5823384" y="3148439"/>
                  <a:chExt cx="545232" cy="550591"/>
                </a:xfrm>
              </p:grpSpPr>
              <p:sp>
                <p:nvSpPr>
                  <p:cNvPr id="23" name="Oval 22"/>
                  <p:cNvSpPr/>
                  <p:nvPr/>
                </p:nvSpPr>
                <p:spPr>
                  <a:xfrm>
                    <a:off x="5823384" y="3158970"/>
                    <a:ext cx="545232" cy="54006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TextBox 23"/>
                      <p:cNvSpPr txBox="1"/>
                      <p:nvPr/>
                    </p:nvSpPr>
                    <p:spPr>
                      <a:xfrm>
                        <a:off x="5837821" y="3148439"/>
                        <a:ext cx="50405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4" name="TextBox 2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837821" y="3148439"/>
                        <a:ext cx="504056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9" name="Isosceles Triangle 18"/>
                <p:cNvSpPr/>
                <p:nvPr/>
              </p:nvSpPr>
              <p:spPr>
                <a:xfrm>
                  <a:off x="4654847" y="2269864"/>
                  <a:ext cx="1065727" cy="1096742"/>
                </a:xfrm>
                <a:prstGeom prst="triangle">
                  <a:avLst/>
                </a:prstGeom>
                <a:solidFill>
                  <a:srgbClr val="0000FF">
                    <a:alpha val="3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Isosceles Triangle 14"/>
                <p:cNvSpPr/>
                <p:nvPr/>
              </p:nvSpPr>
              <p:spPr>
                <a:xfrm>
                  <a:off x="6456040" y="1952836"/>
                  <a:ext cx="1187139" cy="1188132"/>
                </a:xfrm>
                <a:prstGeom prst="triangle">
                  <a:avLst/>
                </a:prstGeom>
                <a:solidFill>
                  <a:srgbClr val="FF0000">
                    <a:alpha val="3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6204012" y="2818257"/>
                  <a:ext cx="545232" cy="583603"/>
                  <a:chOff x="5721567" y="2610621"/>
                  <a:chExt cx="545232" cy="583603"/>
                </a:xfrm>
              </p:grpSpPr>
              <p:sp>
                <p:nvSpPr>
                  <p:cNvPr id="17" name="Oval 16"/>
                  <p:cNvSpPr/>
                  <p:nvPr/>
                </p:nvSpPr>
                <p:spPr>
                  <a:xfrm>
                    <a:off x="5721567" y="2654164"/>
                    <a:ext cx="545232" cy="54006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571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/>
                      <p:cNvSpPr txBox="1"/>
                      <p:nvPr/>
                    </p:nvSpPr>
                    <p:spPr>
                      <a:xfrm>
                        <a:off x="5743335" y="2610621"/>
                        <a:ext cx="50405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3335" y="2610621"/>
                        <a:ext cx="504056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5" name="Straight Connector 24"/>
                <p:cNvCxnSpPr>
                  <a:stCxn id="19" idx="0"/>
                </p:cNvCxnSpPr>
                <p:nvPr/>
              </p:nvCxnSpPr>
              <p:spPr>
                <a:xfrm flipV="1">
                  <a:off x="5187711" y="1664804"/>
                  <a:ext cx="908289" cy="60506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endCxn id="15" idx="0"/>
                </p:cNvCxnSpPr>
                <p:nvPr/>
              </p:nvCxnSpPr>
              <p:spPr>
                <a:xfrm>
                  <a:off x="6578445" y="1664804"/>
                  <a:ext cx="471165" cy="288032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" name="Straight Connector 67"/>
              <p:cNvCxnSpPr>
                <a:stCxn id="15" idx="0"/>
              </p:cNvCxnSpPr>
              <p:nvPr/>
            </p:nvCxnSpPr>
            <p:spPr>
              <a:xfrm flipH="1">
                <a:off x="4020506" y="2348880"/>
                <a:ext cx="463790" cy="93028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/>
          <p:cNvGrpSpPr/>
          <p:nvPr/>
        </p:nvGrpSpPr>
        <p:grpSpPr>
          <a:xfrm>
            <a:off x="6456040" y="1340768"/>
            <a:ext cx="4762636" cy="3823330"/>
            <a:chOff x="6456040" y="1340768"/>
            <a:chExt cx="4762636" cy="3823330"/>
          </a:xfrm>
        </p:grpSpPr>
        <p:grpSp>
          <p:nvGrpSpPr>
            <p:cNvPr id="6" name="Group 5"/>
            <p:cNvGrpSpPr/>
            <p:nvPr/>
          </p:nvGrpSpPr>
          <p:grpSpPr>
            <a:xfrm>
              <a:off x="7353396" y="1340768"/>
              <a:ext cx="3063084" cy="2625886"/>
              <a:chOff x="7353396" y="1340768"/>
              <a:chExt cx="3063084" cy="2625886"/>
            </a:xfrm>
          </p:grpSpPr>
          <p:sp>
            <p:nvSpPr>
              <p:cNvPr id="5" name="Trapezoid 4"/>
              <p:cNvSpPr/>
              <p:nvPr/>
            </p:nvSpPr>
            <p:spPr>
              <a:xfrm rot="7140781">
                <a:off x="6976878" y="2867118"/>
                <a:ext cx="1476054" cy="723017"/>
              </a:xfrm>
              <a:prstGeom prst="trapezoid">
                <a:avLst>
                  <a:gd name="adj" fmla="val 55773"/>
                </a:avLst>
              </a:prstGeom>
              <a:solidFill>
                <a:srgbClr val="0000FF">
                  <a:alpha val="3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8827102" y="1340768"/>
                <a:ext cx="545232" cy="597320"/>
                <a:chOff x="5823384" y="3101710"/>
                <a:chExt cx="545232" cy="597320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5823384" y="3158970"/>
                  <a:ext cx="545232" cy="54006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571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/>
                    <p:cNvSpPr txBox="1"/>
                    <p:nvPr/>
                  </p:nvSpPr>
                  <p:spPr>
                    <a:xfrm>
                      <a:off x="5856696" y="3101710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45" name="TextBox 4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56696" y="3101710"/>
                      <a:ext cx="504056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8" name="Isosceles Triangle 37"/>
              <p:cNvSpPr/>
              <p:nvPr/>
            </p:nvSpPr>
            <p:spPr>
              <a:xfrm>
                <a:off x="9229341" y="2082104"/>
                <a:ext cx="1187139" cy="1188132"/>
              </a:xfrm>
              <a:prstGeom prst="triangle">
                <a:avLst/>
              </a:prstGeom>
              <a:solidFill>
                <a:srgbClr val="FF0000">
                  <a:alpha val="3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7874051" y="2813202"/>
                <a:ext cx="545232" cy="564486"/>
                <a:chOff x="5721567" y="2629738"/>
                <a:chExt cx="545232" cy="564486"/>
              </a:xfrm>
            </p:grpSpPr>
            <p:sp>
              <p:nvSpPr>
                <p:cNvPr id="42" name="Oval 41"/>
                <p:cNvSpPr/>
                <p:nvPr/>
              </p:nvSpPr>
              <p:spPr>
                <a:xfrm>
                  <a:off x="5721567" y="2654164"/>
                  <a:ext cx="545232" cy="54006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/>
                    <p:cNvSpPr txBox="1"/>
                    <p:nvPr/>
                  </p:nvSpPr>
                  <p:spPr>
                    <a:xfrm>
                      <a:off x="5751409" y="2629738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43" name="TextBox 4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51409" y="2629738"/>
                      <a:ext cx="504056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0" name="Straight Connector 39"/>
              <p:cNvCxnSpPr/>
              <p:nvPr/>
            </p:nvCxnSpPr>
            <p:spPr>
              <a:xfrm flipV="1">
                <a:off x="7762990" y="1794073"/>
                <a:ext cx="1106311" cy="60505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endCxn id="38" idx="0"/>
              </p:cNvCxnSpPr>
              <p:nvPr/>
            </p:nvCxnSpPr>
            <p:spPr>
              <a:xfrm>
                <a:off x="9351746" y="1794072"/>
                <a:ext cx="471165" cy="2880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7758283" y="2385272"/>
                <a:ext cx="281933" cy="47667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6456040" y="3779103"/>
                  <a:ext cx="4762636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spcAft>
                      <a:spcPts val="1800"/>
                    </a:spcAft>
                  </a:pPr>
                  <a:r>
                    <a:rPr lang="en-US" sz="2800" dirty="0"/>
                    <a:t>If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800" dirty="0"/>
                    <a:t> has no right subtree the successor is its lowest ancestor to which left subtree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800" dirty="0"/>
                    <a:t> belongs.</a:t>
                  </a:r>
                  <a:endParaRPr lang="en-US" sz="2800" i="1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6040" y="3779103"/>
                  <a:ext cx="4762636" cy="1384995"/>
                </a:xfrm>
                <a:prstGeom prst="rect">
                  <a:avLst/>
                </a:prstGeom>
                <a:blipFill>
                  <a:blip r:embed="rId9"/>
                  <a:stretch>
                    <a:fillRect l="-2561" t="-4405" r="-2689" b="-11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19436" y="5265204"/>
                <a:ext cx="101914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Finding </a:t>
                </a:r>
                <a:r>
                  <a:rPr lang="en-US" sz="2800" b="1" dirty="0">
                    <a:solidFill>
                      <a:srgbClr val="0000FF"/>
                    </a:solidFill>
                  </a:rPr>
                  <a:t>predecessor</a:t>
                </a:r>
                <a:r>
                  <a:rPr lang="en-US" sz="2800" dirty="0"/>
                  <a:t> is symmetric. Both take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time. (see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CLRS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12.2 for code) 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36" y="5265204"/>
                <a:ext cx="10191464" cy="954107"/>
              </a:xfrm>
              <a:prstGeom prst="rect">
                <a:avLst/>
              </a:prstGeom>
              <a:blipFill>
                <a:blip r:embed="rId10"/>
                <a:stretch>
                  <a:fillRect l="-1196" t="-6410" r="-1256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160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2239643" y="2118712"/>
            <a:ext cx="7735161" cy="3791005"/>
            <a:chOff x="2239643" y="1205225"/>
            <a:chExt cx="7735161" cy="37910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/>
                <p:cNvSpPr txBox="1"/>
                <p:nvPr/>
              </p:nvSpPr>
              <p:spPr>
                <a:xfrm>
                  <a:off x="7683486" y="4453521"/>
                  <a:ext cx="5514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9" name="TextBox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3486" y="4453521"/>
                  <a:ext cx="55148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6955894" y="3285835"/>
                  <a:ext cx="5514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5894" y="3285835"/>
                  <a:ext cx="55148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8169215" y="2193952"/>
                  <a:ext cx="5514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215" y="2193952"/>
                  <a:ext cx="55148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3478117" y="2206173"/>
                  <a:ext cx="5514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8117" y="2206173"/>
                  <a:ext cx="55148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/>
                <p:cNvSpPr txBox="1"/>
                <p:nvPr/>
              </p:nvSpPr>
              <p:spPr>
                <a:xfrm>
                  <a:off x="5786082" y="1223174"/>
                  <a:ext cx="5514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3" name="TextBox 1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082" y="1223174"/>
                  <a:ext cx="55148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Oval 151"/>
            <p:cNvSpPr/>
            <p:nvPr/>
          </p:nvSpPr>
          <p:spPr>
            <a:xfrm>
              <a:off x="5811258" y="1205225"/>
              <a:ext cx="569484" cy="5591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8178217" y="2183256"/>
              <a:ext cx="569484" cy="5591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3469116" y="2183256"/>
              <a:ext cx="569484" cy="5591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/>
            <p:cNvCxnSpPr>
              <a:stCxn id="58" idx="7"/>
              <a:endCxn id="152" idx="3"/>
            </p:cNvCxnSpPr>
            <p:nvPr/>
          </p:nvCxnSpPr>
          <p:spPr>
            <a:xfrm flipV="1">
              <a:off x="3955201" y="1682462"/>
              <a:ext cx="1939456" cy="58267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152" idx="5"/>
              <a:endCxn id="55" idx="1"/>
            </p:cNvCxnSpPr>
            <p:nvPr/>
          </p:nvCxnSpPr>
          <p:spPr>
            <a:xfrm>
              <a:off x="6297343" y="1682462"/>
              <a:ext cx="1964273" cy="58267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/>
            <p:cNvSpPr/>
            <p:nvPr/>
          </p:nvSpPr>
          <p:spPr>
            <a:xfrm>
              <a:off x="6957929" y="3268709"/>
              <a:ext cx="569484" cy="5591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9405320" y="3271245"/>
              <a:ext cx="569484" cy="5591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/>
            <p:cNvCxnSpPr>
              <a:stCxn id="105" idx="1"/>
              <a:endCxn id="55" idx="5"/>
            </p:cNvCxnSpPr>
            <p:nvPr/>
          </p:nvCxnSpPr>
          <p:spPr>
            <a:xfrm flipH="1" flipV="1">
              <a:off x="8664302" y="2660493"/>
              <a:ext cx="824417" cy="692633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V="1">
              <a:off x="7446200" y="2662378"/>
              <a:ext cx="824417" cy="692633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/>
                <p:cNvSpPr txBox="1"/>
                <p:nvPr/>
              </p:nvSpPr>
              <p:spPr>
                <a:xfrm>
                  <a:off x="9405320" y="3281597"/>
                  <a:ext cx="5514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8" name="TextBox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5320" y="3281597"/>
                  <a:ext cx="55148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Group 49"/>
            <p:cNvGrpSpPr/>
            <p:nvPr/>
          </p:nvGrpSpPr>
          <p:grpSpPr>
            <a:xfrm>
              <a:off x="2239643" y="2678567"/>
              <a:ext cx="3018910" cy="1169870"/>
              <a:chOff x="7108294" y="2812893"/>
              <a:chExt cx="3018910" cy="1169870"/>
            </a:xfrm>
          </p:grpSpPr>
          <p:sp>
            <p:nvSpPr>
              <p:cNvPr id="111" name="Oval 110"/>
              <p:cNvSpPr/>
              <p:nvPr/>
            </p:nvSpPr>
            <p:spPr>
              <a:xfrm>
                <a:off x="7110329" y="3421109"/>
                <a:ext cx="569484" cy="5591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9557720" y="3423645"/>
                <a:ext cx="569484" cy="5591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7" name="Straight Connector 116"/>
              <p:cNvCxnSpPr>
                <a:stCxn id="113" idx="1"/>
              </p:cNvCxnSpPr>
              <p:nvPr/>
            </p:nvCxnSpPr>
            <p:spPr>
              <a:xfrm flipH="1" flipV="1">
                <a:off x="8816702" y="2812893"/>
                <a:ext cx="824417" cy="692633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 flipV="1">
                <a:off x="7598600" y="2814778"/>
                <a:ext cx="824417" cy="692633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/>
                  <p:cNvSpPr txBox="1"/>
                  <p:nvPr/>
                </p:nvSpPr>
                <p:spPr>
                  <a:xfrm>
                    <a:off x="9557720" y="3433997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19" name="TextBox 1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7720" y="3433997"/>
                    <a:ext cx="55148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7108294" y="3438235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0" name="TextBox 1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8294" y="3438235"/>
                    <a:ext cx="55148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6" name="Oval 125"/>
            <p:cNvSpPr/>
            <p:nvPr/>
          </p:nvSpPr>
          <p:spPr>
            <a:xfrm>
              <a:off x="7701133" y="4437112"/>
              <a:ext cx="569484" cy="5591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0"/>
              <a:endCxn id="98" idx="5"/>
            </p:cNvCxnSpPr>
            <p:nvPr/>
          </p:nvCxnSpPr>
          <p:spPr>
            <a:xfrm flipH="1" flipV="1">
              <a:off x="7444014" y="3745946"/>
              <a:ext cx="541861" cy="69116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5082286" y="1177409"/>
            <a:ext cx="808039" cy="873012"/>
            <a:chOff x="4964183" y="980728"/>
            <a:chExt cx="808039" cy="873012"/>
          </a:xfrm>
        </p:grpSpPr>
        <p:grpSp>
          <p:nvGrpSpPr>
            <p:cNvPr id="73" name="Group 72"/>
            <p:cNvGrpSpPr/>
            <p:nvPr/>
          </p:nvGrpSpPr>
          <p:grpSpPr>
            <a:xfrm>
              <a:off x="4964183" y="980728"/>
              <a:ext cx="569932" cy="559118"/>
              <a:chOff x="4964183" y="980728"/>
              <a:chExt cx="569932" cy="5591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30" name="TextBox 1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" name="Oval 130"/>
              <p:cNvSpPr/>
              <p:nvPr/>
            </p:nvSpPr>
            <p:spPr>
              <a:xfrm>
                <a:off x="4964631" y="980728"/>
                <a:ext cx="569484" cy="559118"/>
              </a:xfrm>
              <a:prstGeom prst="ellipse">
                <a:avLst/>
              </a:prstGeom>
              <a:solidFill>
                <a:schemeClr val="tx1">
                  <a:alpha val="30196"/>
                </a:schemeClr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2" name="Straight Arrow Connector 71"/>
            <p:cNvCxnSpPr/>
            <p:nvPr/>
          </p:nvCxnSpPr>
          <p:spPr>
            <a:xfrm>
              <a:off x="5484190" y="1529704"/>
              <a:ext cx="288032" cy="32403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7529558" y="2131026"/>
            <a:ext cx="808039" cy="873012"/>
            <a:chOff x="4964183" y="980728"/>
            <a:chExt cx="808039" cy="873012"/>
          </a:xfrm>
        </p:grpSpPr>
        <p:grpSp>
          <p:nvGrpSpPr>
            <p:cNvPr id="140" name="Group 139"/>
            <p:cNvGrpSpPr/>
            <p:nvPr/>
          </p:nvGrpSpPr>
          <p:grpSpPr>
            <a:xfrm>
              <a:off x="4964183" y="980728"/>
              <a:ext cx="569932" cy="559118"/>
              <a:chOff x="4964183" y="980728"/>
              <a:chExt cx="569932" cy="5591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TextBox 158"/>
                  <p:cNvSpPr txBox="1"/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59" name="TextBox 1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0" name="Oval 159"/>
              <p:cNvSpPr/>
              <p:nvPr/>
            </p:nvSpPr>
            <p:spPr>
              <a:xfrm>
                <a:off x="4964631" y="980728"/>
                <a:ext cx="569484" cy="559118"/>
              </a:xfrm>
              <a:prstGeom prst="ellipse">
                <a:avLst/>
              </a:prstGeom>
              <a:solidFill>
                <a:schemeClr val="tx1">
                  <a:alpha val="30196"/>
                </a:schemeClr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1" name="Straight Arrow Connector 140"/>
            <p:cNvCxnSpPr/>
            <p:nvPr/>
          </p:nvCxnSpPr>
          <p:spPr>
            <a:xfrm>
              <a:off x="5484190" y="1529704"/>
              <a:ext cx="288032" cy="32403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 160"/>
          <p:cNvGrpSpPr/>
          <p:nvPr/>
        </p:nvGrpSpPr>
        <p:grpSpPr>
          <a:xfrm>
            <a:off x="6159740" y="3284161"/>
            <a:ext cx="808039" cy="873012"/>
            <a:chOff x="4964183" y="980728"/>
            <a:chExt cx="808039" cy="873012"/>
          </a:xfrm>
        </p:grpSpPr>
        <p:grpSp>
          <p:nvGrpSpPr>
            <p:cNvPr id="162" name="Group 161"/>
            <p:cNvGrpSpPr/>
            <p:nvPr/>
          </p:nvGrpSpPr>
          <p:grpSpPr>
            <a:xfrm>
              <a:off x="4964183" y="980728"/>
              <a:ext cx="569932" cy="559118"/>
              <a:chOff x="4964183" y="980728"/>
              <a:chExt cx="569932" cy="5591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TextBox 163"/>
                  <p:cNvSpPr txBox="1"/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64" name="TextBox 1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5" name="Oval 164"/>
              <p:cNvSpPr/>
              <p:nvPr/>
            </p:nvSpPr>
            <p:spPr>
              <a:xfrm>
                <a:off x="4964631" y="980728"/>
                <a:ext cx="569484" cy="559118"/>
              </a:xfrm>
              <a:prstGeom prst="ellipse">
                <a:avLst/>
              </a:prstGeom>
              <a:solidFill>
                <a:schemeClr val="tx1">
                  <a:alpha val="30196"/>
                </a:schemeClr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3" name="Straight Arrow Connector 162"/>
            <p:cNvCxnSpPr/>
            <p:nvPr/>
          </p:nvCxnSpPr>
          <p:spPr>
            <a:xfrm>
              <a:off x="5484190" y="1529704"/>
              <a:ext cx="288032" cy="32403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6200465" y="4671024"/>
            <a:ext cx="840863" cy="1242252"/>
            <a:chOff x="6200465" y="4671024"/>
            <a:chExt cx="840863" cy="1242252"/>
          </a:xfrm>
        </p:grpSpPr>
        <p:grpSp>
          <p:nvGrpSpPr>
            <p:cNvPr id="167" name="Group 166"/>
            <p:cNvGrpSpPr/>
            <p:nvPr/>
          </p:nvGrpSpPr>
          <p:grpSpPr>
            <a:xfrm>
              <a:off x="6200465" y="5354158"/>
              <a:ext cx="569932" cy="559118"/>
              <a:chOff x="4964183" y="980728"/>
              <a:chExt cx="569932" cy="5591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TextBox 168"/>
                  <p:cNvSpPr txBox="1"/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69" name="TextBox 1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4183" y="1011941"/>
                    <a:ext cx="551481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0" name="Oval 169"/>
              <p:cNvSpPr/>
              <p:nvPr/>
            </p:nvSpPr>
            <p:spPr>
              <a:xfrm>
                <a:off x="4964631" y="980728"/>
                <a:ext cx="569484" cy="559118"/>
              </a:xfrm>
              <a:prstGeom prst="ellipse">
                <a:avLst/>
              </a:prstGeom>
              <a:solidFill>
                <a:schemeClr val="tx1">
                  <a:alpha val="30196"/>
                </a:schemeClr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1" name="Straight Connector 170"/>
            <p:cNvCxnSpPr/>
            <p:nvPr/>
          </p:nvCxnSpPr>
          <p:spPr>
            <a:xfrm flipV="1">
              <a:off x="6499467" y="4671024"/>
              <a:ext cx="541861" cy="69116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3457074" y="382061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Insertion and Deletion</a:t>
            </a:r>
          </a:p>
        </p:txBody>
      </p:sp>
    </p:spTree>
    <p:extLst>
      <p:ext uri="{BB962C8B-B14F-4D97-AF65-F5344CB8AC3E}">
        <p14:creationId xmlns:p14="http://schemas.microsoft.com/office/powerpoint/2010/main" val="378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767408" y="1217889"/>
                <a:ext cx="4085192" cy="319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New value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is inserted into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at a new leaf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time, preserving node’s property of left subtree smaller and right subtree larger keys.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217889"/>
                <a:ext cx="4085192" cy="3194721"/>
              </a:xfrm>
              <a:prstGeom prst="rect">
                <a:avLst/>
              </a:prstGeom>
              <a:blipFill>
                <a:blip r:embed="rId3"/>
                <a:stretch>
                  <a:fillRect l="-3134" t="-382" r="-2985" b="-3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5328588" y="1220793"/>
            <a:ext cx="6102220" cy="4620475"/>
            <a:chOff x="5328588" y="1220793"/>
            <a:chExt cx="6102220" cy="4620475"/>
          </a:xfrm>
        </p:grpSpPr>
        <p:grpSp>
          <p:nvGrpSpPr>
            <p:cNvPr id="66" name="Group 65"/>
            <p:cNvGrpSpPr/>
            <p:nvPr/>
          </p:nvGrpSpPr>
          <p:grpSpPr>
            <a:xfrm>
              <a:off x="5346132" y="1232756"/>
              <a:ext cx="6084676" cy="4608512"/>
              <a:chOff x="5735960" y="1268760"/>
              <a:chExt cx="6084676" cy="4608512"/>
            </a:xfrm>
          </p:grpSpPr>
          <p:grpSp>
            <p:nvGrpSpPr>
              <p:cNvPr id="64" name="Group 63"/>
              <p:cNvGrpSpPr/>
              <p:nvPr/>
            </p:nvGrpSpPr>
            <p:grpSpPr>
              <a:xfrm>
                <a:off x="5735960" y="1268760"/>
                <a:ext cx="5617840" cy="4608512"/>
                <a:chOff x="4662487" y="2204864"/>
                <a:chExt cx="5393953" cy="4262888"/>
              </a:xfrm>
            </p:grpSpPr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62487" y="2204864"/>
                  <a:ext cx="2867025" cy="923925"/>
                </a:xfrm>
                <a:prstGeom prst="rect">
                  <a:avLst/>
                </a:prstGeom>
              </p:spPr>
            </p:pic>
            <p:pic>
              <p:nvPicPr>
                <p:cNvPr id="9" name="Picture 8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66359" y="2754635"/>
                  <a:ext cx="1685925" cy="314325"/>
                </a:xfrm>
                <a:prstGeom prst="rect">
                  <a:avLst/>
                </a:prstGeom>
              </p:spPr>
            </p:pic>
            <p:pic>
              <p:nvPicPr>
                <p:cNvPr id="10" name="Picture 9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39916" y="3223764"/>
                  <a:ext cx="3067050" cy="1152525"/>
                </a:xfrm>
                <a:prstGeom prst="rect">
                  <a:avLst/>
                </a:prstGeom>
              </p:spPr>
            </p:pic>
            <p:pic>
              <p:nvPicPr>
                <p:cNvPr id="11" name="Picture 10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65765" y="3962971"/>
                  <a:ext cx="1590675" cy="371475"/>
                </a:xfrm>
                <a:prstGeom prst="rect">
                  <a:avLst/>
                </a:prstGeom>
              </p:spPr>
            </p:pic>
            <p:pic>
              <p:nvPicPr>
                <p:cNvPr id="12" name="Picture 11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39916" y="4403261"/>
                  <a:ext cx="3067050" cy="1104900"/>
                </a:xfrm>
                <a:prstGeom prst="rect">
                  <a:avLst/>
                </a:prstGeom>
              </p:spPr>
            </p:pic>
            <p:pic>
              <p:nvPicPr>
                <p:cNvPr id="21" name="Picture 20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96100" y="5118578"/>
                  <a:ext cx="1600200" cy="447675"/>
                </a:xfrm>
                <a:prstGeom prst="rect">
                  <a:avLst/>
                </a:prstGeom>
              </p:spPr>
            </p:pic>
            <p:pic>
              <p:nvPicPr>
                <p:cNvPr id="23" name="Picture 22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75920" y="5566253"/>
                  <a:ext cx="2819400" cy="428625"/>
                </a:xfrm>
                <a:prstGeom prst="rect">
                  <a:avLst/>
                </a:prstGeom>
              </p:spPr>
            </p:pic>
            <p:pic>
              <p:nvPicPr>
                <p:cNvPr id="24" name="Picture 23"/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79482" y="5585991"/>
                  <a:ext cx="1504950" cy="419100"/>
                </a:xfrm>
                <a:prstGeom prst="rect">
                  <a:avLst/>
                </a:prstGeom>
              </p:spPr>
            </p:pic>
            <p:pic>
              <p:nvPicPr>
                <p:cNvPr id="26" name="Picture 25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75920" y="5991502"/>
                  <a:ext cx="2381250" cy="476250"/>
                </a:xfrm>
                <a:prstGeom prst="rect">
                  <a:avLst/>
                </a:prstGeom>
              </p:spPr>
            </p:pic>
            <p:sp>
              <p:nvSpPr>
                <p:cNvPr id="31" name="Rectangle 30"/>
                <p:cNvSpPr/>
                <p:nvPr/>
              </p:nvSpPr>
              <p:spPr>
                <a:xfrm>
                  <a:off x="4799856" y="2738835"/>
                  <a:ext cx="468052" cy="3820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5" name="TextBox 64"/>
              <p:cNvSpPr txBox="1"/>
              <p:nvPr/>
            </p:nvSpPr>
            <p:spPr>
              <a:xfrm>
                <a:off x="8544626" y="2255635"/>
                <a:ext cx="27341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traverse to leaf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7824192" y="3981028"/>
                <a:ext cx="24482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add new leaf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10045303" y="4379461"/>
                    <a:ext cx="177533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 empty</a:t>
                    </a:r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5303" y="4379461"/>
                    <a:ext cx="1775333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7216" t="-11765" r="-5842" b="-341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Rectangle 38"/>
            <p:cNvSpPr/>
            <p:nvPr/>
          </p:nvSpPr>
          <p:spPr>
            <a:xfrm>
              <a:off x="5328588" y="1220793"/>
              <a:ext cx="6096004" cy="461838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67408" y="4509120"/>
                <a:ext cx="4085192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Initialize node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𝑟𝑖𝑔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4509120"/>
                <a:ext cx="4085192" cy="1126462"/>
              </a:xfrm>
              <a:prstGeom prst="rect">
                <a:avLst/>
              </a:prstGeom>
              <a:blipFill>
                <a:blip r:embed="rId14"/>
                <a:stretch>
                  <a:fillRect l="-3134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588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818709"/>
                <a:ext cx="1026114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Deletion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 also takes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time but is more delicate and has few different cases. (See code 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12.3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18709"/>
                <a:ext cx="10261140" cy="1126462"/>
              </a:xfrm>
              <a:prstGeom prst="rect">
                <a:avLst/>
              </a:prstGeom>
              <a:blipFill>
                <a:blip r:embed="rId3"/>
                <a:stretch>
                  <a:fillRect l="-1188" t="-541" r="-1188" b="-113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62082" y="2395869"/>
            <a:ext cx="2810390" cy="2694387"/>
            <a:chOff x="962082" y="2395869"/>
            <a:chExt cx="2810390" cy="2694387"/>
          </a:xfrm>
        </p:grpSpPr>
        <p:grpSp>
          <p:nvGrpSpPr>
            <p:cNvPr id="38" name="Group 37"/>
            <p:cNvGrpSpPr/>
            <p:nvPr/>
          </p:nvGrpSpPr>
          <p:grpSpPr>
            <a:xfrm>
              <a:off x="962082" y="3113729"/>
              <a:ext cx="2760399" cy="1976527"/>
              <a:chOff x="1018133" y="1920525"/>
              <a:chExt cx="2760399" cy="1976527"/>
            </a:xfrm>
          </p:grpSpPr>
          <p:grpSp>
            <p:nvGrpSpPr>
              <p:cNvPr id="75" name="Group 74"/>
              <p:cNvGrpSpPr/>
              <p:nvPr/>
            </p:nvGrpSpPr>
            <p:grpSpPr>
              <a:xfrm>
                <a:off x="1127448" y="1988840"/>
                <a:ext cx="1256677" cy="1692188"/>
                <a:chOff x="1055440" y="1484784"/>
                <a:chExt cx="1256677" cy="16921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/>
                    <p:cNvSpPr txBox="1"/>
                    <p:nvPr/>
                  </p:nvSpPr>
                  <p:spPr>
                    <a:xfrm>
                      <a:off x="1423135" y="2392142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9" name="TextBox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3135" y="2392142"/>
                      <a:ext cx="522058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" name="Oval 6"/>
                <p:cNvSpPr/>
                <p:nvPr/>
              </p:nvSpPr>
              <p:spPr>
                <a:xfrm>
                  <a:off x="1451484" y="2456892"/>
                  <a:ext cx="468052" cy="468052"/>
                </a:xfrm>
                <a:prstGeom prst="ellipse">
                  <a:avLst/>
                </a:prstGeom>
                <a:solidFill>
                  <a:schemeClr val="tx1">
                    <a:alpha val="30196"/>
                  </a:schemeClr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1450138" y="1584376"/>
                  <a:ext cx="468052" cy="46805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/>
                    <p:cNvSpPr txBox="1"/>
                    <p:nvPr/>
                  </p:nvSpPr>
                  <p:spPr>
                    <a:xfrm>
                      <a:off x="1423135" y="1484784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3135" y="1484784"/>
                      <a:ext cx="522058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" name="Straight Connector 11"/>
                <p:cNvCxnSpPr>
                  <a:stCxn id="7" idx="0"/>
                  <a:endCxn id="26" idx="4"/>
                </p:cNvCxnSpPr>
                <p:nvPr/>
              </p:nvCxnSpPr>
              <p:spPr>
                <a:xfrm flipH="1" flipV="1">
                  <a:off x="1684164" y="2052428"/>
                  <a:ext cx="1346" cy="404464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4" name="Group 73"/>
                <p:cNvGrpSpPr/>
                <p:nvPr/>
              </p:nvGrpSpPr>
              <p:grpSpPr>
                <a:xfrm>
                  <a:off x="1055440" y="2856399"/>
                  <a:ext cx="464589" cy="320573"/>
                  <a:chOff x="1055440" y="2856399"/>
                  <a:chExt cx="464589" cy="320573"/>
                </a:xfrm>
              </p:grpSpPr>
              <p:cxnSp>
                <p:nvCxnSpPr>
                  <p:cNvPr id="37" name="Straight Connector 36"/>
                  <p:cNvCxnSpPr>
                    <a:endCxn id="7" idx="3"/>
                  </p:cNvCxnSpPr>
                  <p:nvPr/>
                </p:nvCxnSpPr>
                <p:spPr>
                  <a:xfrm flipV="1">
                    <a:off x="1199456" y="2856399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/>
                  <p:cNvCxnSpPr/>
                  <p:nvPr/>
                </p:nvCxnSpPr>
                <p:spPr>
                  <a:xfrm>
                    <a:off x="1055440" y="3176972"/>
                    <a:ext cx="333867" cy="0"/>
                  </a:xfrm>
                  <a:prstGeom prst="line">
                    <a:avLst/>
                  </a:prstGeom>
                  <a:ln w="57150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" name="Group 44"/>
                <p:cNvGrpSpPr/>
                <p:nvPr/>
              </p:nvGrpSpPr>
              <p:grpSpPr>
                <a:xfrm flipH="1">
                  <a:off x="1847528" y="2856398"/>
                  <a:ext cx="464589" cy="320573"/>
                  <a:chOff x="1055440" y="2856399"/>
                  <a:chExt cx="464589" cy="320573"/>
                </a:xfrm>
              </p:grpSpPr>
              <p:cxnSp>
                <p:nvCxnSpPr>
                  <p:cNvPr id="46" name="Straight Connector 45"/>
                  <p:cNvCxnSpPr/>
                  <p:nvPr/>
                </p:nvCxnSpPr>
                <p:spPr>
                  <a:xfrm flipV="1">
                    <a:off x="1199456" y="2856399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1055440" y="3176972"/>
                    <a:ext cx="333867" cy="0"/>
                  </a:xfrm>
                  <a:prstGeom prst="line">
                    <a:avLst/>
                  </a:prstGeom>
                  <a:ln w="57150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7" name="Group 76"/>
              <p:cNvGrpSpPr/>
              <p:nvPr/>
            </p:nvGrpSpPr>
            <p:grpSpPr>
              <a:xfrm>
                <a:off x="3143672" y="1988840"/>
                <a:ext cx="522058" cy="972108"/>
                <a:chOff x="3475363" y="2168860"/>
                <a:chExt cx="522058" cy="972108"/>
              </a:xfrm>
            </p:grpSpPr>
            <p:sp>
              <p:nvSpPr>
                <p:cNvPr id="52" name="Oval 51"/>
                <p:cNvSpPr/>
                <p:nvPr/>
              </p:nvSpPr>
              <p:spPr>
                <a:xfrm>
                  <a:off x="3502366" y="2268452"/>
                  <a:ext cx="468052" cy="46805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3475363" y="2168860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53" name="TextBox 5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75363" y="2168860"/>
                      <a:ext cx="522058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4" name="Straight Connector 53"/>
                <p:cNvCxnSpPr>
                  <a:endCxn id="52" idx="4"/>
                </p:cNvCxnSpPr>
                <p:nvPr/>
              </p:nvCxnSpPr>
              <p:spPr>
                <a:xfrm flipH="1" flipV="1">
                  <a:off x="3736392" y="2736504"/>
                  <a:ext cx="1346" cy="404464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 flipH="1">
                  <a:off x="3565889" y="3140968"/>
                  <a:ext cx="333867" cy="0"/>
                </a:xfrm>
                <a:prstGeom prst="line">
                  <a:avLst/>
                </a:prstGeom>
                <a:ln w="571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Right Arrow 75"/>
              <p:cNvSpPr/>
              <p:nvPr/>
            </p:nvSpPr>
            <p:spPr>
              <a:xfrm>
                <a:off x="2387588" y="2600908"/>
                <a:ext cx="432048" cy="216024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1018133" y="1920525"/>
                <a:ext cx="2760399" cy="1976527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/>
                <p:cNvSpPr txBox="1"/>
                <p:nvPr/>
              </p:nvSpPr>
              <p:spPr>
                <a:xfrm>
                  <a:off x="1012073" y="2395869"/>
                  <a:ext cx="27603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US" sz="2800" dirty="0"/>
                    <a:t> is a leaf</a:t>
                  </a:r>
                </a:p>
              </p:txBody>
            </p:sp>
          </mc:Choice>
          <mc:Fallback xmlns="">
            <p:sp>
              <p:nvSpPr>
                <p:cNvPr id="271" name="TextBox 2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073" y="2395869"/>
                  <a:ext cx="2760399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4116212" y="2401724"/>
            <a:ext cx="3397298" cy="3294240"/>
            <a:chOff x="4116212" y="2401724"/>
            <a:chExt cx="3397298" cy="3294240"/>
          </a:xfrm>
        </p:grpSpPr>
        <p:grpSp>
          <p:nvGrpSpPr>
            <p:cNvPr id="41" name="Group 40"/>
            <p:cNvGrpSpPr/>
            <p:nvPr/>
          </p:nvGrpSpPr>
          <p:grpSpPr>
            <a:xfrm>
              <a:off x="4319322" y="3107369"/>
              <a:ext cx="2991079" cy="2588595"/>
              <a:chOff x="4237871" y="1920525"/>
              <a:chExt cx="2991079" cy="2588595"/>
            </a:xfrm>
          </p:grpSpPr>
          <p:sp>
            <p:nvSpPr>
              <p:cNvPr id="82" name="Right Arrow 81"/>
              <p:cNvSpPr/>
              <p:nvPr/>
            </p:nvSpPr>
            <p:spPr>
              <a:xfrm>
                <a:off x="5635106" y="2600906"/>
                <a:ext cx="432048" cy="216024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4332653" y="1988839"/>
                <a:ext cx="1741385" cy="2366923"/>
                <a:chOff x="4764509" y="1988839"/>
                <a:chExt cx="1741385" cy="2366923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4764509" y="1988839"/>
                  <a:ext cx="1112661" cy="1692188"/>
                  <a:chOff x="4764509" y="1988839"/>
                  <a:chExt cx="1112661" cy="169218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8" name="TextBox 87"/>
                      <p:cNvSpPr txBox="1"/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8" name="TextBox 8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7" name="Oval 86"/>
                  <p:cNvSpPr/>
                  <p:nvPr/>
                </p:nvSpPr>
                <p:spPr>
                  <a:xfrm>
                    <a:off x="5160553" y="2960947"/>
                    <a:ext cx="468052" cy="468052"/>
                  </a:xfrm>
                  <a:prstGeom prst="ellipse">
                    <a:avLst/>
                  </a:prstGeom>
                  <a:solidFill>
                    <a:schemeClr val="tx1">
                      <a:alpha val="30196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" name="Oval 88"/>
                  <p:cNvSpPr/>
                  <p:nvPr/>
                </p:nvSpPr>
                <p:spPr>
                  <a:xfrm>
                    <a:off x="5159207" y="2088431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TextBox 89"/>
                      <p:cNvSpPr txBox="1"/>
                      <p:nvPr/>
                    </p:nvSpPr>
                    <p:spPr>
                      <a:xfrm>
                        <a:off x="5132204" y="1988839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90" name="TextBox 8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1988839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92" name="Straight Connector 91"/>
                  <p:cNvCxnSpPr>
                    <a:stCxn id="87" idx="0"/>
                    <a:endCxn id="89" idx="4"/>
                  </p:cNvCxnSpPr>
                  <p:nvPr/>
                </p:nvCxnSpPr>
                <p:spPr>
                  <a:xfrm flipH="1" flipV="1">
                    <a:off x="5393233" y="2556483"/>
                    <a:ext cx="1346" cy="404464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" name="Group 92"/>
                  <p:cNvGrpSpPr/>
                  <p:nvPr/>
                </p:nvGrpSpPr>
                <p:grpSpPr>
                  <a:xfrm>
                    <a:off x="4764509" y="3360454"/>
                    <a:ext cx="464589" cy="320573"/>
                    <a:chOff x="1055440" y="2856399"/>
                    <a:chExt cx="464589" cy="320573"/>
                  </a:xfrm>
                </p:grpSpPr>
                <p:cxnSp>
                  <p:nvCxnSpPr>
                    <p:cNvPr id="97" name="Straight Connector 96"/>
                    <p:cNvCxnSpPr>
                      <a:endCxn id="87" idx="3"/>
                    </p:cNvCxnSpPr>
                    <p:nvPr/>
                  </p:nvCxnSpPr>
                  <p:spPr>
                    <a:xfrm flipV="1">
                      <a:off x="1199456" y="2856399"/>
                      <a:ext cx="320573" cy="320573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/>
                    <p:cNvCxnSpPr/>
                    <p:nvPr/>
                  </p:nvCxnSpPr>
                  <p:spPr>
                    <a:xfrm>
                      <a:off x="1055440" y="3176972"/>
                      <a:ext cx="333867" cy="0"/>
                    </a:xfrm>
                    <a:prstGeom prst="line">
                      <a:avLst/>
                    </a:prstGeom>
                    <a:ln w="57150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5" name="Straight Connector 94"/>
                  <p:cNvCxnSpPr/>
                  <p:nvPr/>
                </p:nvCxnSpPr>
                <p:spPr>
                  <a:xfrm flipH="1" flipV="1">
                    <a:off x="5556597" y="33604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5537249" y="3570932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99" name="Oval 98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0" name="TextBox 99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00" name="TextBox 9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02" name="Straight Connector 101"/>
                  <p:cNvCxnSpPr>
                    <a:endCxn id="99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4" name="Group 33"/>
              <p:cNvGrpSpPr/>
              <p:nvPr/>
            </p:nvGrpSpPr>
            <p:grpSpPr>
              <a:xfrm>
                <a:off x="6103158" y="1988838"/>
                <a:ext cx="968645" cy="1693350"/>
                <a:chOff x="6889130" y="1988839"/>
                <a:chExt cx="968645" cy="1693350"/>
              </a:xfrm>
            </p:grpSpPr>
            <p:grpSp>
              <p:nvGrpSpPr>
                <p:cNvPr id="81" name="Group 80"/>
                <p:cNvGrpSpPr/>
                <p:nvPr/>
              </p:nvGrpSpPr>
              <p:grpSpPr>
                <a:xfrm>
                  <a:off x="7112424" y="1988839"/>
                  <a:ext cx="522058" cy="972108"/>
                  <a:chOff x="3475363" y="2168860"/>
                  <a:chExt cx="522058" cy="972108"/>
                </a:xfrm>
              </p:grpSpPr>
              <p:sp>
                <p:nvSpPr>
                  <p:cNvPr id="83" name="Oval 82"/>
                  <p:cNvSpPr/>
                  <p:nvPr/>
                </p:nvSpPr>
                <p:spPr>
                  <a:xfrm>
                    <a:off x="3502366" y="2268452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4" name="TextBox 83"/>
                      <p:cNvSpPr txBox="1"/>
                      <p:nvPr/>
                    </p:nvSpPr>
                    <p:spPr>
                      <a:xfrm>
                        <a:off x="3475363" y="2168860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4" name="TextBox 8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75363" y="2168860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85" name="Straight Connector 84"/>
                  <p:cNvCxnSpPr>
                    <a:endCxn id="83" idx="4"/>
                  </p:cNvCxnSpPr>
                  <p:nvPr/>
                </p:nvCxnSpPr>
                <p:spPr>
                  <a:xfrm flipH="1" flipV="1">
                    <a:off x="3736392" y="2736504"/>
                    <a:ext cx="1346" cy="404464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5" name="Group 104"/>
                <p:cNvGrpSpPr/>
                <p:nvPr/>
              </p:nvGrpSpPr>
              <p:grpSpPr>
                <a:xfrm>
                  <a:off x="6889130" y="2897359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106" name="Oval 105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7" name="TextBox 106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07" name="TextBox 10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08" name="Straight Connector 107"/>
                  <p:cNvCxnSpPr>
                    <a:endCxn id="106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35" name="Rectangle 134"/>
              <p:cNvSpPr/>
              <p:nvPr/>
            </p:nvSpPr>
            <p:spPr>
              <a:xfrm>
                <a:off x="4237871" y="1920525"/>
                <a:ext cx="2991079" cy="2588595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/>
                <p:cNvSpPr txBox="1"/>
                <p:nvPr/>
              </p:nvSpPr>
              <p:spPr>
                <a:xfrm>
                  <a:off x="4116212" y="2401724"/>
                  <a:ext cx="339729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US" sz="2800" dirty="0"/>
                    <a:t> has no left subtree </a:t>
                  </a:r>
                </a:p>
              </p:txBody>
            </p:sp>
          </mc:Choice>
          <mc:Fallback xmlns="">
            <p:sp>
              <p:nvSpPr>
                <p:cNvPr id="272" name="TextBox 2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6212" y="2401724"/>
                  <a:ext cx="3397298" cy="523220"/>
                </a:xfrm>
                <a:prstGeom prst="rect">
                  <a:avLst/>
                </a:prstGeom>
                <a:blipFill>
                  <a:blip r:embed="rId13"/>
                  <a:stretch>
                    <a:fillRect t="-11628" r="-233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7858762" y="2395869"/>
            <a:ext cx="3397298" cy="3301383"/>
            <a:chOff x="7858762" y="2395869"/>
            <a:chExt cx="3397298" cy="3301383"/>
          </a:xfrm>
        </p:grpSpPr>
        <p:grpSp>
          <p:nvGrpSpPr>
            <p:cNvPr id="40" name="Group 39"/>
            <p:cNvGrpSpPr/>
            <p:nvPr/>
          </p:nvGrpSpPr>
          <p:grpSpPr>
            <a:xfrm>
              <a:off x="7912750" y="3108657"/>
              <a:ext cx="3318144" cy="2588595"/>
              <a:chOff x="7890424" y="1920525"/>
              <a:chExt cx="3318144" cy="2588595"/>
            </a:xfrm>
          </p:grpSpPr>
          <p:sp>
            <p:nvSpPr>
              <p:cNvPr id="113" name="Right Arrow 112"/>
              <p:cNvSpPr/>
              <p:nvPr/>
            </p:nvSpPr>
            <p:spPr>
              <a:xfrm>
                <a:off x="9661525" y="2600906"/>
                <a:ext cx="432048" cy="216024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8004371" y="1988838"/>
                <a:ext cx="1697648" cy="2391949"/>
                <a:chOff x="8004371" y="1988838"/>
                <a:chExt cx="1697648" cy="2391949"/>
              </a:xfrm>
            </p:grpSpPr>
            <p:grpSp>
              <p:nvGrpSpPr>
                <p:cNvPr id="111" name="Group 110"/>
                <p:cNvGrpSpPr/>
                <p:nvPr/>
              </p:nvGrpSpPr>
              <p:grpSpPr>
                <a:xfrm>
                  <a:off x="8589358" y="1988838"/>
                  <a:ext cx="1112661" cy="1692188"/>
                  <a:chOff x="1199456" y="1484784"/>
                  <a:chExt cx="1112661" cy="169218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9" name="TextBox 118"/>
                      <p:cNvSpPr txBox="1"/>
                      <p:nvPr/>
                    </p:nvSpPr>
                    <p:spPr>
                      <a:xfrm>
                        <a:off x="1423135" y="2392142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19" name="TextBox 11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23135" y="2392142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8" name="Oval 117"/>
                  <p:cNvSpPr/>
                  <p:nvPr/>
                </p:nvSpPr>
                <p:spPr>
                  <a:xfrm>
                    <a:off x="1451484" y="2456892"/>
                    <a:ext cx="468052" cy="468052"/>
                  </a:xfrm>
                  <a:prstGeom prst="ellipse">
                    <a:avLst/>
                  </a:prstGeom>
                  <a:solidFill>
                    <a:schemeClr val="tx1">
                      <a:alpha val="30196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Oval 119"/>
                  <p:cNvSpPr/>
                  <p:nvPr/>
                </p:nvSpPr>
                <p:spPr>
                  <a:xfrm>
                    <a:off x="1450138" y="1584376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1" name="TextBox 120"/>
                      <p:cNvSpPr txBox="1"/>
                      <p:nvPr/>
                    </p:nvSpPr>
                    <p:spPr>
                      <a:xfrm>
                        <a:off x="1423135" y="1484784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21" name="TextBox 12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23135" y="1484784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22" name="Straight Connector 121"/>
                  <p:cNvCxnSpPr>
                    <a:stCxn id="118" idx="0"/>
                    <a:endCxn id="120" idx="4"/>
                  </p:cNvCxnSpPr>
                  <p:nvPr/>
                </p:nvCxnSpPr>
                <p:spPr>
                  <a:xfrm flipH="1" flipV="1">
                    <a:off x="1684164" y="2052428"/>
                    <a:ext cx="1346" cy="404464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/>
                  <p:cNvCxnSpPr>
                    <a:endCxn id="118" idx="3"/>
                  </p:cNvCxnSpPr>
                  <p:nvPr/>
                </p:nvCxnSpPr>
                <p:spPr>
                  <a:xfrm flipV="1">
                    <a:off x="1199456" y="2856399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4" name="Group 123"/>
                  <p:cNvGrpSpPr/>
                  <p:nvPr/>
                </p:nvGrpSpPr>
                <p:grpSpPr>
                  <a:xfrm flipH="1">
                    <a:off x="1847528" y="2856398"/>
                    <a:ext cx="464589" cy="320573"/>
                    <a:chOff x="1055440" y="2856399"/>
                    <a:chExt cx="464589" cy="320573"/>
                  </a:xfrm>
                </p:grpSpPr>
                <p:cxnSp>
                  <p:nvCxnSpPr>
                    <p:cNvPr id="125" name="Straight Connector 124"/>
                    <p:cNvCxnSpPr/>
                    <p:nvPr/>
                  </p:nvCxnSpPr>
                  <p:spPr>
                    <a:xfrm flipV="1">
                      <a:off x="1199456" y="2856399"/>
                      <a:ext cx="320573" cy="320573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/>
                    <p:cNvCxnSpPr/>
                    <p:nvPr/>
                  </p:nvCxnSpPr>
                  <p:spPr>
                    <a:xfrm>
                      <a:off x="1055440" y="3176972"/>
                      <a:ext cx="333867" cy="0"/>
                    </a:xfrm>
                    <a:prstGeom prst="line">
                      <a:avLst/>
                    </a:prstGeom>
                    <a:ln w="57150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9" name="Group 128"/>
                <p:cNvGrpSpPr/>
                <p:nvPr/>
              </p:nvGrpSpPr>
              <p:grpSpPr>
                <a:xfrm>
                  <a:off x="8004371" y="3595957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130" name="Oval 129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1" name="TextBox 130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31" name="TextBox 13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2" name="Straight Connector 131"/>
                  <p:cNvCxnSpPr>
                    <a:endCxn id="130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65" name="Rectangle 164"/>
              <p:cNvSpPr/>
              <p:nvPr/>
            </p:nvSpPr>
            <p:spPr>
              <a:xfrm>
                <a:off x="7890424" y="1920525"/>
                <a:ext cx="3318144" cy="2588595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" name="Group 165"/>
              <p:cNvGrpSpPr/>
              <p:nvPr/>
            </p:nvGrpSpPr>
            <p:grpSpPr>
              <a:xfrm>
                <a:off x="10093573" y="1967357"/>
                <a:ext cx="968645" cy="1693350"/>
                <a:chOff x="6889130" y="1988839"/>
                <a:chExt cx="968645" cy="1693350"/>
              </a:xfrm>
            </p:grpSpPr>
            <p:grpSp>
              <p:nvGrpSpPr>
                <p:cNvPr id="167" name="Group 166"/>
                <p:cNvGrpSpPr/>
                <p:nvPr/>
              </p:nvGrpSpPr>
              <p:grpSpPr>
                <a:xfrm>
                  <a:off x="7112424" y="1988839"/>
                  <a:ext cx="522058" cy="972108"/>
                  <a:chOff x="3475363" y="2168860"/>
                  <a:chExt cx="522058" cy="972108"/>
                </a:xfrm>
              </p:grpSpPr>
              <p:sp>
                <p:nvSpPr>
                  <p:cNvPr id="173" name="Oval 172"/>
                  <p:cNvSpPr/>
                  <p:nvPr/>
                </p:nvSpPr>
                <p:spPr>
                  <a:xfrm>
                    <a:off x="3502366" y="2268452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4" name="TextBox 173"/>
                      <p:cNvSpPr txBox="1"/>
                      <p:nvPr/>
                    </p:nvSpPr>
                    <p:spPr>
                      <a:xfrm>
                        <a:off x="3475363" y="2168860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74" name="TextBox 17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75363" y="2168860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75" name="Straight Connector 174"/>
                  <p:cNvCxnSpPr>
                    <a:endCxn id="173" idx="4"/>
                  </p:cNvCxnSpPr>
                  <p:nvPr/>
                </p:nvCxnSpPr>
                <p:spPr>
                  <a:xfrm flipH="1" flipV="1">
                    <a:off x="3736392" y="2736504"/>
                    <a:ext cx="1346" cy="404464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8" name="Group 167"/>
                <p:cNvGrpSpPr/>
                <p:nvPr/>
              </p:nvGrpSpPr>
              <p:grpSpPr>
                <a:xfrm>
                  <a:off x="6889130" y="2897359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169" name="Oval 168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0" name="TextBox 169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70" name="TextBox 16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71" name="Straight Connector 170"/>
                  <p:cNvCxnSpPr>
                    <a:endCxn id="169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/>
                <p:cNvSpPr txBox="1"/>
                <p:nvPr/>
              </p:nvSpPr>
              <p:spPr>
                <a:xfrm>
                  <a:off x="7858762" y="2395869"/>
                  <a:ext cx="339729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US" sz="2800" dirty="0"/>
                    <a:t> has no right subtree </a:t>
                  </a:r>
                </a:p>
              </p:txBody>
            </p:sp>
          </mc:Choice>
          <mc:Fallback xmlns="">
            <p:sp>
              <p:nvSpPr>
                <p:cNvPr id="273" name="TextBox 2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762" y="2395869"/>
                  <a:ext cx="3397298" cy="523220"/>
                </a:xfrm>
                <a:prstGeom prst="rect">
                  <a:avLst/>
                </a:prstGeom>
                <a:blipFill>
                  <a:blip r:embed="rId19"/>
                  <a:stretch>
                    <a:fillRect t="-10465" r="-5386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9183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965430" y="681589"/>
                <a:ext cx="10261140" cy="1357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 has both left and right subtrees.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First need to find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’s successor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cannot have left subtree. (why?) </a:t>
                </a:r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81589"/>
                <a:ext cx="10261140" cy="1357295"/>
              </a:xfrm>
              <a:prstGeom prst="rect">
                <a:avLst/>
              </a:prstGeom>
              <a:blipFill>
                <a:blip r:embed="rId8"/>
                <a:stretch>
                  <a:fillRect l="-1188" t="-901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964695" y="2196299"/>
            <a:ext cx="10261140" cy="4004322"/>
            <a:chOff x="964695" y="2196299"/>
            <a:chExt cx="10261140" cy="4004322"/>
          </a:xfrm>
        </p:grpSpPr>
        <p:grpSp>
          <p:nvGrpSpPr>
            <p:cNvPr id="8" name="Group 7"/>
            <p:cNvGrpSpPr/>
            <p:nvPr/>
          </p:nvGrpSpPr>
          <p:grpSpPr>
            <a:xfrm>
              <a:off x="2387588" y="3032269"/>
              <a:ext cx="3128825" cy="3168352"/>
              <a:chOff x="965430" y="3077587"/>
              <a:chExt cx="3128825" cy="3168352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965430" y="3077587"/>
                <a:ext cx="3128825" cy="3168352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/>
              <p:cNvGrpSpPr/>
              <p:nvPr/>
            </p:nvGrpSpPr>
            <p:grpSpPr>
              <a:xfrm>
                <a:off x="1060663" y="3112302"/>
                <a:ext cx="2837390" cy="3037571"/>
                <a:chOff x="3966171" y="2635623"/>
                <a:chExt cx="2837390" cy="3037571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4558120" y="2635623"/>
                  <a:ext cx="968645" cy="1692188"/>
                  <a:chOff x="4908525" y="1988839"/>
                  <a:chExt cx="968645" cy="169218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8" name="TextBox 87"/>
                      <p:cNvSpPr txBox="1"/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8" name="TextBox 8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7" name="Oval 86"/>
                  <p:cNvSpPr/>
                  <p:nvPr/>
                </p:nvSpPr>
                <p:spPr>
                  <a:xfrm>
                    <a:off x="5160553" y="2960947"/>
                    <a:ext cx="468052" cy="468052"/>
                  </a:xfrm>
                  <a:prstGeom prst="ellipse">
                    <a:avLst/>
                  </a:prstGeom>
                  <a:solidFill>
                    <a:schemeClr val="tx1">
                      <a:alpha val="30196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" name="Oval 88"/>
                  <p:cNvSpPr/>
                  <p:nvPr/>
                </p:nvSpPr>
                <p:spPr>
                  <a:xfrm>
                    <a:off x="5159207" y="2088431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TextBox 89"/>
                      <p:cNvSpPr txBox="1"/>
                      <p:nvPr/>
                    </p:nvSpPr>
                    <p:spPr>
                      <a:xfrm>
                        <a:off x="5132204" y="1988839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90" name="TextBox 8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1988839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92" name="Straight Connector 91"/>
                  <p:cNvCxnSpPr>
                    <a:stCxn id="87" idx="0"/>
                    <a:endCxn id="89" idx="4"/>
                  </p:cNvCxnSpPr>
                  <p:nvPr/>
                </p:nvCxnSpPr>
                <p:spPr>
                  <a:xfrm flipH="1" flipV="1">
                    <a:off x="5393233" y="2556483"/>
                    <a:ext cx="1346" cy="404464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/>
                  <p:cNvCxnSpPr>
                    <a:endCxn id="87" idx="3"/>
                  </p:cNvCxnSpPr>
                  <p:nvPr/>
                </p:nvCxnSpPr>
                <p:spPr>
                  <a:xfrm flipV="1">
                    <a:off x="4908525" y="33604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/>
                  <p:cNvCxnSpPr/>
                  <p:nvPr/>
                </p:nvCxnSpPr>
                <p:spPr>
                  <a:xfrm flipH="1" flipV="1">
                    <a:off x="5556597" y="33604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5186844" y="4209306"/>
                  <a:ext cx="968645" cy="793240"/>
                  <a:chOff x="5060925" y="3040187"/>
                  <a:chExt cx="968645" cy="793240"/>
                </a:xfrm>
              </p:grpSpPr>
              <p:sp>
                <p:nvSpPr>
                  <p:cNvPr id="99" name="Oval 98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solidFill>
                    <a:srgbClr val="FFC000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0" name="TextBox 99"/>
                      <p:cNvSpPr txBox="1"/>
                      <p:nvPr/>
                    </p:nvSpPr>
                    <p:spPr>
                      <a:xfrm>
                        <a:off x="5296401" y="304018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00" name="TextBox 9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96401" y="304018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02" name="Straight Connector 101"/>
                  <p:cNvCxnSpPr>
                    <a:endCxn id="99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3966171" y="4217716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94" name="Oval 93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TextBox 95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96" name="TextBox 9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01" name="Straight Connector 100"/>
                  <p:cNvCxnSpPr>
                    <a:endCxn id="94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/>
                <p:cNvGrpSpPr/>
                <p:nvPr/>
              </p:nvGrpSpPr>
              <p:grpSpPr>
                <a:xfrm>
                  <a:off x="5834916" y="4888364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112" name="Oval 111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4" name="TextBox 113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15" name="Straight Connector 114"/>
                  <p:cNvCxnSpPr>
                    <a:endCxn id="112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7" name="Straight Connector 156"/>
              <p:cNvCxnSpPr/>
              <p:nvPr/>
            </p:nvCxnSpPr>
            <p:spPr>
              <a:xfrm flipH="1">
                <a:off x="2133750" y="5479224"/>
                <a:ext cx="333867" cy="0"/>
              </a:xfrm>
              <a:prstGeom prst="line">
                <a:avLst/>
              </a:prstGeom>
              <a:ln w="571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6636117" y="3032269"/>
              <a:ext cx="2510101" cy="3168352"/>
              <a:chOff x="9804412" y="2934861"/>
              <a:chExt cx="2510101" cy="3168352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9804412" y="2934861"/>
                <a:ext cx="2510101" cy="3168352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>
                <a:off x="9979933" y="2961050"/>
                <a:ext cx="2189318" cy="2366923"/>
                <a:chOff x="8040216" y="259916"/>
                <a:chExt cx="2189318" cy="2366923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8632165" y="259916"/>
                  <a:ext cx="968645" cy="1692188"/>
                  <a:chOff x="4908525" y="1988839"/>
                  <a:chExt cx="968645" cy="1692188"/>
                </a:xfrm>
              </p:grpSpPr>
              <p:sp>
                <p:nvSpPr>
                  <p:cNvPr id="70" name="Oval 69"/>
                  <p:cNvSpPr/>
                  <p:nvPr/>
                </p:nvSpPr>
                <p:spPr>
                  <a:xfrm>
                    <a:off x="5160553" y="2960947"/>
                    <a:ext cx="468052" cy="468052"/>
                  </a:xfrm>
                  <a:prstGeom prst="ellipse">
                    <a:avLst/>
                  </a:prstGeom>
                  <a:solidFill>
                    <a:srgbClr val="FFC000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1" name="TextBox 70"/>
                      <p:cNvSpPr txBox="1"/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1" name="TextBox 15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72" name="Oval 71"/>
                  <p:cNvSpPr/>
                  <p:nvPr/>
                </p:nvSpPr>
                <p:spPr>
                  <a:xfrm>
                    <a:off x="5159207" y="2088431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3" name="TextBox 72"/>
                      <p:cNvSpPr txBox="1"/>
                      <p:nvPr/>
                    </p:nvSpPr>
                    <p:spPr>
                      <a:xfrm>
                        <a:off x="5132204" y="1988839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3" name="TextBox 15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1988839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74" name="Straight Connector 73"/>
                  <p:cNvCxnSpPr>
                    <a:stCxn id="70" idx="0"/>
                    <a:endCxn id="72" idx="4"/>
                  </p:cNvCxnSpPr>
                  <p:nvPr/>
                </p:nvCxnSpPr>
                <p:spPr>
                  <a:xfrm flipH="1" flipV="1">
                    <a:off x="5393233" y="2556483"/>
                    <a:ext cx="1346" cy="404464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/>
                  <p:cNvCxnSpPr>
                    <a:endCxn id="70" idx="3"/>
                  </p:cNvCxnSpPr>
                  <p:nvPr/>
                </p:nvCxnSpPr>
                <p:spPr>
                  <a:xfrm flipV="1">
                    <a:off x="4908525" y="33604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/>
                  <p:cNvCxnSpPr/>
                  <p:nvPr/>
                </p:nvCxnSpPr>
                <p:spPr>
                  <a:xfrm flipH="1" flipV="1">
                    <a:off x="5556597" y="33604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0" name="Group 59"/>
                <p:cNvGrpSpPr/>
                <p:nvPr/>
              </p:nvGrpSpPr>
              <p:grpSpPr>
                <a:xfrm>
                  <a:off x="9260889" y="1842009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66" name="Oval 65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7" name="TextBox 66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7" name="TextBox 14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8" name="Straight Connector 67"/>
                  <p:cNvCxnSpPr>
                    <a:endCxn id="66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Group 60"/>
                <p:cNvGrpSpPr/>
                <p:nvPr/>
              </p:nvGrpSpPr>
              <p:grpSpPr>
                <a:xfrm>
                  <a:off x="8040216" y="1842009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62" name="Oval 61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TextBox 62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3" name="TextBox 14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4" name="Straight Connector 63"/>
                  <p:cNvCxnSpPr>
                    <a:endCxn id="62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22" name="Right Arrow 121"/>
            <p:cNvSpPr/>
            <p:nvPr/>
          </p:nvSpPr>
          <p:spPr>
            <a:xfrm>
              <a:off x="5888263" y="4508433"/>
              <a:ext cx="432048" cy="216024"/>
            </a:xfrm>
            <a:prstGeom prst="rightArrow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/>
                <p:cNvSpPr txBox="1"/>
                <p:nvPr/>
              </p:nvSpPr>
              <p:spPr>
                <a:xfrm>
                  <a:off x="964695" y="2196299"/>
                  <a:ext cx="10261140" cy="573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If it is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US" sz="2800" dirty="0"/>
                    <a:t>’s right child, then replace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US" sz="2800" dirty="0"/>
                    <a:t> by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800" dirty="0"/>
                    <a:t>.  </a:t>
                  </a:r>
                </a:p>
              </p:txBody>
            </p:sp>
          </mc:Choice>
          <mc:Fallback xmlns="">
            <p:sp>
              <p:nvSpPr>
                <p:cNvPr id="124" name="TextBox 1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695" y="2196299"/>
                  <a:ext cx="10261140" cy="573811"/>
                </a:xfrm>
                <a:prstGeom prst="rect">
                  <a:avLst/>
                </a:prstGeom>
                <a:blipFill>
                  <a:blip r:embed="rId13"/>
                  <a:stretch>
                    <a:fillRect l="-1188" t="-1064" b="-297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9234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965430" y="476672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Otherwise,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the leftmost in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/>
                  <a:t>’s right subtree.</a:t>
                </a:r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76672"/>
                <a:ext cx="10261140" cy="573811"/>
              </a:xfrm>
              <a:prstGeom prst="rect">
                <a:avLst/>
              </a:prstGeom>
              <a:blipFill>
                <a:blip r:embed="rId3"/>
                <a:stretch>
                  <a:fillRect l="-1188" t="-106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965431" y="2315444"/>
            <a:ext cx="2665494" cy="3957871"/>
            <a:chOff x="965431" y="2315444"/>
            <a:chExt cx="2665494" cy="3957871"/>
          </a:xfrm>
        </p:grpSpPr>
        <p:grpSp>
          <p:nvGrpSpPr>
            <p:cNvPr id="34" name="Group 33"/>
            <p:cNvGrpSpPr/>
            <p:nvPr/>
          </p:nvGrpSpPr>
          <p:grpSpPr>
            <a:xfrm>
              <a:off x="965431" y="2315444"/>
              <a:ext cx="2665494" cy="3957871"/>
              <a:chOff x="965431" y="2315444"/>
              <a:chExt cx="2665494" cy="3957871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965431" y="2315444"/>
                <a:ext cx="2665494" cy="3957871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1652612" y="2405353"/>
                <a:ext cx="968645" cy="1562418"/>
                <a:chOff x="4908525" y="2118609"/>
                <a:chExt cx="968645" cy="156241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TextBox 87"/>
                    <p:cNvSpPr txBox="1"/>
                    <p:nvPr/>
                  </p:nvSpPr>
                  <p:spPr>
                    <a:xfrm>
                      <a:off x="5132204" y="2896197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88" name="TextBox 8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32204" y="2896197"/>
                      <a:ext cx="522058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7" name="Oval 86"/>
                <p:cNvSpPr/>
                <p:nvPr/>
              </p:nvSpPr>
              <p:spPr>
                <a:xfrm>
                  <a:off x="5160553" y="2960947"/>
                  <a:ext cx="468052" cy="468052"/>
                </a:xfrm>
                <a:prstGeom prst="ellipse">
                  <a:avLst/>
                </a:prstGeom>
                <a:solidFill>
                  <a:schemeClr val="tx1">
                    <a:alpha val="30196"/>
                  </a:schemeClr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/>
                <p:cNvSpPr/>
                <p:nvPr/>
              </p:nvSpPr>
              <p:spPr>
                <a:xfrm>
                  <a:off x="5159207" y="2206152"/>
                  <a:ext cx="468052" cy="46805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/>
                    <p:cNvSpPr txBox="1"/>
                    <p:nvPr/>
                  </p:nvSpPr>
                  <p:spPr>
                    <a:xfrm>
                      <a:off x="5132204" y="2118609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90" name="TextBox 8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32204" y="2118609"/>
                      <a:ext cx="522058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2" name="Straight Connector 91"/>
                <p:cNvCxnSpPr>
                  <a:stCxn id="87" idx="0"/>
                  <a:endCxn id="89" idx="4"/>
                </p:cNvCxnSpPr>
                <p:nvPr/>
              </p:nvCxnSpPr>
              <p:spPr>
                <a:xfrm flipH="1" flipV="1">
                  <a:off x="5393233" y="2674204"/>
                  <a:ext cx="1346" cy="28674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>
                  <a:endCxn id="87" idx="3"/>
                </p:cNvCxnSpPr>
                <p:nvPr/>
              </p:nvCxnSpPr>
              <p:spPr>
                <a:xfrm flipV="1">
                  <a:off x="4908525" y="3360454"/>
                  <a:ext cx="320573" cy="32057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flipH="1" flipV="1">
                  <a:off x="5556597" y="3360453"/>
                  <a:ext cx="320573" cy="32057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/>
            </p:nvGrpSpPr>
            <p:grpSpPr>
              <a:xfrm>
                <a:off x="1060663" y="3857676"/>
                <a:ext cx="968645" cy="784830"/>
                <a:chOff x="5060925" y="3048597"/>
                <a:chExt cx="968645" cy="784830"/>
              </a:xfrm>
            </p:grpSpPr>
            <p:sp>
              <p:nvSpPr>
                <p:cNvPr id="94" name="Oval 93"/>
                <p:cNvSpPr/>
                <p:nvPr/>
              </p:nvSpPr>
              <p:spPr>
                <a:xfrm>
                  <a:off x="5312953" y="3113347"/>
                  <a:ext cx="468052" cy="46805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/>
                    <p:cNvSpPr txBox="1"/>
                    <p:nvPr/>
                  </p:nvSpPr>
                  <p:spPr>
                    <a:xfrm>
                      <a:off x="5284604" y="3048597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96" name="TextBox 9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604" y="3048597"/>
                      <a:ext cx="522058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1" name="Straight Connector 100"/>
                <p:cNvCxnSpPr>
                  <a:endCxn id="94" idx="3"/>
                </p:cNvCxnSpPr>
                <p:nvPr/>
              </p:nvCxnSpPr>
              <p:spPr>
                <a:xfrm flipV="1">
                  <a:off x="5060925" y="3512854"/>
                  <a:ext cx="320573" cy="32057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 flipH="1" flipV="1">
                  <a:off x="5708997" y="3512853"/>
                  <a:ext cx="320573" cy="32057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/>
              <p:cNvGrpSpPr/>
              <p:nvPr/>
            </p:nvGrpSpPr>
            <p:grpSpPr>
              <a:xfrm>
                <a:off x="1777709" y="4789889"/>
                <a:ext cx="969416" cy="784830"/>
                <a:chOff x="5060925" y="3048597"/>
                <a:chExt cx="969416" cy="784830"/>
              </a:xfrm>
            </p:grpSpPr>
            <p:sp>
              <p:nvSpPr>
                <p:cNvPr id="99" name="Oval 98"/>
                <p:cNvSpPr/>
                <p:nvPr/>
              </p:nvSpPr>
              <p:spPr>
                <a:xfrm>
                  <a:off x="5312953" y="3113347"/>
                  <a:ext cx="468052" cy="468052"/>
                </a:xfrm>
                <a:prstGeom prst="ellipse">
                  <a:avLst/>
                </a:prstGeom>
                <a:solidFill>
                  <a:srgbClr val="FFC000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TextBox 99"/>
                    <p:cNvSpPr txBox="1"/>
                    <p:nvPr/>
                  </p:nvSpPr>
                  <p:spPr>
                    <a:xfrm>
                      <a:off x="5284604" y="3048597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00" name="TextBox 9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604" y="3048597"/>
                      <a:ext cx="522058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2" name="Straight Connector 101"/>
                <p:cNvCxnSpPr>
                  <a:endCxn id="99" idx="3"/>
                </p:cNvCxnSpPr>
                <p:nvPr/>
              </p:nvCxnSpPr>
              <p:spPr>
                <a:xfrm flipV="1">
                  <a:off x="5060925" y="3512854"/>
                  <a:ext cx="320573" cy="32057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/>
              </p:nvCxnSpPr>
              <p:spPr>
                <a:xfrm flipH="1" flipV="1">
                  <a:off x="5708999" y="3512855"/>
                  <a:ext cx="321342" cy="320571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" name="Group 109"/>
              <p:cNvGrpSpPr/>
              <p:nvPr/>
            </p:nvGrpSpPr>
            <p:grpSpPr>
              <a:xfrm>
                <a:off x="2425782" y="5456962"/>
                <a:ext cx="929674" cy="700170"/>
                <a:chOff x="5080796" y="3048597"/>
                <a:chExt cx="929674" cy="700170"/>
              </a:xfrm>
            </p:grpSpPr>
            <p:sp>
              <p:nvSpPr>
                <p:cNvPr id="112" name="Oval 111"/>
                <p:cNvSpPr/>
                <p:nvPr/>
              </p:nvSpPr>
              <p:spPr>
                <a:xfrm>
                  <a:off x="5312953" y="3113347"/>
                  <a:ext cx="468052" cy="46805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TextBox 113"/>
                    <p:cNvSpPr txBox="1"/>
                    <p:nvPr/>
                  </p:nvSpPr>
                  <p:spPr>
                    <a:xfrm>
                      <a:off x="5284604" y="3048597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14" name="TextBox 1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4604" y="3048597"/>
                      <a:ext cx="522058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5" name="Straight Connector 114"/>
                <p:cNvCxnSpPr>
                  <a:endCxn id="112" idx="3"/>
                </p:cNvCxnSpPr>
                <p:nvPr/>
              </p:nvCxnSpPr>
              <p:spPr>
                <a:xfrm flipV="1">
                  <a:off x="5080796" y="3512854"/>
                  <a:ext cx="300702" cy="23591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/>
                <p:nvPr/>
              </p:nvCxnSpPr>
              <p:spPr>
                <a:xfrm flipH="1" flipV="1">
                  <a:off x="5708998" y="3512854"/>
                  <a:ext cx="301472" cy="235913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7" name="Straight Connector 156"/>
              <p:cNvCxnSpPr/>
              <p:nvPr/>
            </p:nvCxnSpPr>
            <p:spPr>
              <a:xfrm flipH="1">
                <a:off x="1630123" y="5574718"/>
                <a:ext cx="333867" cy="0"/>
              </a:xfrm>
              <a:prstGeom prst="line">
                <a:avLst/>
              </a:prstGeom>
              <a:ln w="571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/>
              <p:cNvSpPr/>
              <p:nvPr/>
            </p:nvSpPr>
            <p:spPr>
              <a:xfrm>
                <a:off x="2512275" y="3942071"/>
                <a:ext cx="468052" cy="468052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2483926" y="3877321"/>
                    <a:ext cx="52205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3926" y="3877321"/>
                    <a:ext cx="522058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0" name="Straight Connector 59"/>
              <p:cNvCxnSpPr>
                <a:stCxn id="99" idx="0"/>
                <a:endCxn id="58" idx="3"/>
              </p:cNvCxnSpPr>
              <p:nvPr/>
            </p:nvCxnSpPr>
            <p:spPr>
              <a:xfrm flipV="1">
                <a:off x="2263763" y="4341578"/>
                <a:ext cx="317057" cy="513061"/>
              </a:xfrm>
              <a:prstGeom prst="line">
                <a:avLst/>
              </a:prstGeom>
              <a:ln w="28575">
                <a:solidFill>
                  <a:srgbClr val="0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2908320" y="4341578"/>
                <a:ext cx="174845" cy="191727"/>
              </a:xfrm>
              <a:prstGeom prst="line">
                <a:avLst/>
              </a:prstGeom>
              <a:ln w="28575">
                <a:solidFill>
                  <a:srgbClr val="0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Freeform 8"/>
            <p:cNvSpPr/>
            <p:nvPr/>
          </p:nvSpPr>
          <p:spPr>
            <a:xfrm>
              <a:off x="2379406" y="3451123"/>
              <a:ext cx="1100492" cy="1632154"/>
            </a:xfrm>
            <a:custGeom>
              <a:avLst/>
              <a:gdLst>
                <a:gd name="connsiteX0" fmla="*/ 196646 w 1100492"/>
                <a:gd name="connsiteY0" fmla="*/ 1632154 h 1632154"/>
                <a:gd name="connsiteX1" fmla="*/ 599768 w 1100492"/>
                <a:gd name="connsiteY1" fmla="*/ 1543664 h 1632154"/>
                <a:gd name="connsiteX2" fmla="*/ 943897 w 1100492"/>
                <a:gd name="connsiteY2" fmla="*/ 1307690 h 1632154"/>
                <a:gd name="connsiteX3" fmla="*/ 1091381 w 1100492"/>
                <a:gd name="connsiteY3" fmla="*/ 943896 h 1632154"/>
                <a:gd name="connsiteX4" fmla="*/ 1052052 w 1100492"/>
                <a:gd name="connsiteY4" fmla="*/ 648929 h 1632154"/>
                <a:gd name="connsiteX5" fmla="*/ 786581 w 1100492"/>
                <a:gd name="connsiteY5" fmla="*/ 285135 h 1632154"/>
                <a:gd name="connsiteX6" fmla="*/ 422788 w 1100492"/>
                <a:gd name="connsiteY6" fmla="*/ 78658 h 1632154"/>
                <a:gd name="connsiteX7" fmla="*/ 0 w 1100492"/>
                <a:gd name="connsiteY7" fmla="*/ 0 h 163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0492" h="1632154">
                  <a:moveTo>
                    <a:pt x="196646" y="1632154"/>
                  </a:moveTo>
                  <a:cubicBezTo>
                    <a:pt x="335936" y="1614947"/>
                    <a:pt x="475226" y="1597741"/>
                    <a:pt x="599768" y="1543664"/>
                  </a:cubicBezTo>
                  <a:cubicBezTo>
                    <a:pt x="724310" y="1489587"/>
                    <a:pt x="861961" y="1407651"/>
                    <a:pt x="943897" y="1307690"/>
                  </a:cubicBezTo>
                  <a:cubicBezTo>
                    <a:pt x="1025833" y="1207729"/>
                    <a:pt x="1073355" y="1053690"/>
                    <a:pt x="1091381" y="943896"/>
                  </a:cubicBezTo>
                  <a:cubicBezTo>
                    <a:pt x="1109407" y="834102"/>
                    <a:pt x="1102852" y="758722"/>
                    <a:pt x="1052052" y="648929"/>
                  </a:cubicBezTo>
                  <a:cubicBezTo>
                    <a:pt x="1001252" y="539136"/>
                    <a:pt x="891458" y="380180"/>
                    <a:pt x="786581" y="285135"/>
                  </a:cubicBezTo>
                  <a:cubicBezTo>
                    <a:pt x="681704" y="190090"/>
                    <a:pt x="553885" y="126180"/>
                    <a:pt x="422788" y="78658"/>
                  </a:cubicBezTo>
                  <a:cubicBezTo>
                    <a:pt x="291691" y="31135"/>
                    <a:pt x="145845" y="15567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65430" y="1041980"/>
            <a:ext cx="10261140" cy="5231336"/>
            <a:chOff x="965430" y="1041980"/>
            <a:chExt cx="10261140" cy="5231336"/>
          </a:xfrm>
        </p:grpSpPr>
        <p:grpSp>
          <p:nvGrpSpPr>
            <p:cNvPr id="5" name="Group 4"/>
            <p:cNvGrpSpPr/>
            <p:nvPr/>
          </p:nvGrpSpPr>
          <p:grpSpPr>
            <a:xfrm>
              <a:off x="965430" y="1041980"/>
              <a:ext cx="10261140" cy="5231336"/>
              <a:chOff x="965430" y="1041980"/>
              <a:chExt cx="10261140" cy="5231336"/>
            </a:xfrm>
          </p:grpSpPr>
          <p:sp>
            <p:nvSpPr>
              <p:cNvPr id="82" name="Right Arrow 81"/>
              <p:cNvSpPr/>
              <p:nvPr/>
            </p:nvSpPr>
            <p:spPr>
              <a:xfrm>
                <a:off x="3949836" y="4230005"/>
                <a:ext cx="432048" cy="183854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4612229" y="2315444"/>
                <a:ext cx="3210399" cy="3957872"/>
                <a:chOff x="3841851" y="2315952"/>
                <a:chExt cx="3210399" cy="3957872"/>
              </a:xfrm>
            </p:grpSpPr>
            <p:grpSp>
              <p:nvGrpSpPr>
                <p:cNvPr id="6" name="Group 5"/>
                <p:cNvGrpSpPr/>
                <p:nvPr/>
              </p:nvGrpSpPr>
              <p:grpSpPr>
                <a:xfrm>
                  <a:off x="4004175" y="2376528"/>
                  <a:ext cx="1337686" cy="2257452"/>
                  <a:chOff x="8040216" y="369387"/>
                  <a:chExt cx="1337686" cy="2257452"/>
                </a:xfrm>
              </p:grpSpPr>
              <p:grpSp>
                <p:nvGrpSpPr>
                  <p:cNvPr id="123" name="Group 122"/>
                  <p:cNvGrpSpPr/>
                  <p:nvPr/>
                </p:nvGrpSpPr>
                <p:grpSpPr>
                  <a:xfrm>
                    <a:off x="8632165" y="369387"/>
                    <a:ext cx="745737" cy="1582717"/>
                    <a:chOff x="4908525" y="2098310"/>
                    <a:chExt cx="745737" cy="158271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1" name="TextBox 150"/>
                        <p:cNvSpPr txBox="1"/>
                        <p:nvPr/>
                      </p:nvSpPr>
                      <p:spPr>
                        <a:xfrm>
                          <a:off x="5132204" y="2896197"/>
                          <a:ext cx="52205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51" name="TextBox 150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132204" y="2896197"/>
                          <a:ext cx="522058" cy="523220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50" name="Oval 149"/>
                    <p:cNvSpPr/>
                    <p:nvPr/>
                  </p:nvSpPr>
                  <p:spPr>
                    <a:xfrm>
                      <a:off x="5160553" y="2960947"/>
                      <a:ext cx="468052" cy="468052"/>
                    </a:xfrm>
                    <a:prstGeom prst="ellipse">
                      <a:avLst/>
                    </a:prstGeom>
                    <a:solidFill>
                      <a:schemeClr val="tx1">
                        <a:alpha val="30196"/>
                      </a:schemeClr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2" name="Oval 151"/>
                    <p:cNvSpPr/>
                    <p:nvPr/>
                  </p:nvSpPr>
                  <p:spPr>
                    <a:xfrm>
                      <a:off x="5159207" y="2179182"/>
                      <a:ext cx="468052" cy="46805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3" name="TextBox 152"/>
                        <p:cNvSpPr txBox="1"/>
                        <p:nvPr/>
                      </p:nvSpPr>
                      <p:spPr>
                        <a:xfrm>
                          <a:off x="5132204" y="2098310"/>
                          <a:ext cx="52205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53" name="TextBox 152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132204" y="2098310"/>
                          <a:ext cx="522058" cy="523220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54" name="Straight Connector 153"/>
                    <p:cNvCxnSpPr>
                      <a:stCxn id="150" idx="0"/>
                      <a:endCxn id="152" idx="4"/>
                    </p:cNvCxnSpPr>
                    <p:nvPr/>
                  </p:nvCxnSpPr>
                  <p:spPr>
                    <a:xfrm flipH="1" flipV="1">
                      <a:off x="5393233" y="2647234"/>
                      <a:ext cx="1346" cy="313713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/>
                    <p:cNvCxnSpPr>
                      <a:endCxn id="150" idx="3"/>
                    </p:cNvCxnSpPr>
                    <p:nvPr/>
                  </p:nvCxnSpPr>
                  <p:spPr>
                    <a:xfrm flipV="1">
                      <a:off x="4908525" y="3360454"/>
                      <a:ext cx="320573" cy="320573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6" name="Group 135"/>
                  <p:cNvGrpSpPr/>
                  <p:nvPr/>
                </p:nvGrpSpPr>
                <p:grpSpPr>
                  <a:xfrm>
                    <a:off x="8040216" y="1842009"/>
                    <a:ext cx="968645" cy="784830"/>
                    <a:chOff x="5060925" y="3048597"/>
                    <a:chExt cx="968645" cy="784830"/>
                  </a:xfrm>
                </p:grpSpPr>
                <p:sp>
                  <p:nvSpPr>
                    <p:cNvPr id="142" name="Oval 141"/>
                    <p:cNvSpPr/>
                    <p:nvPr/>
                  </p:nvSpPr>
                  <p:spPr>
                    <a:xfrm>
                      <a:off x="5312953" y="3113347"/>
                      <a:ext cx="468052" cy="46805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3" name="TextBox 142"/>
                        <p:cNvSpPr txBox="1"/>
                        <p:nvPr/>
                      </p:nvSpPr>
                      <p:spPr>
                        <a:xfrm>
                          <a:off x="5284604" y="3048597"/>
                          <a:ext cx="52205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43" name="TextBox 142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84604" y="3048597"/>
                          <a:ext cx="522058" cy="523220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44" name="Straight Connector 143"/>
                    <p:cNvCxnSpPr>
                      <a:endCxn id="142" idx="3"/>
                    </p:cNvCxnSpPr>
                    <p:nvPr/>
                  </p:nvCxnSpPr>
                  <p:spPr>
                    <a:xfrm flipV="1">
                      <a:off x="5060925" y="3512854"/>
                      <a:ext cx="320573" cy="320573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" name="Straight Connector 144"/>
                    <p:cNvCxnSpPr/>
                    <p:nvPr/>
                  </p:nvCxnSpPr>
                  <p:spPr>
                    <a:xfrm flipH="1" flipV="1">
                      <a:off x="5708997" y="3512853"/>
                      <a:ext cx="320573" cy="320573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1" name="Group 30"/>
                <p:cNvGrpSpPr/>
                <p:nvPr/>
              </p:nvGrpSpPr>
              <p:grpSpPr>
                <a:xfrm>
                  <a:off x="5474781" y="3216882"/>
                  <a:ext cx="1469695" cy="2210099"/>
                  <a:chOff x="7728448" y="4054509"/>
                  <a:chExt cx="1469695" cy="2210099"/>
                </a:xfrm>
              </p:grpSpPr>
              <p:sp>
                <p:nvSpPr>
                  <p:cNvPr id="62" name="Oval 61"/>
                  <p:cNvSpPr/>
                  <p:nvPr/>
                </p:nvSpPr>
                <p:spPr>
                  <a:xfrm>
                    <a:off x="8128062" y="4119259"/>
                    <a:ext cx="468052" cy="468052"/>
                  </a:xfrm>
                  <a:prstGeom prst="ellipse">
                    <a:avLst/>
                  </a:prstGeom>
                  <a:solidFill>
                    <a:srgbClr val="FFC000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TextBox 62"/>
                      <p:cNvSpPr txBox="1"/>
                      <p:nvPr/>
                    </p:nvSpPr>
                    <p:spPr>
                      <a:xfrm>
                        <a:off x="8099713" y="4054509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63" name="TextBox 6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99713" y="4054509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4" name="Straight Connector 63"/>
                  <p:cNvCxnSpPr>
                    <a:endCxn id="62" idx="3"/>
                  </p:cNvCxnSpPr>
                  <p:nvPr/>
                </p:nvCxnSpPr>
                <p:spPr>
                  <a:xfrm flipV="1">
                    <a:off x="7876034" y="4518766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 flipH="1" flipV="1">
                    <a:off x="8524106" y="4518765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/>
                  <p:cNvCxnSpPr/>
                  <p:nvPr/>
                </p:nvCxnSpPr>
                <p:spPr>
                  <a:xfrm flipH="1">
                    <a:off x="7728448" y="4839338"/>
                    <a:ext cx="333867" cy="0"/>
                  </a:xfrm>
                  <a:prstGeom prst="line">
                    <a:avLst/>
                  </a:prstGeom>
                  <a:ln w="57150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Oval 75"/>
                  <p:cNvSpPr/>
                  <p:nvPr/>
                </p:nvSpPr>
                <p:spPr>
                  <a:xfrm>
                    <a:off x="8704143" y="4817473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7" name="TextBox 76"/>
                      <p:cNvSpPr txBox="1"/>
                      <p:nvPr/>
                    </p:nvSpPr>
                    <p:spPr>
                      <a:xfrm>
                        <a:off x="8676085" y="4777988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77" name="TextBox 7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676085" y="4777988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79" name="Oval 78"/>
                  <p:cNvSpPr/>
                  <p:nvPr/>
                </p:nvSpPr>
                <p:spPr>
                  <a:xfrm>
                    <a:off x="8099713" y="5531439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0" name="TextBox 79"/>
                      <p:cNvSpPr txBox="1"/>
                      <p:nvPr/>
                    </p:nvSpPr>
                    <p:spPr>
                      <a:xfrm>
                        <a:off x="8088542" y="5503855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0" name="TextBox 7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88542" y="5503855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81" name="Straight Connector 80"/>
                  <p:cNvCxnSpPr/>
                  <p:nvPr/>
                </p:nvCxnSpPr>
                <p:spPr>
                  <a:xfrm flipV="1">
                    <a:off x="7858607" y="5944035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/>
                  <p:cNvCxnSpPr/>
                  <p:nvPr/>
                </p:nvCxnSpPr>
                <p:spPr>
                  <a:xfrm flipH="1" flipV="1">
                    <a:off x="8506679" y="594403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/>
                  <p:cNvCxnSpPr/>
                  <p:nvPr/>
                </p:nvCxnSpPr>
                <p:spPr>
                  <a:xfrm flipV="1">
                    <a:off x="8478371" y="5251827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6" name="Rectangle 105"/>
                <p:cNvSpPr/>
                <p:nvPr/>
              </p:nvSpPr>
              <p:spPr>
                <a:xfrm>
                  <a:off x="3841851" y="2315952"/>
                  <a:ext cx="3210399" cy="3957872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7" name="Group 106"/>
              <p:cNvGrpSpPr/>
              <p:nvPr/>
            </p:nvGrpSpPr>
            <p:grpSpPr>
              <a:xfrm>
                <a:off x="8859673" y="2315444"/>
                <a:ext cx="2366897" cy="3957872"/>
                <a:chOff x="921990" y="2314561"/>
                <a:chExt cx="2366897" cy="3957872"/>
              </a:xfrm>
            </p:grpSpPr>
            <p:sp>
              <p:nvSpPr>
                <p:cNvPr id="108" name="Rectangle 107"/>
                <p:cNvSpPr/>
                <p:nvPr/>
              </p:nvSpPr>
              <p:spPr>
                <a:xfrm>
                  <a:off x="921990" y="2314561"/>
                  <a:ext cx="2366897" cy="3957872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9" name="Group 108"/>
                <p:cNvGrpSpPr/>
                <p:nvPr/>
              </p:nvGrpSpPr>
              <p:grpSpPr>
                <a:xfrm>
                  <a:off x="1652612" y="2397531"/>
                  <a:ext cx="968645" cy="1570240"/>
                  <a:chOff x="4908525" y="2110787"/>
                  <a:chExt cx="968645" cy="1570240"/>
                </a:xfrm>
              </p:grpSpPr>
              <p:sp>
                <p:nvSpPr>
                  <p:cNvPr id="140" name="Oval 139"/>
                  <p:cNvSpPr/>
                  <p:nvPr/>
                </p:nvSpPr>
                <p:spPr>
                  <a:xfrm>
                    <a:off x="5160553" y="2960947"/>
                    <a:ext cx="468052" cy="468052"/>
                  </a:xfrm>
                  <a:prstGeom prst="ellipse">
                    <a:avLst/>
                  </a:prstGeom>
                  <a:solidFill>
                    <a:srgbClr val="FFC000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9" name="TextBox 138"/>
                      <p:cNvSpPr txBox="1"/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39" name="TextBox 13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28961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41" name="Oval 140"/>
                  <p:cNvSpPr/>
                  <p:nvPr/>
                </p:nvSpPr>
                <p:spPr>
                  <a:xfrm>
                    <a:off x="5159207" y="2205269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9" name="TextBox 158"/>
                      <p:cNvSpPr txBox="1"/>
                      <p:nvPr/>
                    </p:nvSpPr>
                    <p:spPr>
                      <a:xfrm>
                        <a:off x="5132204" y="211078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9" name="TextBox 15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32204" y="211078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60" name="Straight Connector 159"/>
                  <p:cNvCxnSpPr>
                    <a:stCxn id="140" idx="0"/>
                    <a:endCxn id="141" idx="4"/>
                  </p:cNvCxnSpPr>
                  <p:nvPr/>
                </p:nvCxnSpPr>
                <p:spPr>
                  <a:xfrm flipH="1" flipV="1">
                    <a:off x="5393233" y="2673321"/>
                    <a:ext cx="1346" cy="287626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>
                    <a:endCxn id="140" idx="3"/>
                  </p:cNvCxnSpPr>
                  <p:nvPr/>
                </p:nvCxnSpPr>
                <p:spPr>
                  <a:xfrm flipV="1">
                    <a:off x="4908525" y="33604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 flipH="1" flipV="1">
                    <a:off x="5556597" y="33604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1" name="Group 110"/>
                <p:cNvGrpSpPr/>
                <p:nvPr/>
              </p:nvGrpSpPr>
              <p:grpSpPr>
                <a:xfrm>
                  <a:off x="1060663" y="3857676"/>
                  <a:ext cx="968645" cy="784830"/>
                  <a:chOff x="5060925" y="3048597"/>
                  <a:chExt cx="968645" cy="784830"/>
                </a:xfrm>
              </p:grpSpPr>
              <p:sp>
                <p:nvSpPr>
                  <p:cNvPr id="133" name="Oval 132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4" name="TextBox 133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34" name="TextBox 13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7" name="Straight Connector 136"/>
                  <p:cNvCxnSpPr>
                    <a:endCxn id="133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/>
                  <p:cNvCxnSpPr/>
                  <p:nvPr/>
                </p:nvCxnSpPr>
                <p:spPr>
                  <a:xfrm flipH="1" flipV="1">
                    <a:off x="5708997" y="3512853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1777709" y="4789889"/>
                  <a:ext cx="969416" cy="784830"/>
                  <a:chOff x="5060925" y="3048597"/>
                  <a:chExt cx="969416" cy="784830"/>
                </a:xfrm>
              </p:grpSpPr>
              <p:sp>
                <p:nvSpPr>
                  <p:cNvPr id="130" name="Oval 129"/>
                  <p:cNvSpPr/>
                  <p:nvPr/>
                </p:nvSpPr>
                <p:spPr>
                  <a:xfrm>
                    <a:off x="5312953" y="3113347"/>
                    <a:ext cx="468052" cy="46805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9" name="TextBox 128"/>
                      <p:cNvSpPr txBox="1"/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29" name="TextBox 1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84604" y="3048597"/>
                        <a:ext cx="522058" cy="523220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1" name="Straight Connector 130"/>
                  <p:cNvCxnSpPr>
                    <a:endCxn id="130" idx="3"/>
                  </p:cNvCxnSpPr>
                  <p:nvPr/>
                </p:nvCxnSpPr>
                <p:spPr>
                  <a:xfrm flipV="1">
                    <a:off x="5060925" y="3512854"/>
                    <a:ext cx="320573" cy="320573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/>
                  <p:cNvCxnSpPr/>
                  <p:nvPr/>
                </p:nvCxnSpPr>
                <p:spPr>
                  <a:xfrm flipH="1" flipV="1">
                    <a:off x="5708999" y="3512855"/>
                    <a:ext cx="321342" cy="320571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9" name="Oval 118"/>
                <p:cNvSpPr/>
                <p:nvPr/>
              </p:nvSpPr>
              <p:spPr>
                <a:xfrm>
                  <a:off x="2512275" y="3942071"/>
                  <a:ext cx="468052" cy="46805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/>
                    <p:cNvSpPr txBox="1"/>
                    <p:nvPr/>
                  </p:nvSpPr>
                  <p:spPr>
                    <a:xfrm>
                      <a:off x="2483926" y="3877321"/>
                      <a:ext cx="52205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20" name="TextBox 1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83926" y="3877321"/>
                      <a:ext cx="522058" cy="523220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1" name="Straight Connector 120"/>
                <p:cNvCxnSpPr>
                  <a:stCxn id="130" idx="0"/>
                  <a:endCxn id="119" idx="3"/>
                </p:cNvCxnSpPr>
                <p:nvPr/>
              </p:nvCxnSpPr>
              <p:spPr>
                <a:xfrm flipV="1">
                  <a:off x="2263763" y="4341578"/>
                  <a:ext cx="317057" cy="513061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flipH="1" flipV="1">
                  <a:off x="2908320" y="4341578"/>
                  <a:ext cx="174845" cy="191727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3" name="Right Arrow 162"/>
              <p:cNvSpPr/>
              <p:nvPr/>
            </p:nvSpPr>
            <p:spPr>
              <a:xfrm>
                <a:off x="8104796" y="4235867"/>
                <a:ext cx="432048" cy="183854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965430" y="1041980"/>
                    <a:ext cx="10261140" cy="10908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ct val="120000"/>
                      </a:lnSpc>
                      <a:spcAft>
                        <a:spcPts val="1800"/>
                      </a:spcAft>
                    </a:pPr>
                    <a:r>
                      <a:rPr lang="en-US" sz="2800" dirty="0"/>
                      <a:t>All subtree nodes rooted at </a:t>
                    </a:r>
                    <a14:m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a14:m>
                    <a:r>
                      <a:rPr lang="en-US" sz="2800" dirty="0"/>
                      <a:t> (included) are larger than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  <a:r>
                      <a:rPr lang="en-US" sz="2800" dirty="0"/>
                      <a:t>.  Hence </a:t>
                    </a:r>
                    <a14:m>
                      <m:oMath xmlns:m="http://schemas.openxmlformats.org/officeDocument/2006/math"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  <a:r>
                      <a:rPr lang="en-US" sz="2800" dirty="0"/>
                      <a:t> can replace </a:t>
                    </a:r>
                    <a14:m>
                      <m:oMath xmlns:m="http://schemas.openxmlformats.org/officeDocument/2006/math"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a14:m>
                    <a:r>
                      <a:rPr lang="en-US" sz="2800" dirty="0"/>
                      <a:t>, with </a:t>
                    </a:r>
                    <a14:m>
                      <m:oMath xmlns:m="http://schemas.openxmlformats.org/officeDocument/2006/math"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2800" dirty="0"/>
                      <a:t>becoming </a:t>
                    </a:r>
                    <a14:m>
                      <m:oMath xmlns:m="http://schemas.openxmlformats.org/officeDocument/2006/math"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  <a:r>
                      <a:rPr lang="en-US" sz="2800" dirty="0"/>
                      <a:t>’s right child.</a:t>
                    </a:r>
                  </a:p>
                </p:txBody>
              </p:sp>
            </mc:Choice>
            <mc:Fallback xmlns="">
              <p:sp>
                <p:nvSpPr>
                  <p:cNvPr id="93" name="TextBox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5430" y="1041980"/>
                    <a:ext cx="10261140" cy="109087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1188" t="-1117" b="-150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8" name="Freeform 97"/>
            <p:cNvSpPr/>
            <p:nvPr/>
          </p:nvSpPr>
          <p:spPr>
            <a:xfrm rot="19553861">
              <a:off x="7232176" y="3057679"/>
              <a:ext cx="673652" cy="900252"/>
            </a:xfrm>
            <a:custGeom>
              <a:avLst/>
              <a:gdLst>
                <a:gd name="connsiteX0" fmla="*/ 196646 w 1100492"/>
                <a:gd name="connsiteY0" fmla="*/ 1632154 h 1632154"/>
                <a:gd name="connsiteX1" fmla="*/ 599768 w 1100492"/>
                <a:gd name="connsiteY1" fmla="*/ 1543664 h 1632154"/>
                <a:gd name="connsiteX2" fmla="*/ 943897 w 1100492"/>
                <a:gd name="connsiteY2" fmla="*/ 1307690 h 1632154"/>
                <a:gd name="connsiteX3" fmla="*/ 1091381 w 1100492"/>
                <a:gd name="connsiteY3" fmla="*/ 943896 h 1632154"/>
                <a:gd name="connsiteX4" fmla="*/ 1052052 w 1100492"/>
                <a:gd name="connsiteY4" fmla="*/ 648929 h 1632154"/>
                <a:gd name="connsiteX5" fmla="*/ 786581 w 1100492"/>
                <a:gd name="connsiteY5" fmla="*/ 285135 h 1632154"/>
                <a:gd name="connsiteX6" fmla="*/ 422788 w 1100492"/>
                <a:gd name="connsiteY6" fmla="*/ 78658 h 1632154"/>
                <a:gd name="connsiteX7" fmla="*/ 0 w 1100492"/>
                <a:gd name="connsiteY7" fmla="*/ 0 h 163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0492" h="1632154">
                  <a:moveTo>
                    <a:pt x="196646" y="1632154"/>
                  </a:moveTo>
                  <a:cubicBezTo>
                    <a:pt x="335936" y="1614947"/>
                    <a:pt x="475226" y="1597741"/>
                    <a:pt x="599768" y="1543664"/>
                  </a:cubicBezTo>
                  <a:cubicBezTo>
                    <a:pt x="724310" y="1489587"/>
                    <a:pt x="861961" y="1407651"/>
                    <a:pt x="943897" y="1307690"/>
                  </a:cubicBezTo>
                  <a:cubicBezTo>
                    <a:pt x="1025833" y="1207729"/>
                    <a:pt x="1073355" y="1053690"/>
                    <a:pt x="1091381" y="943896"/>
                  </a:cubicBezTo>
                  <a:cubicBezTo>
                    <a:pt x="1109407" y="834102"/>
                    <a:pt x="1102852" y="758722"/>
                    <a:pt x="1052052" y="648929"/>
                  </a:cubicBezTo>
                  <a:cubicBezTo>
                    <a:pt x="1001252" y="539136"/>
                    <a:pt x="891458" y="380180"/>
                    <a:pt x="786581" y="285135"/>
                  </a:cubicBezTo>
                  <a:cubicBezTo>
                    <a:pt x="681704" y="190090"/>
                    <a:pt x="553885" y="126180"/>
                    <a:pt x="422788" y="78658"/>
                  </a:cubicBezTo>
                  <a:cubicBezTo>
                    <a:pt x="291691" y="31135"/>
                    <a:pt x="145845" y="15567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7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935320" y="423232"/>
            <a:ext cx="632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Sorting with BST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1196752"/>
                <a:ext cx="10261140" cy="4699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BST can be used for sorting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elements by keys.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/>
                  <a:t>write code)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TREE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INSERT</m:t>
                    </m:r>
                  </m:oMath>
                </a14:m>
                <a:r>
                  <a:rPr lang="en-US" sz="2800" b="0" dirty="0"/>
                  <a:t> for every key 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/>
                  <a:t> repetitions) creates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/>
                  <a:t>-node BST.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INORDER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WALK</m:t>
                    </m:r>
                  </m:oMath>
                </a14:m>
                <a:r>
                  <a:rPr lang="en-US" sz="2800" b="0" dirty="0"/>
                  <a:t> will report the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/>
                  <a:t> sorted keys.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What is the worst-case input, what runtime it yields?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b="0" dirty="0"/>
                  <a:t>Assuming random input, what is the average runtime? </a:t>
                </a:r>
                <a:r>
                  <a:rPr lang="en-US" sz="2800" dirty="0"/>
                  <a:t>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  <a:endParaRPr lang="en-US" sz="2800" b="0" dirty="0"/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What is the best-case input, what runtime it yields?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96752"/>
                <a:ext cx="10261140" cy="4699107"/>
              </a:xfrm>
              <a:prstGeom prst="rect">
                <a:avLst/>
              </a:prstGeom>
              <a:blipFill>
                <a:blip r:embed="rId3"/>
                <a:stretch>
                  <a:fillRect l="-1188" t="-130" b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01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935320" y="423232"/>
            <a:ext cx="632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AVL Trees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1123654"/>
                <a:ext cx="10261140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BST can terribly perform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per insertion and search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how?).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AVL trees </a:t>
                </a:r>
                <a:r>
                  <a:rPr lang="en-US" sz="2800" dirty="0"/>
                  <a:t>(G.M. Adelson-</a:t>
                </a:r>
                <a:r>
                  <a:rPr lang="en-US" sz="2800" dirty="0" err="1"/>
                  <a:t>Velskii</a:t>
                </a:r>
                <a:r>
                  <a:rPr lang="en-US" sz="2800" dirty="0"/>
                  <a:t>, E.M. Landis, 1962) maintain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height by </a:t>
                </a:r>
                <a:r>
                  <a:rPr lang="en-US" sz="2800" b="1" i="1" dirty="0"/>
                  <a:t>Dynamic rebalancing</a:t>
                </a:r>
                <a:r>
                  <a:rPr lang="en-US" sz="2800" dirty="0"/>
                  <a:t>.</a:t>
                </a:r>
                <a:endParaRPr lang="en-US" sz="2800" b="1" i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23654"/>
                <a:ext cx="10261140" cy="1874359"/>
              </a:xfrm>
              <a:prstGeom prst="rect">
                <a:avLst/>
              </a:prstGeom>
              <a:blipFill>
                <a:blip r:embed="rId3"/>
                <a:stretch>
                  <a:fillRect l="-1188" t="-325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/>
          <p:cNvGrpSpPr/>
          <p:nvPr/>
        </p:nvGrpSpPr>
        <p:grpSpPr>
          <a:xfrm>
            <a:off x="1379042" y="3130276"/>
            <a:ext cx="9433915" cy="2471879"/>
            <a:chOff x="828679" y="3193812"/>
            <a:chExt cx="9433915" cy="2471879"/>
          </a:xfrm>
        </p:grpSpPr>
        <p:grpSp>
          <p:nvGrpSpPr>
            <p:cNvPr id="23" name="Group 22"/>
            <p:cNvGrpSpPr/>
            <p:nvPr/>
          </p:nvGrpSpPr>
          <p:grpSpPr>
            <a:xfrm>
              <a:off x="828679" y="3193812"/>
              <a:ext cx="9405094" cy="2452130"/>
              <a:chOff x="828679" y="3193812"/>
              <a:chExt cx="9405094" cy="2452130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38200" y="3193812"/>
                <a:ext cx="9389094" cy="523220"/>
                <a:chOff x="838200" y="3377790"/>
                <a:chExt cx="9389094" cy="523220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1209588" y="3639400"/>
                  <a:ext cx="9017706" cy="2393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21" name="TextBox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6" name="Group 55"/>
              <p:cNvGrpSpPr/>
              <p:nvPr/>
            </p:nvGrpSpPr>
            <p:grpSpPr>
              <a:xfrm>
                <a:off x="828679" y="3685133"/>
                <a:ext cx="9389094" cy="523220"/>
                <a:chOff x="838200" y="3377790"/>
                <a:chExt cx="9389094" cy="523220"/>
              </a:xfrm>
            </p:grpSpPr>
            <p:cxnSp>
              <p:nvCxnSpPr>
                <p:cNvPr id="57" name="Straight Connector 56"/>
                <p:cNvCxnSpPr/>
                <p:nvPr/>
              </p:nvCxnSpPr>
              <p:spPr>
                <a:xfrm>
                  <a:off x="1209588" y="3639400"/>
                  <a:ext cx="9017706" cy="2393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/>
                    <p:cNvSpPr txBox="1"/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59" name="TextBox 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0" name="Group 59"/>
              <p:cNvGrpSpPr/>
              <p:nvPr/>
            </p:nvGrpSpPr>
            <p:grpSpPr>
              <a:xfrm>
                <a:off x="844679" y="4099007"/>
                <a:ext cx="9389094" cy="523220"/>
                <a:chOff x="838200" y="3377790"/>
                <a:chExt cx="9389094" cy="523220"/>
              </a:xfrm>
            </p:grpSpPr>
            <p:cxnSp>
              <p:nvCxnSpPr>
                <p:cNvPr id="63" name="Straight Connector 62"/>
                <p:cNvCxnSpPr/>
                <p:nvPr/>
              </p:nvCxnSpPr>
              <p:spPr>
                <a:xfrm>
                  <a:off x="1209588" y="3639400"/>
                  <a:ext cx="9017706" cy="2393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/>
                    <p:cNvSpPr txBox="1"/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64" name="TextBox 6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6" name="Group 65"/>
              <p:cNvGrpSpPr/>
              <p:nvPr/>
            </p:nvGrpSpPr>
            <p:grpSpPr>
              <a:xfrm>
                <a:off x="835158" y="4590328"/>
                <a:ext cx="9389094" cy="523220"/>
                <a:chOff x="838200" y="3377790"/>
                <a:chExt cx="9389094" cy="523220"/>
              </a:xfrm>
            </p:grpSpPr>
            <p:cxnSp>
              <p:nvCxnSpPr>
                <p:cNvPr id="73" name="Straight Connector 72"/>
                <p:cNvCxnSpPr/>
                <p:nvPr/>
              </p:nvCxnSpPr>
              <p:spPr>
                <a:xfrm>
                  <a:off x="1209588" y="3639400"/>
                  <a:ext cx="9017706" cy="2393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TextBox 73"/>
                    <p:cNvSpPr txBox="1"/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74" name="TextBox 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5" name="Group 74"/>
              <p:cNvGrpSpPr/>
              <p:nvPr/>
            </p:nvGrpSpPr>
            <p:grpSpPr>
              <a:xfrm>
                <a:off x="835158" y="5122722"/>
                <a:ext cx="9389094" cy="523220"/>
                <a:chOff x="838200" y="3377790"/>
                <a:chExt cx="9389094" cy="523220"/>
              </a:xfrm>
            </p:grpSpPr>
            <p:cxnSp>
              <p:nvCxnSpPr>
                <p:cNvPr id="76" name="Straight Connector 75"/>
                <p:cNvCxnSpPr/>
                <p:nvPr/>
              </p:nvCxnSpPr>
              <p:spPr>
                <a:xfrm>
                  <a:off x="1209588" y="3639400"/>
                  <a:ext cx="9017706" cy="2393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TextBox 78"/>
                    <p:cNvSpPr txBox="1"/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79" name="TextBox 7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8200" y="3377790"/>
                      <a:ext cx="465593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0" name="Group 99"/>
            <p:cNvGrpSpPr/>
            <p:nvPr/>
          </p:nvGrpSpPr>
          <p:grpSpPr>
            <a:xfrm>
              <a:off x="1929406" y="3198300"/>
              <a:ext cx="8333188" cy="2467391"/>
              <a:chOff x="593968" y="3491271"/>
              <a:chExt cx="8333188" cy="2467391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087888" y="3491271"/>
                <a:ext cx="569484" cy="55911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5195900" y="4833830"/>
                <a:ext cx="569484" cy="55911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5087888" y="3504697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7888" y="3504697"/>
                    <a:ext cx="55148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5" name="Group 64"/>
              <p:cNvGrpSpPr/>
              <p:nvPr/>
            </p:nvGrpSpPr>
            <p:grpSpPr>
              <a:xfrm>
                <a:off x="593968" y="3770830"/>
                <a:ext cx="4493920" cy="2187832"/>
                <a:chOff x="593968" y="3770830"/>
                <a:chExt cx="4493920" cy="2187832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593968" y="3962070"/>
                  <a:ext cx="4385908" cy="1996592"/>
                  <a:chOff x="593968" y="3962070"/>
                  <a:chExt cx="4385908" cy="1996592"/>
                </a:xfrm>
              </p:grpSpPr>
              <p:sp>
                <p:nvSpPr>
                  <p:cNvPr id="8" name="Oval 7"/>
                  <p:cNvSpPr/>
                  <p:nvPr/>
                </p:nvSpPr>
                <p:spPr>
                  <a:xfrm>
                    <a:off x="3160156" y="3962070"/>
                    <a:ext cx="569484" cy="55911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" name="TextBox 10"/>
                      <p:cNvSpPr txBox="1"/>
                      <p:nvPr/>
                    </p:nvSpPr>
                    <p:spPr>
                      <a:xfrm>
                        <a:off x="1980123" y="4383053"/>
                        <a:ext cx="551481" cy="5232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1" name="TextBox 1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80123" y="4383053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" name="Oval 14"/>
                  <p:cNvSpPr/>
                  <p:nvPr/>
                </p:nvSpPr>
                <p:spPr>
                  <a:xfrm>
                    <a:off x="2722984" y="4822477"/>
                    <a:ext cx="569484" cy="55911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/>
                  <p:cNvSpPr/>
                  <p:nvPr/>
                </p:nvSpPr>
                <p:spPr>
                  <a:xfrm>
                    <a:off x="1134028" y="4822477"/>
                    <a:ext cx="569484" cy="55911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4403812" y="4383053"/>
                    <a:ext cx="569484" cy="55911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/>
                  <p:cNvSpPr/>
                  <p:nvPr/>
                </p:nvSpPr>
                <p:spPr>
                  <a:xfrm>
                    <a:off x="3622505" y="4840426"/>
                    <a:ext cx="569484" cy="55911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Oval 32"/>
                  <p:cNvSpPr/>
                  <p:nvPr/>
                </p:nvSpPr>
                <p:spPr>
                  <a:xfrm>
                    <a:off x="593968" y="5399544"/>
                    <a:ext cx="569484" cy="55911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" name="TextBox 6"/>
                      <p:cNvSpPr txBox="1"/>
                      <p:nvPr/>
                    </p:nvSpPr>
                    <p:spPr>
                      <a:xfrm>
                        <a:off x="3179676" y="3980019"/>
                        <a:ext cx="55148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7" name="TextBox 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79676" y="3980019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2" name="Oval 11"/>
                  <p:cNvSpPr/>
                  <p:nvPr/>
                </p:nvSpPr>
                <p:spPr>
                  <a:xfrm>
                    <a:off x="1962120" y="4365104"/>
                    <a:ext cx="569484" cy="55911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TextBox 13"/>
                      <p:cNvSpPr txBox="1"/>
                      <p:nvPr/>
                    </p:nvSpPr>
                    <p:spPr>
                      <a:xfrm>
                        <a:off x="2736207" y="4840426"/>
                        <a:ext cx="55148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" name="TextBox 1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6207" y="4840426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/>
                      <p:cNvSpPr txBox="1"/>
                      <p:nvPr/>
                    </p:nvSpPr>
                    <p:spPr>
                      <a:xfrm>
                        <a:off x="1152031" y="4840426"/>
                        <a:ext cx="55148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52031" y="4840426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/>
                      <p:cNvSpPr txBox="1"/>
                      <p:nvPr/>
                    </p:nvSpPr>
                    <p:spPr>
                      <a:xfrm>
                        <a:off x="4428395" y="4401002"/>
                        <a:ext cx="55148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9" name="TextBox 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428395" y="4401002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TextBox 23"/>
                      <p:cNvSpPr txBox="1"/>
                      <p:nvPr/>
                    </p:nvSpPr>
                    <p:spPr>
                      <a:xfrm>
                        <a:off x="3636307" y="4858375"/>
                        <a:ext cx="55148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4" name="TextBox 2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36307" y="4858375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/>
                      <p:cNvSpPr txBox="1"/>
                      <p:nvPr/>
                    </p:nvSpPr>
                    <p:spPr>
                      <a:xfrm>
                        <a:off x="611971" y="5417493"/>
                        <a:ext cx="55148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32" name="TextBox 3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1971" y="5417493"/>
                        <a:ext cx="551481" cy="52322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6" name="Straight Connector 35"/>
                  <p:cNvCxnSpPr>
                    <a:stCxn id="33" idx="7"/>
                    <a:endCxn id="19" idx="3"/>
                  </p:cNvCxnSpPr>
                  <p:nvPr/>
                </p:nvCxnSpPr>
                <p:spPr>
                  <a:xfrm flipV="1">
                    <a:off x="1080053" y="5299714"/>
                    <a:ext cx="137374" cy="181711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/>
                  <p:cNvCxnSpPr>
                    <a:stCxn id="19" idx="7"/>
                    <a:endCxn id="12" idx="2"/>
                  </p:cNvCxnSpPr>
                  <p:nvPr/>
                </p:nvCxnSpPr>
                <p:spPr>
                  <a:xfrm flipV="1">
                    <a:off x="1620113" y="4644663"/>
                    <a:ext cx="342007" cy="259695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>
                    <a:stCxn id="15" idx="1"/>
                    <a:endCxn id="12" idx="6"/>
                  </p:cNvCxnSpPr>
                  <p:nvPr/>
                </p:nvCxnSpPr>
                <p:spPr>
                  <a:xfrm flipH="1" flipV="1">
                    <a:off x="2531604" y="4644663"/>
                    <a:ext cx="274779" cy="259695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/>
                  <p:cNvCxnSpPr>
                    <a:stCxn id="12" idx="7"/>
                    <a:endCxn id="7" idx="1"/>
                  </p:cNvCxnSpPr>
                  <p:nvPr/>
                </p:nvCxnSpPr>
                <p:spPr>
                  <a:xfrm flipV="1">
                    <a:off x="2448205" y="4241629"/>
                    <a:ext cx="731471" cy="205356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/>
                  <p:cNvCxnSpPr>
                    <a:stCxn id="8" idx="6"/>
                    <a:endCxn id="30" idx="1"/>
                  </p:cNvCxnSpPr>
                  <p:nvPr/>
                </p:nvCxnSpPr>
                <p:spPr>
                  <a:xfrm>
                    <a:off x="3729640" y="4241629"/>
                    <a:ext cx="757571" cy="223305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/>
                  <p:cNvCxnSpPr>
                    <a:stCxn id="26" idx="7"/>
                    <a:endCxn id="30" idx="2"/>
                  </p:cNvCxnSpPr>
                  <p:nvPr/>
                </p:nvCxnSpPr>
                <p:spPr>
                  <a:xfrm flipV="1">
                    <a:off x="4108590" y="4662612"/>
                    <a:ext cx="295222" cy="259695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2" name="Straight Connector 61"/>
                <p:cNvCxnSpPr>
                  <a:stCxn id="8" idx="7"/>
                  <a:endCxn id="28" idx="2"/>
                </p:cNvCxnSpPr>
                <p:nvPr/>
              </p:nvCxnSpPr>
              <p:spPr>
                <a:xfrm flipV="1">
                  <a:off x="3646241" y="3770830"/>
                  <a:ext cx="1441647" cy="273121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" name="Group 66"/>
              <p:cNvGrpSpPr/>
              <p:nvPr/>
            </p:nvGrpSpPr>
            <p:grpSpPr>
              <a:xfrm flipH="1">
                <a:off x="5915980" y="3962318"/>
                <a:ext cx="3011176" cy="980101"/>
                <a:chOff x="1941767" y="3962070"/>
                <a:chExt cx="3011176" cy="980101"/>
              </a:xfrm>
            </p:grpSpPr>
            <p:sp>
              <p:nvSpPr>
                <p:cNvPr id="70" name="Oval 69"/>
                <p:cNvSpPr/>
                <p:nvPr/>
              </p:nvSpPr>
              <p:spPr>
                <a:xfrm>
                  <a:off x="3160156" y="3962070"/>
                  <a:ext cx="569484" cy="55911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1941767" y="4365104"/>
                  <a:ext cx="569484" cy="55911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/>
                <p:cNvSpPr/>
                <p:nvPr/>
              </p:nvSpPr>
              <p:spPr>
                <a:xfrm>
                  <a:off x="4383459" y="4383053"/>
                  <a:ext cx="569484" cy="55911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TextBox 68"/>
                    <p:cNvSpPr txBox="1"/>
                    <p:nvPr/>
                  </p:nvSpPr>
                  <p:spPr>
                    <a:xfrm>
                      <a:off x="3179676" y="3980019"/>
                      <a:ext cx="55148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69" name="TextBox 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79676" y="3980019"/>
                      <a:ext cx="551481" cy="52322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TextBox 70"/>
                    <p:cNvSpPr txBox="1"/>
                    <p:nvPr/>
                  </p:nvSpPr>
                  <p:spPr>
                    <a:xfrm>
                      <a:off x="1959770" y="4383053"/>
                      <a:ext cx="55148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71" name="TextBox 7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59770" y="4383053"/>
                      <a:ext cx="551481" cy="52322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" name="TextBox 76"/>
                    <p:cNvSpPr txBox="1"/>
                    <p:nvPr/>
                  </p:nvSpPr>
                  <p:spPr>
                    <a:xfrm>
                      <a:off x="4383459" y="4401002"/>
                      <a:ext cx="55148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77" name="TextBox 7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3459" y="4401002"/>
                      <a:ext cx="551481" cy="52322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6" name="Straight Connector 85"/>
                <p:cNvCxnSpPr>
                  <a:stCxn id="72" idx="7"/>
                  <a:endCxn id="69" idx="1"/>
                </p:cNvCxnSpPr>
                <p:nvPr/>
              </p:nvCxnSpPr>
              <p:spPr>
                <a:xfrm flipV="1">
                  <a:off x="2427852" y="4241629"/>
                  <a:ext cx="751824" cy="205356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>
                  <a:stCxn id="70" idx="6"/>
                  <a:endCxn id="78" idx="1"/>
                </p:cNvCxnSpPr>
                <p:nvPr/>
              </p:nvCxnSpPr>
              <p:spPr>
                <a:xfrm>
                  <a:off x="3729640" y="4241629"/>
                  <a:ext cx="737218" cy="223305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" name="Straight Connector 67"/>
              <p:cNvCxnSpPr>
                <a:stCxn id="70" idx="7"/>
                <a:endCxn id="28" idx="6"/>
              </p:cNvCxnSpPr>
              <p:nvPr/>
            </p:nvCxnSpPr>
            <p:spPr>
              <a:xfrm flipH="1" flipV="1">
                <a:off x="5657372" y="3770830"/>
                <a:ext cx="1565310" cy="273369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5195900" y="4851779"/>
                    <a:ext cx="55148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90" name="TextBox 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5900" y="4851779"/>
                    <a:ext cx="551481" cy="52322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Connector 91"/>
              <p:cNvCxnSpPr>
                <a:stCxn id="91" idx="7"/>
                <a:endCxn id="78" idx="6"/>
              </p:cNvCxnSpPr>
              <p:nvPr/>
            </p:nvCxnSpPr>
            <p:spPr>
              <a:xfrm flipV="1">
                <a:off x="5681985" y="4662860"/>
                <a:ext cx="233995" cy="252851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" name="TextBox 100"/>
          <p:cNvSpPr txBox="1"/>
          <p:nvPr/>
        </p:nvSpPr>
        <p:spPr>
          <a:xfrm>
            <a:off x="965430" y="5734419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Balance invariance</a:t>
            </a:r>
            <a:r>
              <a:rPr lang="en-US" sz="2800" dirty="0"/>
              <a:t>: left and right subtrees depth differ at most by 1. </a:t>
            </a:r>
          </a:p>
        </p:txBody>
      </p:sp>
    </p:spTree>
    <p:extLst>
      <p:ext uri="{BB962C8B-B14F-4D97-AF65-F5344CB8AC3E}">
        <p14:creationId xmlns:p14="http://schemas.microsoft.com/office/powerpoint/2010/main" val="256653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65430" y="620688"/>
            <a:ext cx="10261140" cy="109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Worst (imbalanced) AVL: 1 height diff occurs at all nodes. Otherwise leaves could be dropped without harming the invariance.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240016" y="4562021"/>
                <a:ext cx="5257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4562021"/>
                <a:ext cx="5257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965430" y="1917605"/>
            <a:ext cx="10261140" cy="4169645"/>
            <a:chOff x="965430" y="1917605"/>
            <a:chExt cx="10261140" cy="4169645"/>
          </a:xfrm>
        </p:grpSpPr>
        <p:grpSp>
          <p:nvGrpSpPr>
            <p:cNvPr id="31" name="Group 30"/>
            <p:cNvGrpSpPr/>
            <p:nvPr/>
          </p:nvGrpSpPr>
          <p:grpSpPr>
            <a:xfrm>
              <a:off x="1703512" y="3817331"/>
              <a:ext cx="4042676" cy="2269919"/>
              <a:chOff x="1731026" y="3856969"/>
              <a:chExt cx="4042676" cy="2269919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731026" y="4373407"/>
                <a:ext cx="1692188" cy="1753481"/>
                <a:chOff x="1731026" y="4373407"/>
                <a:chExt cx="1692188" cy="1753481"/>
              </a:xfrm>
            </p:grpSpPr>
            <p:grpSp>
              <p:nvGrpSpPr>
                <p:cNvPr id="6" name="Group 5"/>
                <p:cNvGrpSpPr/>
                <p:nvPr/>
              </p:nvGrpSpPr>
              <p:grpSpPr>
                <a:xfrm>
                  <a:off x="1731026" y="4373407"/>
                  <a:ext cx="1692188" cy="1753481"/>
                  <a:chOff x="650906" y="4625435"/>
                  <a:chExt cx="1692188" cy="1753481"/>
                </a:xfrm>
              </p:grpSpPr>
              <p:sp>
                <p:nvSpPr>
                  <p:cNvPr id="5" name="Isosceles Triangle 4"/>
                  <p:cNvSpPr/>
                  <p:nvPr/>
                </p:nvSpPr>
                <p:spPr>
                  <a:xfrm>
                    <a:off x="650906" y="4866748"/>
                    <a:ext cx="1692188" cy="1512168"/>
                  </a:xfrm>
                  <a:prstGeom prst="triangl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" name="Oval 49"/>
                  <p:cNvSpPr/>
                  <p:nvPr/>
                </p:nvSpPr>
                <p:spPr>
                  <a:xfrm>
                    <a:off x="1271470" y="4625435"/>
                    <a:ext cx="439398" cy="43197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/>
                    <p:cNvSpPr txBox="1"/>
                    <p:nvPr/>
                  </p:nvSpPr>
                  <p:spPr>
                    <a:xfrm>
                      <a:off x="1883538" y="5597465"/>
                      <a:ext cx="1386154" cy="461665"/>
                    </a:xfrm>
                    <a:prstGeom prst="rect">
                      <a:avLst/>
                    </a:prstGeom>
                    <a:solidFill>
                      <a:srgbClr val="FFFFFF">
                        <a:alpha val="80000"/>
                      </a:srgb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0" name="TextBox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3538" y="5597465"/>
                      <a:ext cx="1386154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3" name="Group 72"/>
              <p:cNvGrpSpPr/>
              <p:nvPr/>
            </p:nvGrpSpPr>
            <p:grpSpPr>
              <a:xfrm>
                <a:off x="4081514" y="4391989"/>
                <a:ext cx="1692188" cy="1286514"/>
                <a:chOff x="1597238" y="4389232"/>
                <a:chExt cx="1692188" cy="1286514"/>
              </a:xfrm>
            </p:grpSpPr>
            <p:grpSp>
              <p:nvGrpSpPr>
                <p:cNvPr id="74" name="Group 73"/>
                <p:cNvGrpSpPr/>
                <p:nvPr/>
              </p:nvGrpSpPr>
              <p:grpSpPr>
                <a:xfrm>
                  <a:off x="1597238" y="4389232"/>
                  <a:ext cx="1692188" cy="1286514"/>
                  <a:chOff x="517118" y="4641260"/>
                  <a:chExt cx="1692188" cy="1286514"/>
                </a:xfrm>
              </p:grpSpPr>
              <p:sp>
                <p:nvSpPr>
                  <p:cNvPr id="79" name="Isosceles Triangle 78"/>
                  <p:cNvSpPr/>
                  <p:nvPr/>
                </p:nvSpPr>
                <p:spPr>
                  <a:xfrm>
                    <a:off x="517118" y="4847576"/>
                    <a:ext cx="1692188" cy="1080198"/>
                  </a:xfrm>
                  <a:prstGeom prst="triangl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Oval 75"/>
                  <p:cNvSpPr/>
                  <p:nvPr/>
                </p:nvSpPr>
                <p:spPr>
                  <a:xfrm>
                    <a:off x="1161509" y="4641260"/>
                    <a:ext cx="403406" cy="403863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TextBox 74"/>
                    <p:cNvSpPr txBox="1"/>
                    <p:nvPr/>
                  </p:nvSpPr>
                  <p:spPr>
                    <a:xfrm>
                      <a:off x="1757524" y="5162660"/>
                      <a:ext cx="1386154" cy="461665"/>
                    </a:xfrm>
                    <a:prstGeom prst="rect">
                      <a:avLst/>
                    </a:prstGeom>
                    <a:solidFill>
                      <a:srgbClr val="FFFFFF">
                        <a:alpha val="80000"/>
                      </a:srgb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TextBox 7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7524" y="5162660"/>
                      <a:ext cx="1386154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8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0" name="Oval 79"/>
              <p:cNvSpPr/>
              <p:nvPr/>
            </p:nvSpPr>
            <p:spPr>
              <a:xfrm>
                <a:off x="3550362" y="3856969"/>
                <a:ext cx="421408" cy="442125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/>
              <p:cNvCxnSpPr>
                <a:stCxn id="50" idx="7"/>
                <a:endCxn id="80" idx="2"/>
              </p:cNvCxnSpPr>
              <p:nvPr/>
            </p:nvCxnSpPr>
            <p:spPr>
              <a:xfrm flipV="1">
                <a:off x="2726640" y="4078032"/>
                <a:ext cx="823722" cy="358636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stCxn id="76" idx="1"/>
                <a:endCxn id="80" idx="6"/>
              </p:cNvCxnSpPr>
              <p:nvPr/>
            </p:nvCxnSpPr>
            <p:spPr>
              <a:xfrm flipH="1" flipV="1">
                <a:off x="3971770" y="4078032"/>
                <a:ext cx="813212" cy="373101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965430" y="1917605"/>
                  <a:ext cx="10261140" cy="18398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Let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a14:m>
                  <a:r>
                    <a:rPr lang="en-US" sz="2800" dirty="0"/>
                    <a:t> be min number of nodes in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sz="2800" dirty="0"/>
                    <a:t>-height AVL tree.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W.l.o.g let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/>
                    <a:t> min nodes in left subtree, and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a14:m>
                  <a:r>
                    <a:rPr lang="en-US" sz="2800" dirty="0"/>
                    <a:t> min in right subtree. Then</a:t>
                  </a: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1917605"/>
                  <a:ext cx="10261140" cy="1839863"/>
                </a:xfrm>
                <a:prstGeom prst="rect">
                  <a:avLst/>
                </a:prstGeom>
                <a:blipFill>
                  <a:blip r:embed="rId7"/>
                  <a:stretch>
                    <a:fillRect l="-1188" t="-664" r="-1188" b="-8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4469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980728"/>
                <a:ext cx="10261140" cy="4907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Recursion solved by substituting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. Then,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&gt;2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⇒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800" dirty="0"/>
                  <a:t> 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800" dirty="0"/>
                  <a:t>. Taking log,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&lt;2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above is the worst situation, bounding any tree satisfying AVL balance invariance.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(Actually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&lt;1.44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800" dirty="0"/>
                  <a:t>, but proof is more complex).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80728"/>
                <a:ext cx="10261140" cy="4907241"/>
              </a:xfrm>
              <a:prstGeom prst="rect">
                <a:avLst/>
              </a:prstGeom>
              <a:blipFill>
                <a:blip r:embed="rId3"/>
                <a:stretch>
                  <a:fillRect l="-1188" t="-248" r="-1188" b="-1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95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965430" y="1256965"/>
                <a:ext cx="10261140" cy="440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LSON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ν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SON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ν</m:t>
                        </m:r>
                      </m:e>
                    </m:d>
                  </m:oMath>
                </a14:m>
                <a:r>
                  <a:rPr lang="en-US" sz="2800" dirty="0"/>
                  <a:t> left and right sons,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ν</m:t>
                        </m:r>
                      </m:e>
                    </m:d>
                  </m:oMath>
                </a14:m>
                <a:r>
                  <a:rPr lang="en-US" sz="2800" dirty="0"/>
                  <a:t> its </a:t>
                </a:r>
                <a:r>
                  <a:rPr lang="en-US" sz="2800" dirty="0" smtClean="0"/>
                  <a:t>h</a:t>
                </a:r>
                <a:r>
                  <a:rPr lang="en-US" sz="2800" dirty="0" smtClean="0"/>
                  <a:t>e</a:t>
                </a:r>
                <a:r>
                  <a:rPr lang="en-US" sz="2800" dirty="0" smtClean="0"/>
                  <a:t>ight.</a:t>
                </a: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To track AVL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LSON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ν</m:t>
                                </m:r>
                              </m:e>
                            </m:d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SON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ν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balance invariance,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maintains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ν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After insertion to leaf (as in ordinary BST), leaf-to-root traversal updates the height of all affected nodes.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Balance violation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</m:oMath>
                </a14:m>
                <a:r>
                  <a:rPr lang="en-US" sz="2800" dirty="0"/>
                  <a:t> is fixed by </a:t>
                </a:r>
                <a:r>
                  <a:rPr lang="en-US" sz="2800" b="1" i="1" dirty="0"/>
                  <a:t>rotation</a:t>
                </a:r>
                <a:r>
                  <a:rPr lang="en-US" sz="2800" dirty="0"/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</m:oMath>
                </a14:m>
                <a:r>
                  <a:rPr lang="en-US" sz="2800" dirty="0"/>
                  <a:t>, while preserving key ordering invariance.</a:t>
                </a: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56965"/>
                <a:ext cx="10261140" cy="4404283"/>
              </a:xfrm>
              <a:prstGeom prst="rect">
                <a:avLst/>
              </a:prstGeom>
              <a:blipFill>
                <a:blip r:embed="rId3"/>
                <a:stretch>
                  <a:fillRect l="-1188" t="-138" r="-1188" b="-2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Insertion in AVL Tree</a:t>
            </a:r>
          </a:p>
        </p:txBody>
      </p:sp>
    </p:spTree>
    <p:extLst>
      <p:ext uri="{BB962C8B-B14F-4D97-AF65-F5344CB8AC3E}">
        <p14:creationId xmlns:p14="http://schemas.microsoft.com/office/powerpoint/2010/main" val="264645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584684"/>
                <a:ext cx="10261140" cy="1269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Re - balance takes place depending where leaf </a:t>
                </a:r>
                <a14:m>
                  <m:oMath xmlns:m="http://schemas.openxmlformats.org/officeDocument/2006/math"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inserted.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By</a:t>
                </a:r>
                <a:r>
                  <a:rPr lang="en-US" sz="2800" b="1" dirty="0"/>
                  <a:t> single</a:t>
                </a:r>
                <a:r>
                  <a:rPr lang="en-US" sz="2800" dirty="0"/>
                  <a:t> rotation if inserted 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LSON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LSON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SON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RSON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84684"/>
                <a:ext cx="10261140" cy="1269963"/>
              </a:xfrm>
              <a:prstGeom prst="rect">
                <a:avLst/>
              </a:prstGeom>
              <a:blipFill>
                <a:blip r:embed="rId3"/>
                <a:stretch>
                  <a:fillRect l="-1188" t="-962" b="-9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Group 173"/>
          <p:cNvGrpSpPr/>
          <p:nvPr/>
        </p:nvGrpSpPr>
        <p:grpSpPr>
          <a:xfrm>
            <a:off x="6265525" y="2889781"/>
            <a:ext cx="4961045" cy="2583876"/>
            <a:chOff x="6143479" y="2913489"/>
            <a:chExt cx="4961045" cy="2583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/>
                <p:cNvSpPr txBox="1"/>
                <p:nvPr/>
              </p:nvSpPr>
              <p:spPr>
                <a:xfrm>
                  <a:off x="7985149" y="2913489"/>
                  <a:ext cx="50232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" name="TextBox 1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149" y="2913489"/>
                  <a:ext cx="50232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Straight Connector 133"/>
            <p:cNvCxnSpPr>
              <a:stCxn id="139" idx="7"/>
              <a:endCxn id="142" idx="3"/>
            </p:cNvCxnSpPr>
            <p:nvPr/>
          </p:nvCxnSpPr>
          <p:spPr>
            <a:xfrm flipV="1">
              <a:off x="7011739" y="3354721"/>
              <a:ext cx="1072900" cy="284201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142" idx="5"/>
              <a:endCxn id="144" idx="1"/>
            </p:cNvCxnSpPr>
            <p:nvPr/>
          </p:nvCxnSpPr>
          <p:spPr>
            <a:xfrm>
              <a:off x="8390143" y="3354721"/>
              <a:ext cx="957877" cy="381887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>
              <a:stCxn id="150" idx="1"/>
              <a:endCxn id="144" idx="6"/>
            </p:cNvCxnSpPr>
            <p:nvPr/>
          </p:nvCxnSpPr>
          <p:spPr>
            <a:xfrm flipH="1" flipV="1">
              <a:off x="9716796" y="3889075"/>
              <a:ext cx="555215" cy="14739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/>
            <p:cNvSpPr/>
            <p:nvPr/>
          </p:nvSpPr>
          <p:spPr>
            <a:xfrm>
              <a:off x="8021367" y="2986633"/>
              <a:ext cx="432048" cy="43124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3" name="Group 142"/>
            <p:cNvGrpSpPr/>
            <p:nvPr/>
          </p:nvGrpSpPr>
          <p:grpSpPr>
            <a:xfrm>
              <a:off x="9247528" y="3637450"/>
              <a:ext cx="502324" cy="523220"/>
              <a:chOff x="1569308" y="5460970"/>
              <a:chExt cx="502324" cy="523220"/>
            </a:xfrm>
            <a:noFill/>
          </p:grpSpPr>
          <p:sp>
            <p:nvSpPr>
              <p:cNvPr id="144" name="Oval 143"/>
              <p:cNvSpPr/>
              <p:nvPr/>
            </p:nvSpPr>
            <p:spPr>
              <a:xfrm>
                <a:off x="1606528" y="5496974"/>
                <a:ext cx="432048" cy="431242"/>
              </a:xfrm>
              <a:prstGeom prst="ellipse">
                <a:avLst/>
              </a:prstGeom>
              <a:grp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/>
                  <p:cNvSpPr txBox="1"/>
                  <p:nvPr/>
                </p:nvSpPr>
                <p:spPr>
                  <a:xfrm>
                    <a:off x="1569308" y="5460970"/>
                    <a:ext cx="502324" cy="523220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45" name="TextBox 1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9308" y="5460970"/>
                    <a:ext cx="502324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3" name="Group 172"/>
            <p:cNvGrpSpPr/>
            <p:nvPr/>
          </p:nvGrpSpPr>
          <p:grpSpPr>
            <a:xfrm>
              <a:off x="6143479" y="3590275"/>
              <a:ext cx="1524384" cy="1907090"/>
              <a:chOff x="6204012" y="4001923"/>
              <a:chExt cx="1524384" cy="1907090"/>
            </a:xfrm>
          </p:grpSpPr>
          <p:sp>
            <p:nvSpPr>
              <p:cNvPr id="136" name="Isosceles Triangle 135"/>
              <p:cNvSpPr/>
              <p:nvPr/>
            </p:nvSpPr>
            <p:spPr>
              <a:xfrm>
                <a:off x="6204012" y="4168014"/>
                <a:ext cx="1524384" cy="1512168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TextBox 136"/>
                  <p:cNvSpPr txBox="1"/>
                  <p:nvPr/>
                </p:nvSpPr>
                <p:spPr>
                  <a:xfrm>
                    <a:off x="6444146" y="4980480"/>
                    <a:ext cx="104411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37" name="TextBox 1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4146" y="4980480"/>
                    <a:ext cx="1044116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8" name="Group 137"/>
              <p:cNvGrpSpPr/>
              <p:nvPr/>
            </p:nvGrpSpPr>
            <p:grpSpPr>
              <a:xfrm>
                <a:off x="6715041" y="5366942"/>
                <a:ext cx="502324" cy="542071"/>
                <a:chOff x="1914293" y="5662726"/>
                <a:chExt cx="502324" cy="542071"/>
              </a:xfrm>
            </p:grpSpPr>
            <p:sp>
              <p:nvSpPr>
                <p:cNvPr id="157" name="Oval 156"/>
                <p:cNvSpPr/>
                <p:nvPr/>
              </p:nvSpPr>
              <p:spPr>
                <a:xfrm>
                  <a:off x="1940936" y="5773555"/>
                  <a:ext cx="432048" cy="43124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1914293" y="5662726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14293" y="5662726"/>
                      <a:ext cx="502324" cy="52322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39" name="Oval 138"/>
              <p:cNvSpPr/>
              <p:nvPr/>
            </p:nvSpPr>
            <p:spPr>
              <a:xfrm>
                <a:off x="6795690" y="4001923"/>
                <a:ext cx="324036" cy="3321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6754704" y="4484249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30" name="TextBox 1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4704" y="4484249"/>
                    <a:ext cx="422999" cy="52322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0" name="Group 159"/>
            <p:cNvGrpSpPr/>
            <p:nvPr/>
          </p:nvGrpSpPr>
          <p:grpSpPr>
            <a:xfrm>
              <a:off x="7908416" y="3889075"/>
              <a:ext cx="1424966" cy="1412569"/>
              <a:chOff x="7908416" y="3889075"/>
              <a:chExt cx="1424966" cy="1412569"/>
            </a:xfrm>
          </p:grpSpPr>
          <p:cxnSp>
            <p:nvCxnSpPr>
              <p:cNvPr id="135" name="Straight Connector 134"/>
              <p:cNvCxnSpPr>
                <a:stCxn id="154" idx="7"/>
                <a:endCxn id="144" idx="2"/>
              </p:cNvCxnSpPr>
              <p:nvPr/>
            </p:nvCxnSpPr>
            <p:spPr>
              <a:xfrm flipV="1">
                <a:off x="8729997" y="3889075"/>
                <a:ext cx="554751" cy="161495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0" name="Group 139"/>
              <p:cNvGrpSpPr/>
              <p:nvPr/>
            </p:nvGrpSpPr>
            <p:grpSpPr>
              <a:xfrm>
                <a:off x="7908416" y="4001923"/>
                <a:ext cx="1424966" cy="1299721"/>
                <a:chOff x="3249343" y="4297707"/>
                <a:chExt cx="1424966" cy="1299721"/>
              </a:xfrm>
            </p:grpSpPr>
            <p:grpSp>
              <p:nvGrpSpPr>
                <p:cNvPr id="153" name="Group 152"/>
                <p:cNvGrpSpPr/>
                <p:nvPr/>
              </p:nvGrpSpPr>
              <p:grpSpPr>
                <a:xfrm>
                  <a:off x="3249343" y="4463798"/>
                  <a:ext cx="1424966" cy="1133630"/>
                  <a:chOff x="3361428" y="4626084"/>
                  <a:chExt cx="1692188" cy="1133630"/>
                </a:xfrm>
              </p:grpSpPr>
              <p:sp>
                <p:nvSpPr>
                  <p:cNvPr id="155" name="Isosceles Triangle 154"/>
                  <p:cNvSpPr/>
                  <p:nvPr/>
                </p:nvSpPr>
                <p:spPr>
                  <a:xfrm>
                    <a:off x="3361428" y="4626084"/>
                    <a:ext cx="1692188" cy="1080198"/>
                  </a:xfrm>
                  <a:prstGeom prst="triangl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6" name="TextBox 155"/>
                      <p:cNvSpPr txBox="1"/>
                      <p:nvPr/>
                    </p:nvSpPr>
                    <p:spPr>
                      <a:xfrm>
                        <a:off x="3956360" y="5236494"/>
                        <a:ext cx="502323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6" name="TextBox 15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56360" y="5236494"/>
                        <a:ext cx="502323" cy="523220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54" name="Oval 153"/>
                <p:cNvSpPr/>
                <p:nvPr/>
              </p:nvSpPr>
              <p:spPr>
                <a:xfrm>
                  <a:off x="3794342" y="4297707"/>
                  <a:ext cx="324036" cy="332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/>
                  <p:cNvSpPr txBox="1"/>
                  <p:nvPr/>
                </p:nvSpPr>
                <p:spPr>
                  <a:xfrm>
                    <a:off x="8409399" y="4356080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31" name="TextBox 1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09399" y="4356080"/>
                    <a:ext cx="422999" cy="52322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9" name="Group 158"/>
            <p:cNvGrpSpPr/>
            <p:nvPr/>
          </p:nvGrpSpPr>
          <p:grpSpPr>
            <a:xfrm>
              <a:off x="9679558" y="3987823"/>
              <a:ext cx="1424966" cy="1301400"/>
              <a:chOff x="9679558" y="3987823"/>
              <a:chExt cx="1424966" cy="1301400"/>
            </a:xfrm>
          </p:grpSpPr>
          <p:grpSp>
            <p:nvGrpSpPr>
              <p:cNvPr id="148" name="Group 147"/>
              <p:cNvGrpSpPr/>
              <p:nvPr/>
            </p:nvGrpSpPr>
            <p:grpSpPr>
              <a:xfrm>
                <a:off x="9679558" y="3987823"/>
                <a:ext cx="1424966" cy="1301400"/>
                <a:chOff x="3249343" y="4297707"/>
                <a:chExt cx="1424966" cy="1301400"/>
              </a:xfrm>
            </p:grpSpPr>
            <p:grpSp>
              <p:nvGrpSpPr>
                <p:cNvPr id="149" name="Group 148"/>
                <p:cNvGrpSpPr/>
                <p:nvPr/>
              </p:nvGrpSpPr>
              <p:grpSpPr>
                <a:xfrm>
                  <a:off x="3249343" y="4463798"/>
                  <a:ext cx="1424966" cy="1135309"/>
                  <a:chOff x="3361428" y="4626084"/>
                  <a:chExt cx="1692188" cy="1135309"/>
                </a:xfrm>
              </p:grpSpPr>
              <p:sp>
                <p:nvSpPr>
                  <p:cNvPr id="151" name="Isosceles Triangle 150"/>
                  <p:cNvSpPr/>
                  <p:nvPr/>
                </p:nvSpPr>
                <p:spPr>
                  <a:xfrm>
                    <a:off x="3361428" y="4626084"/>
                    <a:ext cx="1692188" cy="1080198"/>
                  </a:xfrm>
                  <a:prstGeom prst="triangl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2" name="TextBox 151"/>
                      <p:cNvSpPr txBox="1"/>
                      <p:nvPr/>
                    </p:nvSpPr>
                    <p:spPr>
                      <a:xfrm>
                        <a:off x="3956360" y="5238173"/>
                        <a:ext cx="502323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2" name="TextBox 15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56360" y="5238173"/>
                        <a:ext cx="502323" cy="523220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50" name="Oval 149"/>
                <p:cNvSpPr/>
                <p:nvPr/>
              </p:nvSpPr>
              <p:spPr>
                <a:xfrm>
                  <a:off x="3794342" y="4297707"/>
                  <a:ext cx="324036" cy="332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/>
                  <p:cNvSpPr txBox="1"/>
                  <p:nvPr/>
                </p:nvSpPr>
                <p:spPr>
                  <a:xfrm>
                    <a:off x="10175075" y="4344925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32" name="TextBox 1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5075" y="4344925"/>
                    <a:ext cx="422999" cy="52322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0" name="Group 179"/>
          <p:cNvGrpSpPr/>
          <p:nvPr/>
        </p:nvGrpSpPr>
        <p:grpSpPr>
          <a:xfrm>
            <a:off x="3395700" y="2819073"/>
            <a:ext cx="3767819" cy="1366011"/>
            <a:chOff x="3395700" y="2819073"/>
            <a:chExt cx="3767819" cy="1366011"/>
          </a:xfrm>
        </p:grpSpPr>
        <p:sp>
          <p:nvSpPr>
            <p:cNvPr id="88" name="Arc 87"/>
            <p:cNvSpPr/>
            <p:nvPr/>
          </p:nvSpPr>
          <p:spPr>
            <a:xfrm>
              <a:off x="3395700" y="3612913"/>
              <a:ext cx="996404" cy="572171"/>
            </a:xfrm>
            <a:prstGeom prst="arc">
              <a:avLst>
                <a:gd name="adj1" fmla="val 1441638"/>
                <a:gd name="adj2" fmla="val 20568900"/>
              </a:avLst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7" name="Group 176"/>
            <p:cNvGrpSpPr/>
            <p:nvPr/>
          </p:nvGrpSpPr>
          <p:grpSpPr>
            <a:xfrm>
              <a:off x="5047273" y="2819073"/>
              <a:ext cx="2116246" cy="718211"/>
              <a:chOff x="5047273" y="2819073"/>
              <a:chExt cx="2116246" cy="718211"/>
            </a:xfrm>
          </p:grpSpPr>
          <p:sp>
            <p:nvSpPr>
              <p:cNvPr id="175" name="TextBox 174"/>
              <p:cNvSpPr txBox="1"/>
              <p:nvPr/>
            </p:nvSpPr>
            <p:spPr>
              <a:xfrm>
                <a:off x="5047273" y="2819073"/>
                <a:ext cx="21162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right rotation</a:t>
                </a:r>
              </a:p>
            </p:txBody>
          </p:sp>
          <p:sp>
            <p:nvSpPr>
              <p:cNvPr id="176" name="Right Arrow 175"/>
              <p:cNvSpPr/>
              <p:nvPr/>
            </p:nvSpPr>
            <p:spPr>
              <a:xfrm>
                <a:off x="5846275" y="3321260"/>
                <a:ext cx="432048" cy="216024"/>
              </a:xfrm>
              <a:prstGeom prst="rightArrow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965430" y="2291086"/>
            <a:ext cx="4546719" cy="3831780"/>
            <a:chOff x="965430" y="2291086"/>
            <a:chExt cx="4546719" cy="3831780"/>
          </a:xfrm>
        </p:grpSpPr>
        <p:grpSp>
          <p:nvGrpSpPr>
            <p:cNvPr id="179" name="Group 178"/>
            <p:cNvGrpSpPr/>
            <p:nvPr/>
          </p:nvGrpSpPr>
          <p:grpSpPr>
            <a:xfrm>
              <a:off x="965430" y="2936419"/>
              <a:ext cx="4546719" cy="3186447"/>
              <a:chOff x="965430" y="2936419"/>
              <a:chExt cx="4546719" cy="3186447"/>
            </a:xfrm>
          </p:grpSpPr>
          <p:grpSp>
            <p:nvGrpSpPr>
              <p:cNvPr id="87" name="Group 86"/>
              <p:cNvGrpSpPr/>
              <p:nvPr/>
            </p:nvGrpSpPr>
            <p:grpSpPr>
              <a:xfrm>
                <a:off x="965430" y="2936419"/>
                <a:ext cx="4546719" cy="3186447"/>
                <a:chOff x="1403264" y="3005140"/>
                <a:chExt cx="4546719" cy="318644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TextBox 73"/>
                    <p:cNvSpPr txBox="1"/>
                    <p:nvPr/>
                  </p:nvSpPr>
                  <p:spPr>
                    <a:xfrm>
                      <a:off x="2732535" y="3831953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74" name="TextBox 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32535" y="3831953"/>
                      <a:ext cx="502324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" name="Straight Connector 10"/>
                <p:cNvCxnSpPr>
                  <a:stCxn id="19" idx="7"/>
                  <a:endCxn id="73" idx="2"/>
                </p:cNvCxnSpPr>
                <p:nvPr/>
              </p:nvCxnSpPr>
              <p:spPr>
                <a:xfrm flipV="1">
                  <a:off x="2271524" y="4141757"/>
                  <a:ext cx="498274" cy="204597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>
                  <a:stCxn id="26" idx="1"/>
                  <a:endCxn id="73" idx="6"/>
                </p:cNvCxnSpPr>
                <p:nvPr/>
              </p:nvCxnSpPr>
              <p:spPr>
                <a:xfrm flipH="1" flipV="1">
                  <a:off x="3201846" y="4141757"/>
                  <a:ext cx="498275" cy="204597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Isosceles Triangle 19"/>
                <p:cNvSpPr/>
                <p:nvPr/>
              </p:nvSpPr>
              <p:spPr>
                <a:xfrm>
                  <a:off x="1403264" y="4463798"/>
                  <a:ext cx="1524384" cy="1512168"/>
                </a:xfrm>
                <a:prstGeom prst="triangle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/>
                    <p:cNvSpPr txBox="1"/>
                    <p:nvPr/>
                  </p:nvSpPr>
                  <p:spPr>
                    <a:xfrm>
                      <a:off x="1643398" y="5261917"/>
                      <a:ext cx="104411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8" name="TextBox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43398" y="5261917"/>
                      <a:ext cx="1044116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1" name="Group 70"/>
                <p:cNvGrpSpPr/>
                <p:nvPr/>
              </p:nvGrpSpPr>
              <p:grpSpPr>
                <a:xfrm>
                  <a:off x="1914293" y="5660578"/>
                  <a:ext cx="502324" cy="531009"/>
                  <a:chOff x="1914293" y="5660578"/>
                  <a:chExt cx="502324" cy="531009"/>
                </a:xfrm>
              </p:grpSpPr>
              <p:sp>
                <p:nvSpPr>
                  <p:cNvPr id="31" name="Oval 30"/>
                  <p:cNvSpPr/>
                  <p:nvPr/>
                </p:nvSpPr>
                <p:spPr>
                  <a:xfrm>
                    <a:off x="1940936" y="5760345"/>
                    <a:ext cx="432048" cy="43124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/>
                      <p:cNvSpPr txBox="1"/>
                      <p:nvPr/>
                    </p:nvSpPr>
                    <p:spPr>
                      <a:xfrm>
                        <a:off x="1914293" y="5660578"/>
                        <a:ext cx="50232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33" name="TextBox 3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14293" y="5660578"/>
                        <a:ext cx="502324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9" name="Oval 18"/>
                <p:cNvSpPr/>
                <p:nvPr/>
              </p:nvSpPr>
              <p:spPr>
                <a:xfrm>
                  <a:off x="1994942" y="4297707"/>
                  <a:ext cx="324036" cy="332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7" name="Group 56"/>
                <p:cNvGrpSpPr/>
                <p:nvPr/>
              </p:nvGrpSpPr>
              <p:grpSpPr>
                <a:xfrm>
                  <a:off x="3107668" y="4297707"/>
                  <a:ext cx="1424966" cy="1299721"/>
                  <a:chOff x="3249343" y="4297707"/>
                  <a:chExt cx="1424966" cy="1299721"/>
                </a:xfrm>
              </p:grpSpPr>
              <p:grpSp>
                <p:nvGrpSpPr>
                  <p:cNvPr id="42" name="Group 41"/>
                  <p:cNvGrpSpPr/>
                  <p:nvPr/>
                </p:nvGrpSpPr>
                <p:grpSpPr>
                  <a:xfrm>
                    <a:off x="3249343" y="4463798"/>
                    <a:ext cx="1424966" cy="1133630"/>
                    <a:chOff x="3361428" y="4626084"/>
                    <a:chExt cx="1692188" cy="1133630"/>
                  </a:xfrm>
                </p:grpSpPr>
                <p:sp>
                  <p:nvSpPr>
                    <p:cNvPr id="16" name="Isosceles Triangle 15"/>
                    <p:cNvSpPr/>
                    <p:nvPr/>
                  </p:nvSpPr>
                  <p:spPr>
                    <a:xfrm>
                      <a:off x="3361428" y="4626084"/>
                      <a:ext cx="1692188" cy="1080198"/>
                    </a:xfrm>
                    <a:prstGeom prst="triangl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0" name="TextBox 29"/>
                        <p:cNvSpPr txBox="1"/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30" name="TextBox 29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26" name="Oval 25"/>
                  <p:cNvSpPr/>
                  <p:nvPr/>
                </p:nvSpPr>
                <p:spPr>
                  <a:xfrm>
                    <a:off x="3794342" y="4297707"/>
                    <a:ext cx="324036" cy="332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6" name="Group 65"/>
                <p:cNvGrpSpPr/>
                <p:nvPr/>
              </p:nvGrpSpPr>
              <p:grpSpPr>
                <a:xfrm>
                  <a:off x="3138574" y="3409232"/>
                  <a:ext cx="2811409" cy="1720144"/>
                  <a:chOff x="1873625" y="4031363"/>
                  <a:chExt cx="2811409" cy="1720144"/>
                </a:xfrm>
              </p:grpSpPr>
              <p:cxnSp>
                <p:nvCxnSpPr>
                  <p:cNvPr id="58" name="Straight Connector 57"/>
                  <p:cNvCxnSpPr>
                    <a:stCxn id="73" idx="7"/>
                    <a:endCxn id="76" idx="3"/>
                  </p:cNvCxnSpPr>
                  <p:nvPr/>
                </p:nvCxnSpPr>
                <p:spPr>
                  <a:xfrm flipV="1">
                    <a:off x="1873625" y="4031363"/>
                    <a:ext cx="1151438" cy="580058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/>
                  <p:cNvCxnSpPr>
                    <a:stCxn id="63" idx="1"/>
                    <a:endCxn id="76" idx="5"/>
                  </p:cNvCxnSpPr>
                  <p:nvPr/>
                </p:nvCxnSpPr>
                <p:spPr>
                  <a:xfrm flipH="1" flipV="1">
                    <a:off x="3330567" y="4031363"/>
                    <a:ext cx="521954" cy="467391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3260068" y="4450107"/>
                    <a:ext cx="1424966" cy="1301400"/>
                    <a:chOff x="3249343" y="4297707"/>
                    <a:chExt cx="1424966" cy="1301400"/>
                  </a:xfrm>
                </p:grpSpPr>
                <p:grpSp>
                  <p:nvGrpSpPr>
                    <p:cNvPr id="62" name="Group 61"/>
                    <p:cNvGrpSpPr/>
                    <p:nvPr/>
                  </p:nvGrpSpPr>
                  <p:grpSpPr>
                    <a:xfrm>
                      <a:off x="3249343" y="4463798"/>
                      <a:ext cx="1424966" cy="1135309"/>
                      <a:chOff x="3361428" y="4626084"/>
                      <a:chExt cx="1692188" cy="1135309"/>
                    </a:xfrm>
                  </p:grpSpPr>
                  <p:sp>
                    <p:nvSpPr>
                      <p:cNvPr id="64" name="Isosceles Triangle 63"/>
                      <p:cNvSpPr/>
                      <p:nvPr/>
                    </p:nvSpPr>
                    <p:spPr>
                      <a:xfrm>
                        <a:off x="3361428" y="4626084"/>
                        <a:ext cx="1692188" cy="1080198"/>
                      </a:xfrm>
                      <a:prstGeom prst="triangl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5" name="TextBox 64"/>
                          <p:cNvSpPr txBox="1"/>
                          <p:nvPr/>
                        </p:nvSpPr>
                        <p:spPr>
                          <a:xfrm>
                            <a:off x="3956360" y="5238173"/>
                            <a:ext cx="502323" cy="5232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oMath>
                              </m:oMathPara>
                            </a14:m>
                            <a:endParaRPr lang="en-US" sz="28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5" name="TextBox 64"/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56360" y="5238173"/>
                            <a:ext cx="502323" cy="523220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63" name="Oval 62"/>
                    <p:cNvSpPr/>
                    <p:nvPr/>
                  </p:nvSpPr>
                  <p:spPr>
                    <a:xfrm>
                      <a:off x="3794342" y="4297707"/>
                      <a:ext cx="324036" cy="33218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sp>
              <p:nvSpPr>
                <p:cNvPr id="73" name="Oval 72"/>
                <p:cNvSpPr/>
                <p:nvPr/>
              </p:nvSpPr>
              <p:spPr>
                <a:xfrm>
                  <a:off x="2769798" y="3926136"/>
                  <a:ext cx="432048" cy="43124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5" name="Group 74"/>
                <p:cNvGrpSpPr/>
                <p:nvPr/>
              </p:nvGrpSpPr>
              <p:grpSpPr>
                <a:xfrm>
                  <a:off x="4189520" y="3005140"/>
                  <a:ext cx="502324" cy="523220"/>
                  <a:chOff x="1569308" y="5460970"/>
                  <a:chExt cx="502324" cy="523220"/>
                </a:xfrm>
                <a:noFill/>
              </p:grpSpPr>
              <p:sp>
                <p:nvSpPr>
                  <p:cNvPr id="76" name="Oval 75"/>
                  <p:cNvSpPr/>
                  <p:nvPr/>
                </p:nvSpPr>
                <p:spPr>
                  <a:xfrm>
                    <a:off x="1606528" y="5496974"/>
                    <a:ext cx="432048" cy="431242"/>
                  </a:xfrm>
                  <a:prstGeom prst="ellipse">
                    <a:avLst/>
                  </a:prstGeom>
                  <a:grp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7" name="TextBox 76"/>
                      <p:cNvSpPr txBox="1"/>
                      <p:nvPr/>
                    </p:nvSpPr>
                    <p:spPr>
                      <a:xfrm>
                        <a:off x="1569308" y="5460970"/>
                        <a:ext cx="502324" cy="523220"/>
                      </a:xfrm>
                      <a:prstGeom prst="rect">
                        <a:avLst/>
                      </a:prstGeom>
                      <a:grp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ν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77" name="TextBox 7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69308" y="5460970"/>
                        <a:ext cx="502324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1516122" y="4711312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89" name="TextBox 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6122" y="4711312"/>
                    <a:ext cx="42299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3170817" y="4583143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90" name="TextBox 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0817" y="4583143"/>
                    <a:ext cx="42299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4595783" y="4115303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91" name="TextBox 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5783" y="4115303"/>
                    <a:ext cx="422999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" name="Group 4"/>
            <p:cNvGrpSpPr/>
            <p:nvPr/>
          </p:nvGrpSpPr>
          <p:grpSpPr>
            <a:xfrm>
              <a:off x="1727621" y="2291086"/>
              <a:ext cx="2699087" cy="523220"/>
              <a:chOff x="1027813" y="2685797"/>
              <a:chExt cx="2699087" cy="523220"/>
            </a:xfrm>
          </p:grpSpPr>
          <p:sp>
            <p:nvSpPr>
              <p:cNvPr id="78" name="Rectangular Callout 77"/>
              <p:cNvSpPr/>
              <p:nvPr/>
            </p:nvSpPr>
            <p:spPr>
              <a:xfrm>
                <a:off x="1027813" y="2731370"/>
                <a:ext cx="2689815" cy="468049"/>
              </a:xfrm>
              <a:prstGeom prst="wedgeRectCallout">
                <a:avLst>
                  <a:gd name="adj1" fmla="val 31127"/>
                  <a:gd name="adj2" fmla="val 88848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1027813" y="2685797"/>
                <a:ext cx="26990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Balance violation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001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61910" y="1370328"/>
            <a:ext cx="4522807" cy="3181947"/>
            <a:chOff x="961910" y="1370328"/>
            <a:chExt cx="4522807" cy="3181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2267269" y="2197141"/>
                  <a:ext cx="50232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7269" y="2197141"/>
                  <a:ext cx="502324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6" name="Group 65"/>
            <p:cNvGrpSpPr/>
            <p:nvPr/>
          </p:nvGrpSpPr>
          <p:grpSpPr>
            <a:xfrm>
              <a:off x="2673308" y="1774420"/>
              <a:ext cx="2811409" cy="1720144"/>
              <a:chOff x="1873625" y="4031363"/>
              <a:chExt cx="2811409" cy="1720144"/>
            </a:xfrm>
          </p:grpSpPr>
          <p:cxnSp>
            <p:nvCxnSpPr>
              <p:cNvPr id="58" name="Straight Connector 57"/>
              <p:cNvCxnSpPr>
                <a:stCxn id="73" idx="7"/>
                <a:endCxn id="76" idx="3"/>
              </p:cNvCxnSpPr>
              <p:nvPr/>
            </p:nvCxnSpPr>
            <p:spPr>
              <a:xfrm flipV="1">
                <a:off x="1873625" y="4031363"/>
                <a:ext cx="1151438" cy="580058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63" idx="1"/>
                <a:endCxn id="76" idx="5"/>
              </p:cNvCxnSpPr>
              <p:nvPr/>
            </p:nvCxnSpPr>
            <p:spPr>
              <a:xfrm flipH="1" flipV="1">
                <a:off x="3330567" y="4031363"/>
                <a:ext cx="521954" cy="467391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/>
              <p:cNvGrpSpPr/>
              <p:nvPr/>
            </p:nvGrpSpPr>
            <p:grpSpPr>
              <a:xfrm>
                <a:off x="3260068" y="4450107"/>
                <a:ext cx="1424966" cy="1301400"/>
                <a:chOff x="3249343" y="4297707"/>
                <a:chExt cx="1424966" cy="1301400"/>
              </a:xfrm>
            </p:grpSpPr>
            <p:grpSp>
              <p:nvGrpSpPr>
                <p:cNvPr id="62" name="Group 61"/>
                <p:cNvGrpSpPr/>
                <p:nvPr/>
              </p:nvGrpSpPr>
              <p:grpSpPr>
                <a:xfrm>
                  <a:off x="3249343" y="4463798"/>
                  <a:ext cx="1424966" cy="1135309"/>
                  <a:chOff x="3361428" y="4626084"/>
                  <a:chExt cx="1692188" cy="1135309"/>
                </a:xfrm>
              </p:grpSpPr>
              <p:sp>
                <p:nvSpPr>
                  <p:cNvPr id="64" name="Isosceles Triangle 63"/>
                  <p:cNvSpPr/>
                  <p:nvPr/>
                </p:nvSpPr>
                <p:spPr>
                  <a:xfrm>
                    <a:off x="3361428" y="4626084"/>
                    <a:ext cx="1692188" cy="1080198"/>
                  </a:xfrm>
                  <a:prstGeom prst="triangl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Box 64"/>
                      <p:cNvSpPr txBox="1"/>
                      <p:nvPr/>
                    </p:nvSpPr>
                    <p:spPr>
                      <a:xfrm>
                        <a:off x="3956360" y="5238173"/>
                        <a:ext cx="502323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65" name="TextBox 6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56360" y="5238173"/>
                        <a:ext cx="502323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63" name="Oval 62"/>
                <p:cNvSpPr/>
                <p:nvPr/>
              </p:nvSpPr>
              <p:spPr>
                <a:xfrm>
                  <a:off x="3794342" y="4297707"/>
                  <a:ext cx="324036" cy="332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3" name="Oval 72"/>
            <p:cNvSpPr/>
            <p:nvPr/>
          </p:nvSpPr>
          <p:spPr>
            <a:xfrm>
              <a:off x="2304532" y="2291324"/>
              <a:ext cx="432048" cy="43124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3724254" y="1370328"/>
              <a:ext cx="502324" cy="523220"/>
              <a:chOff x="1569308" y="5460970"/>
              <a:chExt cx="502324" cy="523220"/>
            </a:xfrm>
            <a:noFill/>
          </p:grpSpPr>
          <p:sp>
            <p:nvSpPr>
              <p:cNvPr id="76" name="Oval 75"/>
              <p:cNvSpPr/>
              <p:nvPr/>
            </p:nvSpPr>
            <p:spPr>
              <a:xfrm>
                <a:off x="1606528" y="5496974"/>
                <a:ext cx="432048" cy="431242"/>
              </a:xfrm>
              <a:prstGeom prst="ellipse">
                <a:avLst/>
              </a:prstGeom>
              <a:grp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1569308" y="5460970"/>
                    <a:ext cx="502324" cy="523220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7" name="TextBox 7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9308" y="5460970"/>
                    <a:ext cx="502324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Straight Connector 10"/>
            <p:cNvCxnSpPr>
              <a:stCxn id="19" idx="7"/>
              <a:endCxn id="73" idx="2"/>
            </p:cNvCxnSpPr>
            <p:nvPr/>
          </p:nvCxnSpPr>
          <p:spPr>
            <a:xfrm flipH="1" flipV="1">
              <a:off x="2726230" y="2506945"/>
              <a:ext cx="498274" cy="204597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Isosceles Triangle 19"/>
            <p:cNvSpPr/>
            <p:nvPr/>
          </p:nvSpPr>
          <p:spPr>
            <a:xfrm flipH="1">
              <a:off x="2568380" y="2828986"/>
              <a:ext cx="1524384" cy="1512168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flipH="1">
                  <a:off x="2808514" y="3638580"/>
                  <a:ext cx="104411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808514" y="3638580"/>
                  <a:ext cx="104411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 70"/>
            <p:cNvGrpSpPr/>
            <p:nvPr/>
          </p:nvGrpSpPr>
          <p:grpSpPr>
            <a:xfrm flipH="1">
              <a:off x="3079410" y="4020380"/>
              <a:ext cx="502324" cy="531895"/>
              <a:chOff x="1914294" y="5655192"/>
              <a:chExt cx="502324" cy="5318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1949432" y="5755845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1914294" y="5655192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4294" y="5655192"/>
                    <a:ext cx="502324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Oval 18"/>
            <p:cNvSpPr/>
            <p:nvPr/>
          </p:nvSpPr>
          <p:spPr>
            <a:xfrm flipH="1">
              <a:off x="3177050" y="2662895"/>
              <a:ext cx="324036" cy="3321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 flipH="1">
                  <a:off x="3119073" y="3145221"/>
                  <a:ext cx="4229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119073" y="3145221"/>
                  <a:ext cx="42299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/>
            <p:cNvGrpSpPr/>
            <p:nvPr/>
          </p:nvGrpSpPr>
          <p:grpSpPr>
            <a:xfrm flipH="1">
              <a:off x="961910" y="2525346"/>
              <a:ext cx="1424966" cy="1455671"/>
              <a:chOff x="2651832" y="1937325"/>
              <a:chExt cx="1424966" cy="1455671"/>
            </a:xfrm>
          </p:grpSpPr>
          <p:cxnSp>
            <p:nvCxnSpPr>
              <p:cNvPr id="12" name="Straight Connector 11"/>
              <p:cNvCxnSpPr>
                <a:stCxn id="26" idx="1"/>
                <a:endCxn id="73" idx="6"/>
              </p:cNvCxnSpPr>
              <p:nvPr/>
            </p:nvCxnSpPr>
            <p:spPr>
              <a:xfrm flipH="1" flipV="1">
                <a:off x="2746010" y="1937325"/>
                <a:ext cx="498275" cy="204597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>
              <a:xfrm>
                <a:off x="2651832" y="2093275"/>
                <a:ext cx="1424966" cy="1299721"/>
                <a:chOff x="3249343" y="4297707"/>
                <a:chExt cx="1424966" cy="1299721"/>
              </a:xfrm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3249343" y="4463798"/>
                  <a:ext cx="1424966" cy="1133630"/>
                  <a:chOff x="3361428" y="4626084"/>
                  <a:chExt cx="1692188" cy="1133630"/>
                </a:xfrm>
              </p:grpSpPr>
              <p:sp>
                <p:nvSpPr>
                  <p:cNvPr id="16" name="Isosceles Triangle 15"/>
                  <p:cNvSpPr/>
                  <p:nvPr/>
                </p:nvSpPr>
                <p:spPr>
                  <a:xfrm>
                    <a:off x="3361428" y="4626084"/>
                    <a:ext cx="1692188" cy="1080198"/>
                  </a:xfrm>
                  <a:prstGeom prst="triangl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/>
                      <p:cNvSpPr txBox="1"/>
                      <p:nvPr/>
                    </p:nvSpPr>
                    <p:spPr>
                      <a:xfrm>
                        <a:off x="3956360" y="5236494"/>
                        <a:ext cx="502323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30" name="TextBox 2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56360" y="5236494"/>
                        <a:ext cx="502323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6" name="Oval 25"/>
                <p:cNvSpPr/>
                <p:nvPr/>
              </p:nvSpPr>
              <p:spPr>
                <a:xfrm>
                  <a:off x="3794342" y="4297707"/>
                  <a:ext cx="324036" cy="332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3152815" y="2447432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90" name="TextBox 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2815" y="2447432"/>
                    <a:ext cx="42299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4568351" y="2549212"/>
                  <a:ext cx="4229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8351" y="2549212"/>
                  <a:ext cx="422999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TextBox 78"/>
          <p:cNvSpPr txBox="1"/>
          <p:nvPr/>
        </p:nvSpPr>
        <p:spPr>
          <a:xfrm>
            <a:off x="965430" y="4907949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en-US" sz="2800" dirty="0"/>
              <a:t>Right rotation alone does not solve the imbalance.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965430" y="584684"/>
                <a:ext cx="10261140" cy="675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By</a:t>
                </a:r>
                <a:r>
                  <a:rPr lang="en-US" sz="2800" b="1" dirty="0"/>
                  <a:t> double</a:t>
                </a:r>
                <a:r>
                  <a:rPr lang="en-US" sz="2800" dirty="0"/>
                  <a:t> rotation if inserted 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LSON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RSON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RSON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LSON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84684"/>
                <a:ext cx="10261140" cy="675954"/>
              </a:xfrm>
              <a:prstGeom prst="rect">
                <a:avLst/>
              </a:prstGeom>
              <a:blipFill>
                <a:blip r:embed="rId24"/>
                <a:stretch>
                  <a:fillRect l="-1188" r="-475" b="-17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961910" y="5634552"/>
                <a:ext cx="10261140" cy="609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sz="2800" dirty="0"/>
                  <a:t> subtree splits into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2800" dirty="0"/>
                  <a:t>. Either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10" y="5634552"/>
                <a:ext cx="10261140" cy="609398"/>
              </a:xfrm>
              <a:prstGeom prst="rect">
                <a:avLst/>
              </a:prstGeom>
              <a:blipFill>
                <a:blip r:embed="rId25"/>
                <a:stretch>
                  <a:fillRect t="-1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6276020" y="1354019"/>
            <a:ext cx="4950550" cy="3668175"/>
            <a:chOff x="6276020" y="1354019"/>
            <a:chExt cx="4950550" cy="3668175"/>
          </a:xfrm>
        </p:grpSpPr>
        <p:grpSp>
          <p:nvGrpSpPr>
            <p:cNvPr id="38" name="Group 37"/>
            <p:cNvGrpSpPr/>
            <p:nvPr/>
          </p:nvGrpSpPr>
          <p:grpSpPr>
            <a:xfrm>
              <a:off x="6276020" y="1370328"/>
              <a:ext cx="4950550" cy="3510481"/>
              <a:chOff x="6276020" y="791479"/>
              <a:chExt cx="4950550" cy="351048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/>
                  <p:cNvSpPr txBox="1"/>
                  <p:nvPr/>
                </p:nvSpPr>
                <p:spPr>
                  <a:xfrm>
                    <a:off x="8898980" y="2562065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2" name="TextBox 8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98980" y="2562065"/>
                    <a:ext cx="502324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3" name="Group 82"/>
              <p:cNvGrpSpPr/>
              <p:nvPr/>
            </p:nvGrpSpPr>
            <p:grpSpPr>
              <a:xfrm>
                <a:off x="8415161" y="1195571"/>
                <a:ext cx="2811409" cy="1720144"/>
                <a:chOff x="1873625" y="4031363"/>
                <a:chExt cx="2811409" cy="1720144"/>
              </a:xfrm>
            </p:grpSpPr>
            <p:cxnSp>
              <p:nvCxnSpPr>
                <p:cNvPr id="111" name="Straight Connector 110"/>
                <p:cNvCxnSpPr>
                  <a:stCxn id="84" idx="7"/>
                  <a:endCxn id="109" idx="3"/>
                </p:cNvCxnSpPr>
                <p:nvPr/>
              </p:nvCxnSpPr>
              <p:spPr>
                <a:xfrm flipV="1">
                  <a:off x="1873625" y="4031363"/>
                  <a:ext cx="1151438" cy="580058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>
                  <a:stCxn id="115" idx="1"/>
                  <a:endCxn id="109" idx="5"/>
                </p:cNvCxnSpPr>
                <p:nvPr/>
              </p:nvCxnSpPr>
              <p:spPr>
                <a:xfrm flipH="1" flipV="1">
                  <a:off x="3330567" y="4031363"/>
                  <a:ext cx="521954" cy="467391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3" name="Group 112"/>
                <p:cNvGrpSpPr/>
                <p:nvPr/>
              </p:nvGrpSpPr>
              <p:grpSpPr>
                <a:xfrm>
                  <a:off x="3260068" y="4450107"/>
                  <a:ext cx="1424966" cy="1301400"/>
                  <a:chOff x="3249343" y="4297707"/>
                  <a:chExt cx="1424966" cy="1301400"/>
                </a:xfrm>
              </p:grpSpPr>
              <p:grpSp>
                <p:nvGrpSpPr>
                  <p:cNvPr id="114" name="Group 113"/>
                  <p:cNvGrpSpPr/>
                  <p:nvPr/>
                </p:nvGrpSpPr>
                <p:grpSpPr>
                  <a:xfrm>
                    <a:off x="3249343" y="4463798"/>
                    <a:ext cx="1424966" cy="1135309"/>
                    <a:chOff x="3361428" y="4626084"/>
                    <a:chExt cx="1692188" cy="1135309"/>
                  </a:xfrm>
                </p:grpSpPr>
                <p:sp>
                  <p:nvSpPr>
                    <p:cNvPr id="116" name="Isosceles Triangle 115"/>
                    <p:cNvSpPr/>
                    <p:nvPr/>
                  </p:nvSpPr>
                  <p:spPr>
                    <a:xfrm>
                      <a:off x="3361428" y="4626084"/>
                      <a:ext cx="1692188" cy="1080198"/>
                    </a:xfrm>
                    <a:prstGeom prst="triangl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17" name="TextBox 116"/>
                        <p:cNvSpPr txBox="1"/>
                        <p:nvPr/>
                      </p:nvSpPr>
                      <p:spPr>
                        <a:xfrm>
                          <a:off x="3956360" y="5238173"/>
                          <a:ext cx="502323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17" name="TextBox 116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56360" y="5238173"/>
                          <a:ext cx="502323" cy="523220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15" name="Oval 114"/>
                  <p:cNvSpPr/>
                  <p:nvPr/>
                </p:nvSpPr>
                <p:spPr>
                  <a:xfrm>
                    <a:off x="3794342" y="4297707"/>
                    <a:ext cx="324036" cy="332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4" name="Oval 83"/>
              <p:cNvSpPr/>
              <p:nvPr/>
            </p:nvSpPr>
            <p:spPr>
              <a:xfrm>
                <a:off x="8046385" y="1712475"/>
                <a:ext cx="432048" cy="431242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5" name="Group 84"/>
              <p:cNvGrpSpPr/>
              <p:nvPr/>
            </p:nvGrpSpPr>
            <p:grpSpPr>
              <a:xfrm>
                <a:off x="9466107" y="791479"/>
                <a:ext cx="502324" cy="523220"/>
                <a:chOff x="1569308" y="5460970"/>
                <a:chExt cx="502324" cy="523220"/>
              </a:xfrm>
              <a:noFill/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606528" y="5496974"/>
                  <a:ext cx="432048" cy="431242"/>
                </a:xfrm>
                <a:prstGeom prst="ellipse">
                  <a:avLst/>
                </a:prstGeom>
                <a:grp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0" name="TextBox 109"/>
                    <p:cNvSpPr txBox="1"/>
                    <p:nvPr/>
                  </p:nvSpPr>
                  <p:spPr>
                    <a:xfrm>
                      <a:off x="1569308" y="5460970"/>
                      <a:ext cx="502324" cy="523220"/>
                    </a:xfrm>
                    <a:prstGeom prst="rect">
                      <a:avLst/>
                    </a:prstGeom>
                    <a:grp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10" name="TextBox 10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69308" y="5460970"/>
                      <a:ext cx="502324" cy="52322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01" name="Straight Connector 100"/>
              <p:cNvCxnSpPr>
                <a:stCxn id="165" idx="1"/>
                <a:endCxn id="84" idx="5"/>
              </p:cNvCxnSpPr>
              <p:nvPr/>
            </p:nvCxnSpPr>
            <p:spPr>
              <a:xfrm flipH="1" flipV="1">
                <a:off x="8415161" y="2080563"/>
                <a:ext cx="570129" cy="636634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" name="Group 91"/>
              <p:cNvGrpSpPr/>
              <p:nvPr/>
            </p:nvGrpSpPr>
            <p:grpSpPr>
              <a:xfrm flipH="1">
                <a:off x="6276020" y="1928096"/>
                <a:ext cx="1770365" cy="1477496"/>
                <a:chOff x="2306433" y="1915500"/>
                <a:chExt cx="1770365" cy="1477496"/>
              </a:xfrm>
            </p:grpSpPr>
            <p:cxnSp>
              <p:nvCxnSpPr>
                <p:cNvPr id="94" name="Straight Connector 93"/>
                <p:cNvCxnSpPr>
                  <a:stCxn id="98" idx="1"/>
                  <a:endCxn id="84" idx="2"/>
                </p:cNvCxnSpPr>
                <p:nvPr/>
              </p:nvCxnSpPr>
              <p:spPr>
                <a:xfrm flipH="1" flipV="1">
                  <a:off x="2306433" y="1915500"/>
                  <a:ext cx="937852" cy="226422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5" name="Group 94"/>
                <p:cNvGrpSpPr/>
                <p:nvPr/>
              </p:nvGrpSpPr>
              <p:grpSpPr>
                <a:xfrm>
                  <a:off x="2651832" y="2093275"/>
                  <a:ext cx="1424966" cy="1299721"/>
                  <a:chOff x="3249343" y="4297707"/>
                  <a:chExt cx="1424966" cy="1299721"/>
                </a:xfrm>
              </p:grpSpPr>
              <p:grpSp>
                <p:nvGrpSpPr>
                  <p:cNvPr id="97" name="Group 96"/>
                  <p:cNvGrpSpPr/>
                  <p:nvPr/>
                </p:nvGrpSpPr>
                <p:grpSpPr>
                  <a:xfrm>
                    <a:off x="3249343" y="4463798"/>
                    <a:ext cx="1424966" cy="1133630"/>
                    <a:chOff x="3361428" y="4626084"/>
                    <a:chExt cx="1692188" cy="1133630"/>
                  </a:xfrm>
                </p:grpSpPr>
                <p:sp>
                  <p:nvSpPr>
                    <p:cNvPr id="99" name="Isosceles Triangle 98"/>
                    <p:cNvSpPr/>
                    <p:nvPr/>
                  </p:nvSpPr>
                  <p:spPr>
                    <a:xfrm>
                      <a:off x="3361428" y="4626084"/>
                      <a:ext cx="1692188" cy="1080198"/>
                    </a:xfrm>
                    <a:prstGeom prst="triangl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0" name="TextBox 99"/>
                        <p:cNvSpPr txBox="1"/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00" name="TextBox 99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98" name="Oval 97"/>
                  <p:cNvSpPr/>
                  <p:nvPr/>
                </p:nvSpPr>
                <p:spPr>
                  <a:xfrm>
                    <a:off x="3794342" y="4297707"/>
                    <a:ext cx="324036" cy="332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/>
                    <p:cNvSpPr txBox="1"/>
                    <p:nvPr/>
                  </p:nvSpPr>
                  <p:spPr>
                    <a:xfrm>
                      <a:off x="3152815" y="2447432"/>
                      <a:ext cx="42299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96" name="TextBox 9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2815" y="2447432"/>
                      <a:ext cx="422999" cy="52322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10310204" y="1970363"/>
                    <a:ext cx="42299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93" name="TextBox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10204" y="1970363"/>
                    <a:ext cx="422999" cy="52322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8" name="Group 117"/>
              <p:cNvGrpSpPr/>
              <p:nvPr/>
            </p:nvGrpSpPr>
            <p:grpSpPr>
              <a:xfrm flipH="1">
                <a:off x="7585229" y="2869664"/>
                <a:ext cx="1424966" cy="1432296"/>
                <a:chOff x="2651832" y="1960700"/>
                <a:chExt cx="1424966" cy="1432296"/>
              </a:xfrm>
            </p:grpSpPr>
            <p:cxnSp>
              <p:nvCxnSpPr>
                <p:cNvPr id="119" name="Straight Connector 118"/>
                <p:cNvCxnSpPr>
                  <a:stCxn id="123" idx="1"/>
                  <a:endCxn id="165" idx="2"/>
                </p:cNvCxnSpPr>
                <p:nvPr/>
              </p:nvCxnSpPr>
              <p:spPr>
                <a:xfrm flipH="1" flipV="1">
                  <a:off x="2740009" y="1960700"/>
                  <a:ext cx="504276" cy="181222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0" name="Group 119"/>
                <p:cNvGrpSpPr/>
                <p:nvPr/>
              </p:nvGrpSpPr>
              <p:grpSpPr>
                <a:xfrm>
                  <a:off x="2651832" y="2093275"/>
                  <a:ext cx="1424966" cy="1299721"/>
                  <a:chOff x="3249343" y="4297707"/>
                  <a:chExt cx="1424966" cy="1299721"/>
                </a:xfrm>
              </p:grpSpPr>
              <p:grpSp>
                <p:nvGrpSpPr>
                  <p:cNvPr id="122" name="Group 121"/>
                  <p:cNvGrpSpPr/>
                  <p:nvPr/>
                </p:nvGrpSpPr>
                <p:grpSpPr>
                  <a:xfrm>
                    <a:off x="3249343" y="4463798"/>
                    <a:ext cx="1424966" cy="1133630"/>
                    <a:chOff x="3361428" y="4626084"/>
                    <a:chExt cx="1692188" cy="1133630"/>
                  </a:xfrm>
                </p:grpSpPr>
                <p:sp>
                  <p:nvSpPr>
                    <p:cNvPr id="124" name="Isosceles Triangle 123"/>
                    <p:cNvSpPr/>
                    <p:nvPr/>
                  </p:nvSpPr>
                  <p:spPr>
                    <a:xfrm>
                      <a:off x="3361428" y="4626084"/>
                      <a:ext cx="1692188" cy="1080198"/>
                    </a:xfrm>
                    <a:prstGeom prst="triangl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25" name="TextBox 124"/>
                        <p:cNvSpPr txBox="1"/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25" name="TextBox 124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blipFill>
                          <a:blip r:embed="rId1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23" name="Oval 122"/>
                  <p:cNvSpPr/>
                  <p:nvPr/>
                </p:nvSpPr>
                <p:spPr>
                  <a:xfrm>
                    <a:off x="3794342" y="4297707"/>
                    <a:ext cx="324036" cy="332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TextBox 120"/>
                    <p:cNvSpPr txBox="1"/>
                    <p:nvPr/>
                  </p:nvSpPr>
                  <p:spPr>
                    <a:xfrm>
                      <a:off x="3152815" y="2447432"/>
                      <a:ext cx="42299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121" name="TextBox 1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2815" y="2447432"/>
                      <a:ext cx="422999" cy="523220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6" name="Group 125"/>
              <p:cNvGrpSpPr/>
              <p:nvPr/>
            </p:nvGrpSpPr>
            <p:grpSpPr>
              <a:xfrm>
                <a:off x="9262170" y="2869664"/>
                <a:ext cx="1424966" cy="1432296"/>
                <a:chOff x="2647521" y="1960700"/>
                <a:chExt cx="1424966" cy="1432296"/>
              </a:xfrm>
            </p:grpSpPr>
            <p:cxnSp>
              <p:nvCxnSpPr>
                <p:cNvPr id="127" name="Straight Connector 126"/>
                <p:cNvCxnSpPr>
                  <a:stCxn id="161" idx="1"/>
                  <a:endCxn id="165" idx="6"/>
                </p:cNvCxnSpPr>
                <p:nvPr/>
              </p:nvCxnSpPr>
              <p:spPr>
                <a:xfrm flipH="1" flipV="1">
                  <a:off x="2739417" y="1960700"/>
                  <a:ext cx="504868" cy="181222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8" name="Group 127"/>
                <p:cNvGrpSpPr/>
                <p:nvPr/>
              </p:nvGrpSpPr>
              <p:grpSpPr>
                <a:xfrm>
                  <a:off x="2647521" y="2093275"/>
                  <a:ext cx="1424966" cy="1299721"/>
                  <a:chOff x="3245032" y="4297707"/>
                  <a:chExt cx="1424966" cy="1299721"/>
                </a:xfrm>
              </p:grpSpPr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3245032" y="4463798"/>
                    <a:ext cx="1424966" cy="1133630"/>
                    <a:chOff x="3356309" y="4626084"/>
                    <a:chExt cx="1692188" cy="1133630"/>
                  </a:xfrm>
                </p:grpSpPr>
                <p:sp>
                  <p:nvSpPr>
                    <p:cNvPr id="162" name="Isosceles Triangle 161"/>
                    <p:cNvSpPr/>
                    <p:nvPr/>
                  </p:nvSpPr>
                  <p:spPr>
                    <a:xfrm>
                      <a:off x="3356309" y="4626084"/>
                      <a:ext cx="1692188" cy="1080198"/>
                    </a:xfrm>
                    <a:prstGeom prst="triangl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63" name="TextBox 162"/>
                        <p:cNvSpPr txBox="1"/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p:txBody>
                    </p:sp>
                  </mc:Choice>
                  <mc:Fallback xmlns="">
                    <p:sp>
                      <p:nvSpPr>
                        <p:cNvPr id="163" name="TextBox 162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56360" y="5236494"/>
                          <a:ext cx="502323" cy="523220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61" name="Oval 160"/>
                  <p:cNvSpPr/>
                  <p:nvPr/>
                </p:nvSpPr>
                <p:spPr>
                  <a:xfrm>
                    <a:off x="3794342" y="4297707"/>
                    <a:ext cx="324036" cy="332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/>
                    <p:cNvSpPr txBox="1"/>
                    <p:nvPr/>
                  </p:nvSpPr>
                  <p:spPr>
                    <a:xfrm>
                      <a:off x="3081751" y="2447432"/>
                      <a:ext cx="42299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129" name="TextBox 1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1751" y="2447432"/>
                      <a:ext cx="422999" cy="523220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r="-43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TextBox 163"/>
                  <p:cNvSpPr txBox="1"/>
                  <p:nvPr/>
                </p:nvSpPr>
                <p:spPr>
                  <a:xfrm>
                    <a:off x="8013852" y="1636650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64" name="TextBox 1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3852" y="1636650"/>
                    <a:ext cx="502324" cy="52322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5" name="Oval 164"/>
              <p:cNvSpPr/>
              <p:nvPr/>
            </p:nvSpPr>
            <p:spPr>
              <a:xfrm>
                <a:off x="8922018" y="2654043"/>
                <a:ext cx="432048" cy="431242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983113" y="1354019"/>
              <a:ext cx="2017079" cy="2560907"/>
              <a:chOff x="7983113" y="775170"/>
              <a:chExt cx="2017079" cy="2560907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7983113" y="775170"/>
                <a:ext cx="2017079" cy="1894071"/>
                <a:chOff x="7983113" y="775170"/>
                <a:chExt cx="2017079" cy="1894071"/>
              </a:xfrm>
            </p:grpSpPr>
            <p:sp>
              <p:nvSpPr>
                <p:cNvPr id="169" name="Arc 168"/>
                <p:cNvSpPr/>
                <p:nvPr/>
              </p:nvSpPr>
              <p:spPr>
                <a:xfrm rot="17128798">
                  <a:off x="8258150" y="927199"/>
                  <a:ext cx="1745054" cy="1739030"/>
                </a:xfrm>
                <a:prstGeom prst="arc">
                  <a:avLst/>
                </a:prstGeom>
                <a:ln w="38100">
                  <a:solidFill>
                    <a:schemeClr val="tx1"/>
                  </a:solidFill>
                  <a:prstDash val="sysDot"/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7983113" y="775170"/>
                  <a:ext cx="64328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2</a:t>
                  </a:r>
                  <a:r>
                    <a:rPr lang="en-US" sz="2800" baseline="30000" dirty="0"/>
                    <a:t>nd</a:t>
                  </a:r>
                  <a:endParaRPr lang="en-US" sz="2800" dirty="0"/>
                </a:p>
              </p:txBody>
            </p:sp>
          </p:grpSp>
          <p:grpSp>
            <p:nvGrpSpPr>
              <p:cNvPr id="35" name="Group 34"/>
              <p:cNvGrpSpPr/>
              <p:nvPr/>
            </p:nvGrpSpPr>
            <p:grpSpPr>
              <a:xfrm>
                <a:off x="8046036" y="1732748"/>
                <a:ext cx="1602365" cy="1603329"/>
                <a:chOff x="8046036" y="1732748"/>
                <a:chExt cx="1602365" cy="1603329"/>
              </a:xfrm>
            </p:grpSpPr>
            <p:sp>
              <p:nvSpPr>
                <p:cNvPr id="32" name="Arc 31"/>
                <p:cNvSpPr/>
                <p:nvPr/>
              </p:nvSpPr>
              <p:spPr>
                <a:xfrm rot="21289229">
                  <a:off x="8046036" y="1889556"/>
                  <a:ext cx="1194646" cy="1446521"/>
                </a:xfrm>
                <a:prstGeom prst="arc">
                  <a:avLst/>
                </a:prstGeom>
                <a:ln w="38100">
                  <a:solidFill>
                    <a:schemeClr val="tx1"/>
                  </a:solidFill>
                  <a:prstDash val="sysDot"/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TextBox 170"/>
                <p:cNvSpPr txBox="1"/>
                <p:nvPr/>
              </p:nvSpPr>
              <p:spPr>
                <a:xfrm>
                  <a:off x="9031611" y="1732748"/>
                  <a:ext cx="6167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1</a:t>
                  </a:r>
                  <a:r>
                    <a:rPr lang="en-US" sz="2800" baseline="30000" dirty="0"/>
                    <a:t>st</a:t>
                  </a:r>
                  <a:endParaRPr lang="en-US" sz="2800" dirty="0"/>
                </a:p>
              </p:txBody>
            </p:sp>
          </p:grpSp>
        </p:grpSp>
        <p:grpSp>
          <p:nvGrpSpPr>
            <p:cNvPr id="102" name="Group 101"/>
            <p:cNvGrpSpPr/>
            <p:nvPr/>
          </p:nvGrpSpPr>
          <p:grpSpPr>
            <a:xfrm flipH="1">
              <a:off x="8392197" y="4480065"/>
              <a:ext cx="502324" cy="531895"/>
              <a:chOff x="1914294" y="5655192"/>
              <a:chExt cx="502324" cy="531895"/>
            </a:xfrm>
          </p:grpSpPr>
          <p:sp>
            <p:nvSpPr>
              <p:cNvPr id="103" name="Oval 102"/>
              <p:cNvSpPr/>
              <p:nvPr/>
            </p:nvSpPr>
            <p:spPr>
              <a:xfrm>
                <a:off x="1949432" y="5755845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1914294" y="5655192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4294" y="5655192"/>
                    <a:ext cx="502324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5" name="Group 104"/>
            <p:cNvGrpSpPr/>
            <p:nvPr/>
          </p:nvGrpSpPr>
          <p:grpSpPr>
            <a:xfrm flipH="1">
              <a:off x="10095441" y="4490299"/>
              <a:ext cx="502324" cy="531895"/>
              <a:chOff x="1914294" y="5655192"/>
              <a:chExt cx="502324" cy="531895"/>
            </a:xfrm>
          </p:grpSpPr>
          <p:sp>
            <p:nvSpPr>
              <p:cNvPr id="106" name="Oval 105"/>
              <p:cNvSpPr/>
              <p:nvPr/>
            </p:nvSpPr>
            <p:spPr>
              <a:xfrm>
                <a:off x="1949432" y="5755845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1914294" y="5655192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4294" y="5655192"/>
                    <a:ext cx="502324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8" name="Rectangular Callout 107"/>
          <p:cNvSpPr/>
          <p:nvPr/>
        </p:nvSpPr>
        <p:spPr>
          <a:xfrm>
            <a:off x="722629" y="1360836"/>
            <a:ext cx="2689815" cy="468049"/>
          </a:xfrm>
          <a:prstGeom prst="wedgeRectCallout">
            <a:avLst>
              <a:gd name="adj1" fmla="val 62180"/>
              <a:gd name="adj2" fmla="val -12591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722629" y="1315263"/>
            <a:ext cx="2699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Balance violation</a:t>
            </a:r>
          </a:p>
        </p:txBody>
      </p:sp>
    </p:spTree>
    <p:extLst>
      <p:ext uri="{BB962C8B-B14F-4D97-AF65-F5344CB8AC3E}">
        <p14:creationId xmlns:p14="http://schemas.microsoft.com/office/powerpoint/2010/main" val="244627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Search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/>
              <p:cNvSpPr txBox="1"/>
              <p:nvPr/>
            </p:nvSpPr>
            <p:spPr>
              <a:xfrm>
                <a:off x="6649662" y="1145707"/>
                <a:ext cx="3046738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sz="2800" dirty="0"/>
                  <a:t> key ordering preserved.</a:t>
                </a:r>
              </a:p>
            </p:txBody>
          </p:sp>
        </mc:Choice>
        <mc:Fallback xmlns="">
          <p:sp>
            <p:nvSpPr>
              <p:cNvPr id="197" name="TextBox 1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662" y="1145707"/>
                <a:ext cx="3046738" cy="1126462"/>
              </a:xfrm>
              <a:prstGeom prst="rect">
                <a:avLst/>
              </a:prstGeom>
              <a:blipFill>
                <a:blip r:embed="rId25"/>
                <a:stretch>
                  <a:fillRect l="-4200" t="-1081" r="-4000" b="-1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/>
          <p:cNvSpPr txBox="1"/>
          <p:nvPr/>
        </p:nvSpPr>
        <p:spPr>
          <a:xfrm>
            <a:off x="965430" y="152636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en-US" sz="2800" dirty="0"/>
              <a:t>Balance restored by two rotations: 1</a:t>
            </a:r>
            <a:r>
              <a:rPr lang="en-US" sz="2800" baseline="30000" dirty="0"/>
              <a:t>st</a:t>
            </a:r>
            <a:r>
              <a:rPr lang="en-US" sz="2800" dirty="0"/>
              <a:t> left, 2</a:t>
            </a:r>
            <a:r>
              <a:rPr lang="en-US" sz="2800" baseline="30000" dirty="0"/>
              <a:t>nd</a:t>
            </a:r>
            <a:r>
              <a:rPr lang="en-US" sz="2800" dirty="0"/>
              <a:t> right.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A55D9B-8B14-04C4-2D7B-A83D5710CCC6}"/>
              </a:ext>
            </a:extLst>
          </p:cNvPr>
          <p:cNvGrpSpPr/>
          <p:nvPr/>
        </p:nvGrpSpPr>
        <p:grpSpPr>
          <a:xfrm>
            <a:off x="932116" y="822387"/>
            <a:ext cx="5451916" cy="3690762"/>
            <a:chOff x="932116" y="822387"/>
            <a:chExt cx="5451916" cy="3690762"/>
          </a:xfrm>
        </p:grpSpPr>
        <p:grpSp>
          <p:nvGrpSpPr>
            <p:cNvPr id="47" name="Group 46"/>
            <p:cNvGrpSpPr/>
            <p:nvPr/>
          </p:nvGrpSpPr>
          <p:grpSpPr>
            <a:xfrm>
              <a:off x="932116" y="822387"/>
              <a:ext cx="5451916" cy="3510481"/>
              <a:chOff x="932116" y="822387"/>
              <a:chExt cx="5451916" cy="3510481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965430" y="822387"/>
                <a:ext cx="5418602" cy="3510481"/>
                <a:chOff x="5807968" y="791479"/>
                <a:chExt cx="5418602" cy="351048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/>
                    <p:cNvSpPr txBox="1"/>
                    <p:nvPr/>
                  </p:nvSpPr>
                  <p:spPr>
                    <a:xfrm>
                      <a:off x="8041426" y="1597331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82" name="TextBox 8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41426" y="1597331"/>
                      <a:ext cx="502324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83" name="Group 82"/>
                <p:cNvGrpSpPr/>
                <p:nvPr/>
              </p:nvGrpSpPr>
              <p:grpSpPr>
                <a:xfrm>
                  <a:off x="8415161" y="1195571"/>
                  <a:ext cx="2811409" cy="1720144"/>
                  <a:chOff x="1873625" y="4031363"/>
                  <a:chExt cx="2811409" cy="1720144"/>
                </a:xfrm>
              </p:grpSpPr>
              <p:cxnSp>
                <p:nvCxnSpPr>
                  <p:cNvPr id="111" name="Straight Connector 110"/>
                  <p:cNvCxnSpPr>
                    <a:stCxn id="84" idx="7"/>
                    <a:endCxn id="109" idx="3"/>
                  </p:cNvCxnSpPr>
                  <p:nvPr/>
                </p:nvCxnSpPr>
                <p:spPr>
                  <a:xfrm flipV="1">
                    <a:off x="1873625" y="4031363"/>
                    <a:ext cx="1151438" cy="580058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/>
                  <p:cNvCxnSpPr>
                    <a:stCxn id="115" idx="1"/>
                    <a:endCxn id="109" idx="5"/>
                  </p:cNvCxnSpPr>
                  <p:nvPr/>
                </p:nvCxnSpPr>
                <p:spPr>
                  <a:xfrm flipH="1" flipV="1">
                    <a:off x="3330567" y="4031363"/>
                    <a:ext cx="521954" cy="467391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3" name="Group 112"/>
                  <p:cNvGrpSpPr/>
                  <p:nvPr/>
                </p:nvGrpSpPr>
                <p:grpSpPr>
                  <a:xfrm>
                    <a:off x="3260068" y="4450107"/>
                    <a:ext cx="1424966" cy="1301400"/>
                    <a:chOff x="3249343" y="4297707"/>
                    <a:chExt cx="1424966" cy="1301400"/>
                  </a:xfrm>
                </p:grpSpPr>
                <p:grpSp>
                  <p:nvGrpSpPr>
                    <p:cNvPr id="114" name="Group 113"/>
                    <p:cNvGrpSpPr/>
                    <p:nvPr/>
                  </p:nvGrpSpPr>
                  <p:grpSpPr>
                    <a:xfrm>
                      <a:off x="3249343" y="4463798"/>
                      <a:ext cx="1424966" cy="1135309"/>
                      <a:chOff x="3361428" y="4626084"/>
                      <a:chExt cx="1692188" cy="1135309"/>
                    </a:xfrm>
                  </p:grpSpPr>
                  <p:sp>
                    <p:nvSpPr>
                      <p:cNvPr id="116" name="Isosceles Triangle 115"/>
                      <p:cNvSpPr/>
                      <p:nvPr/>
                    </p:nvSpPr>
                    <p:spPr>
                      <a:xfrm>
                        <a:off x="3361428" y="4626084"/>
                        <a:ext cx="1692188" cy="1080198"/>
                      </a:xfrm>
                      <a:prstGeom prst="triangl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17" name="TextBox 116"/>
                          <p:cNvSpPr txBox="1"/>
                          <p:nvPr/>
                        </p:nvSpPr>
                        <p:spPr>
                          <a:xfrm>
                            <a:off x="3956360" y="5238173"/>
                            <a:ext cx="502323" cy="5232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oMath>
                              </m:oMathPara>
                            </a14:m>
                            <a:endParaRPr lang="en-US" sz="28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17" name="TextBox 116"/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56360" y="5238173"/>
                            <a:ext cx="502323" cy="523220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115" name="Oval 114"/>
                    <p:cNvSpPr/>
                    <p:nvPr/>
                  </p:nvSpPr>
                  <p:spPr>
                    <a:xfrm>
                      <a:off x="3794342" y="4297707"/>
                      <a:ext cx="324036" cy="33218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sp>
              <p:nvSpPr>
                <p:cNvPr id="84" name="Oval 83"/>
                <p:cNvSpPr/>
                <p:nvPr/>
              </p:nvSpPr>
              <p:spPr>
                <a:xfrm>
                  <a:off x="8046385" y="1712475"/>
                  <a:ext cx="432048" cy="43124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5" name="Group 84"/>
                <p:cNvGrpSpPr/>
                <p:nvPr/>
              </p:nvGrpSpPr>
              <p:grpSpPr>
                <a:xfrm>
                  <a:off x="9466107" y="791479"/>
                  <a:ext cx="502324" cy="523220"/>
                  <a:chOff x="1569308" y="5460970"/>
                  <a:chExt cx="502324" cy="523220"/>
                </a:xfrm>
                <a:noFill/>
              </p:grpSpPr>
              <p:sp>
                <p:nvSpPr>
                  <p:cNvPr id="109" name="Oval 108"/>
                  <p:cNvSpPr/>
                  <p:nvPr/>
                </p:nvSpPr>
                <p:spPr>
                  <a:xfrm>
                    <a:off x="1606528" y="5496974"/>
                    <a:ext cx="432048" cy="431242"/>
                  </a:xfrm>
                  <a:prstGeom prst="ellipse">
                    <a:avLst/>
                  </a:prstGeom>
                  <a:grp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0" name="TextBox 109"/>
                      <p:cNvSpPr txBox="1"/>
                      <p:nvPr/>
                    </p:nvSpPr>
                    <p:spPr>
                      <a:xfrm>
                        <a:off x="1569308" y="5460970"/>
                        <a:ext cx="502324" cy="523220"/>
                      </a:xfrm>
                      <a:prstGeom prst="rect">
                        <a:avLst/>
                      </a:prstGeom>
                      <a:grp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ν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10" name="TextBox 10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69308" y="5460970"/>
                        <a:ext cx="502324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/>
                    <p:cNvSpPr txBox="1"/>
                    <p:nvPr/>
                  </p:nvSpPr>
                  <p:spPr>
                    <a:xfrm>
                      <a:off x="10310204" y="1970363"/>
                      <a:ext cx="42299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oMath>
                        </m:oMathPara>
                      </a14:m>
                      <a:endParaRPr lang="en-US" sz="2800" b="1" dirty="0"/>
                    </a:p>
                  </p:txBody>
                </p:sp>
              </mc:Choice>
              <mc:Fallback xmlns="">
                <p:sp>
                  <p:nvSpPr>
                    <p:cNvPr id="93" name="TextBox 9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10204" y="1970363"/>
                      <a:ext cx="422999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1" name="Straight Connector 100"/>
                <p:cNvCxnSpPr>
                  <a:stCxn id="165" idx="1"/>
                  <a:endCxn id="84" idx="3"/>
                </p:cNvCxnSpPr>
                <p:nvPr/>
              </p:nvCxnSpPr>
              <p:spPr>
                <a:xfrm flipV="1">
                  <a:off x="7509814" y="2080563"/>
                  <a:ext cx="599843" cy="636634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2" name="Group 91"/>
                <p:cNvGrpSpPr/>
                <p:nvPr/>
              </p:nvGrpSpPr>
              <p:grpSpPr>
                <a:xfrm>
                  <a:off x="8478433" y="1928097"/>
                  <a:ext cx="1544056" cy="1464186"/>
                  <a:chOff x="2590945" y="1823477"/>
                  <a:chExt cx="1485853" cy="1569519"/>
                </a:xfrm>
              </p:grpSpPr>
              <p:cxnSp>
                <p:nvCxnSpPr>
                  <p:cNvPr id="94" name="Straight Connector 93"/>
                  <p:cNvCxnSpPr>
                    <a:stCxn id="98" idx="1"/>
                    <a:endCxn id="84" idx="6"/>
                  </p:cNvCxnSpPr>
                  <p:nvPr/>
                </p:nvCxnSpPr>
                <p:spPr>
                  <a:xfrm flipH="1" flipV="1">
                    <a:off x="2590945" y="1823477"/>
                    <a:ext cx="653341" cy="296971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5" name="Group 94"/>
                  <p:cNvGrpSpPr/>
                  <p:nvPr/>
                </p:nvGrpSpPr>
                <p:grpSpPr>
                  <a:xfrm>
                    <a:off x="2651832" y="2068117"/>
                    <a:ext cx="1424966" cy="1324879"/>
                    <a:chOff x="3249343" y="4272549"/>
                    <a:chExt cx="1424966" cy="1324879"/>
                  </a:xfrm>
                </p:grpSpPr>
                <p:grpSp>
                  <p:nvGrpSpPr>
                    <p:cNvPr id="97" name="Group 96"/>
                    <p:cNvGrpSpPr/>
                    <p:nvPr/>
                  </p:nvGrpSpPr>
                  <p:grpSpPr>
                    <a:xfrm>
                      <a:off x="3249343" y="4463798"/>
                      <a:ext cx="1424966" cy="1133630"/>
                      <a:chOff x="3361428" y="4626084"/>
                      <a:chExt cx="1692188" cy="1133630"/>
                    </a:xfrm>
                  </p:grpSpPr>
                  <p:sp>
                    <p:nvSpPr>
                      <p:cNvPr id="99" name="Isosceles Triangle 98"/>
                      <p:cNvSpPr/>
                      <p:nvPr/>
                    </p:nvSpPr>
                    <p:spPr>
                      <a:xfrm>
                        <a:off x="3361428" y="4626084"/>
                        <a:ext cx="1692188" cy="1080198"/>
                      </a:xfrm>
                      <a:prstGeom prst="triangl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00" name="TextBox 99"/>
                          <p:cNvSpPr txBox="1"/>
                          <p:nvPr/>
                        </p:nvSpPr>
                        <p:spPr>
                          <a:xfrm>
                            <a:off x="3956360" y="5236494"/>
                            <a:ext cx="502323" cy="5232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oMath>
                              </m:oMathPara>
                            </a14:m>
                            <a:endParaRPr lang="en-US" sz="28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00" name="TextBox 99"/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56360" y="5236494"/>
                            <a:ext cx="502323" cy="523220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94343" y="4272549"/>
                      <a:ext cx="324036" cy="35734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TextBox 95"/>
                      <p:cNvSpPr txBox="1"/>
                      <p:nvPr/>
                    </p:nvSpPr>
                    <p:spPr>
                      <a:xfrm>
                        <a:off x="3104711" y="2447432"/>
                        <a:ext cx="42299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oMath>
                          </m:oMathPara>
                        </a14:m>
                        <a:endParaRPr lang="en-US" sz="2800" b="1" dirty="0"/>
                      </a:p>
                    </p:txBody>
                  </p:sp>
                </mc:Choice>
                <mc:Fallback xmlns="">
                  <p:sp>
                    <p:nvSpPr>
                      <p:cNvPr id="96" name="TextBox 9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04711" y="2447432"/>
                        <a:ext cx="422999" cy="52322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18" name="Group 117"/>
                <p:cNvGrpSpPr/>
                <p:nvPr/>
              </p:nvGrpSpPr>
              <p:grpSpPr>
                <a:xfrm>
                  <a:off x="7484909" y="2869664"/>
                  <a:ext cx="1424966" cy="1432296"/>
                  <a:chOff x="2651832" y="1960700"/>
                  <a:chExt cx="1424966" cy="1432296"/>
                </a:xfrm>
              </p:grpSpPr>
              <p:cxnSp>
                <p:nvCxnSpPr>
                  <p:cNvPr id="119" name="Straight Connector 118"/>
                  <p:cNvCxnSpPr>
                    <a:stCxn id="123" idx="1"/>
                    <a:endCxn id="165" idx="2"/>
                  </p:cNvCxnSpPr>
                  <p:nvPr/>
                </p:nvCxnSpPr>
                <p:spPr>
                  <a:xfrm flipH="1" flipV="1">
                    <a:off x="2740009" y="1960700"/>
                    <a:ext cx="504276" cy="181222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0" name="Group 119"/>
                  <p:cNvGrpSpPr/>
                  <p:nvPr/>
                </p:nvGrpSpPr>
                <p:grpSpPr>
                  <a:xfrm>
                    <a:off x="2651832" y="2093275"/>
                    <a:ext cx="1424966" cy="1299721"/>
                    <a:chOff x="3249343" y="4297707"/>
                    <a:chExt cx="1424966" cy="1299721"/>
                  </a:xfrm>
                </p:grpSpPr>
                <p:grpSp>
                  <p:nvGrpSpPr>
                    <p:cNvPr id="122" name="Group 121"/>
                    <p:cNvGrpSpPr/>
                    <p:nvPr/>
                  </p:nvGrpSpPr>
                  <p:grpSpPr>
                    <a:xfrm>
                      <a:off x="3249343" y="4463798"/>
                      <a:ext cx="1424966" cy="1133630"/>
                      <a:chOff x="3361428" y="4626084"/>
                      <a:chExt cx="1692188" cy="1133630"/>
                    </a:xfrm>
                  </p:grpSpPr>
                  <p:sp>
                    <p:nvSpPr>
                      <p:cNvPr id="124" name="Isosceles Triangle 123"/>
                      <p:cNvSpPr/>
                      <p:nvPr/>
                    </p:nvSpPr>
                    <p:spPr>
                      <a:xfrm>
                        <a:off x="3361428" y="4626084"/>
                        <a:ext cx="1692188" cy="1080198"/>
                      </a:xfrm>
                      <a:prstGeom prst="triangl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25" name="TextBox 124"/>
                          <p:cNvSpPr txBox="1"/>
                          <p:nvPr/>
                        </p:nvSpPr>
                        <p:spPr>
                          <a:xfrm>
                            <a:off x="3956360" y="5236494"/>
                            <a:ext cx="502323" cy="5232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oMath>
                              </m:oMathPara>
                            </a14:m>
                            <a:endParaRPr lang="en-US" sz="28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25" name="TextBox 124"/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56360" y="5236494"/>
                            <a:ext cx="502323" cy="523220"/>
                          </a:xfrm>
                          <a:prstGeom prst="rect">
                            <a:avLst/>
                          </a:prstGeom>
                          <a:blipFill>
                            <a:blip r:embed="rId9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123" name="Oval 122"/>
                    <p:cNvSpPr/>
                    <p:nvPr/>
                  </p:nvSpPr>
                  <p:spPr>
                    <a:xfrm>
                      <a:off x="3794342" y="4297707"/>
                      <a:ext cx="324036" cy="33218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1" name="TextBox 120"/>
                      <p:cNvSpPr txBox="1"/>
                      <p:nvPr/>
                    </p:nvSpPr>
                    <p:spPr>
                      <a:xfrm>
                        <a:off x="3152815" y="2447432"/>
                        <a:ext cx="42299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oMath>
                          </m:oMathPara>
                        </a14:m>
                        <a:endParaRPr lang="en-US" sz="2800" b="1" dirty="0"/>
                      </a:p>
                    </p:txBody>
                  </p:sp>
                </mc:Choice>
                <mc:Fallback xmlns="">
                  <p:sp>
                    <p:nvSpPr>
                      <p:cNvPr id="121" name="TextBox 12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52815" y="2447432"/>
                        <a:ext cx="422999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26" name="Group 125"/>
                <p:cNvGrpSpPr/>
                <p:nvPr/>
              </p:nvGrpSpPr>
              <p:grpSpPr>
                <a:xfrm flipH="1">
                  <a:off x="5807968" y="2869664"/>
                  <a:ext cx="1424966" cy="1432296"/>
                  <a:chOff x="2647521" y="1960700"/>
                  <a:chExt cx="1424966" cy="1432296"/>
                </a:xfrm>
              </p:grpSpPr>
              <p:cxnSp>
                <p:nvCxnSpPr>
                  <p:cNvPr id="127" name="Straight Connector 126"/>
                  <p:cNvCxnSpPr>
                    <a:stCxn id="161" idx="1"/>
                    <a:endCxn id="165" idx="6"/>
                  </p:cNvCxnSpPr>
                  <p:nvPr/>
                </p:nvCxnSpPr>
                <p:spPr>
                  <a:xfrm flipH="1" flipV="1">
                    <a:off x="2739417" y="1960700"/>
                    <a:ext cx="504868" cy="181222"/>
                  </a:xfrm>
                  <a:prstGeom prst="line">
                    <a:avLst/>
                  </a:prstGeom>
                  <a:ln w="2857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647521" y="2093275"/>
                    <a:ext cx="1424966" cy="1299721"/>
                    <a:chOff x="3245032" y="4297707"/>
                    <a:chExt cx="1424966" cy="1299721"/>
                  </a:xfrm>
                </p:grpSpPr>
                <p:grpSp>
                  <p:nvGrpSpPr>
                    <p:cNvPr id="141" name="Group 140"/>
                    <p:cNvGrpSpPr/>
                    <p:nvPr/>
                  </p:nvGrpSpPr>
                  <p:grpSpPr>
                    <a:xfrm>
                      <a:off x="3245032" y="4463798"/>
                      <a:ext cx="1424966" cy="1133630"/>
                      <a:chOff x="3356309" y="4626084"/>
                      <a:chExt cx="1692188" cy="1133630"/>
                    </a:xfrm>
                  </p:grpSpPr>
                  <p:sp>
                    <p:nvSpPr>
                      <p:cNvPr id="162" name="Isosceles Triangle 161"/>
                      <p:cNvSpPr/>
                      <p:nvPr/>
                    </p:nvSpPr>
                    <p:spPr>
                      <a:xfrm>
                        <a:off x="3356309" y="4626084"/>
                        <a:ext cx="1692188" cy="1080198"/>
                      </a:xfrm>
                      <a:prstGeom prst="triangl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63" name="TextBox 162"/>
                          <p:cNvSpPr txBox="1"/>
                          <p:nvPr/>
                        </p:nvSpPr>
                        <p:spPr>
                          <a:xfrm>
                            <a:off x="3956360" y="5236494"/>
                            <a:ext cx="502323" cy="5232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oMath>
                              </m:oMathPara>
                            </a14:m>
                            <a:endParaRPr lang="en-US" sz="28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63" name="TextBox 162"/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56360" y="5236494"/>
                            <a:ext cx="502323" cy="523220"/>
                          </a:xfrm>
                          <a:prstGeom prst="rect">
                            <a:avLst/>
                          </a:prstGeom>
                          <a:blipFill>
                            <a:blip r:embed="rId1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161" name="Oval 160"/>
                    <p:cNvSpPr/>
                    <p:nvPr/>
                  </p:nvSpPr>
                  <p:spPr>
                    <a:xfrm>
                      <a:off x="3794342" y="4297707"/>
                      <a:ext cx="324036" cy="33218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9" name="TextBox 128"/>
                      <p:cNvSpPr txBox="1"/>
                      <p:nvPr/>
                    </p:nvSpPr>
                    <p:spPr>
                      <a:xfrm>
                        <a:off x="3155918" y="2443196"/>
                        <a:ext cx="42299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m:oMathPara>
                        </a14:m>
                        <a:endParaRPr lang="en-US" sz="2800" b="1" dirty="0"/>
                      </a:p>
                    </p:txBody>
                  </p:sp>
                </mc:Choice>
                <mc:Fallback xmlns="">
                  <p:sp>
                    <p:nvSpPr>
                      <p:cNvPr id="129" name="TextBox 1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55918" y="2443196"/>
                        <a:ext cx="422999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TextBox 163"/>
                    <p:cNvSpPr txBox="1"/>
                    <p:nvPr/>
                  </p:nvSpPr>
                  <p:spPr>
                    <a:xfrm flipH="1">
                      <a:off x="7105900" y="2573031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64" name="TextBox 16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7105900" y="2573031"/>
                      <a:ext cx="502324" cy="52322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5" name="Oval 164"/>
                <p:cNvSpPr/>
                <p:nvPr/>
              </p:nvSpPr>
              <p:spPr>
                <a:xfrm flipH="1">
                  <a:off x="7141038" y="2654043"/>
                  <a:ext cx="432048" cy="43124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5" name="TextBox 194"/>
              <p:cNvSpPr txBox="1"/>
              <p:nvPr/>
            </p:nvSpPr>
            <p:spPr>
              <a:xfrm>
                <a:off x="932116" y="1162955"/>
                <a:ext cx="1476766" cy="109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after left rotation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004681-8244-41E4-9522-E04A4FCA6ADC}"/>
                </a:ext>
              </a:extLst>
            </p:cNvPr>
            <p:cNvGrpSpPr/>
            <p:nvPr/>
          </p:nvGrpSpPr>
          <p:grpSpPr>
            <a:xfrm>
              <a:off x="3450050" y="3989929"/>
              <a:ext cx="502324" cy="523220"/>
              <a:chOff x="2127577" y="5242628"/>
              <a:chExt cx="502324" cy="52322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DE0EDE2-F684-3A24-D82C-20923087D754}"/>
                  </a:ext>
                </a:extLst>
              </p:cNvPr>
              <p:cNvSpPr/>
              <p:nvPr/>
            </p:nvSpPr>
            <p:spPr>
              <a:xfrm flipH="1">
                <a:off x="2162715" y="5334606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4C0C925E-4C48-8F3A-89D3-8D132D3A2C4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4C0C925E-4C48-8F3A-89D3-8D132D3A2C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01D75EB-3E29-2A9D-6F92-3B4F3EFF12DE}"/>
                </a:ext>
              </a:extLst>
            </p:cNvPr>
            <p:cNvGrpSpPr/>
            <p:nvPr/>
          </p:nvGrpSpPr>
          <p:grpSpPr>
            <a:xfrm>
              <a:off x="4557732" y="3071180"/>
              <a:ext cx="502324" cy="523220"/>
              <a:chOff x="2127577" y="5242628"/>
              <a:chExt cx="502324" cy="5232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6B5E518-8EEA-8DC4-E101-41B089C55C4A}"/>
                  </a:ext>
                </a:extLst>
              </p:cNvPr>
              <p:cNvSpPr/>
              <p:nvPr/>
            </p:nvSpPr>
            <p:spPr>
              <a:xfrm flipH="1">
                <a:off x="2162715" y="5334606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65399F6-A5D9-0AA4-9AA1-5CBE94A3920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65399F6-A5D9-0AA4-9AA1-5CBE94A392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F5195C-6439-0257-2841-48F541CB2C04}"/>
              </a:ext>
            </a:extLst>
          </p:cNvPr>
          <p:cNvGrpSpPr/>
          <p:nvPr/>
        </p:nvGrpSpPr>
        <p:grpSpPr>
          <a:xfrm>
            <a:off x="4732099" y="2888940"/>
            <a:ext cx="6494471" cy="3043834"/>
            <a:chOff x="4732099" y="2888940"/>
            <a:chExt cx="6494471" cy="3043834"/>
          </a:xfrm>
        </p:grpSpPr>
        <p:grpSp>
          <p:nvGrpSpPr>
            <p:cNvPr id="48" name="Group 47"/>
            <p:cNvGrpSpPr/>
            <p:nvPr/>
          </p:nvGrpSpPr>
          <p:grpSpPr>
            <a:xfrm>
              <a:off x="4732099" y="2888940"/>
              <a:ext cx="6494471" cy="2916324"/>
              <a:chOff x="4732099" y="2738181"/>
              <a:chExt cx="6494471" cy="2916324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4732099" y="3308675"/>
                <a:ext cx="6494471" cy="2345830"/>
                <a:chOff x="5803733" y="3019274"/>
                <a:chExt cx="6494471" cy="234583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/>
                    <p:cNvSpPr txBox="1"/>
                    <p:nvPr/>
                  </p:nvSpPr>
                  <p:spPr>
                    <a:xfrm>
                      <a:off x="10504769" y="3649737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04" name="TextBox 10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04769" y="3649737"/>
                      <a:ext cx="502324" cy="52322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0" name="Straight Connector 159"/>
                <p:cNvCxnSpPr>
                  <a:stCxn id="194" idx="3"/>
                  <a:endCxn id="178" idx="7"/>
                </p:cNvCxnSpPr>
                <p:nvPr/>
              </p:nvCxnSpPr>
              <p:spPr>
                <a:xfrm>
                  <a:off x="9197263" y="3509056"/>
                  <a:ext cx="1395376" cy="271285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>
                  <a:stCxn id="135" idx="1"/>
                  <a:endCxn id="194" idx="5"/>
                </p:cNvCxnSpPr>
                <p:nvPr/>
              </p:nvCxnSpPr>
              <p:spPr>
                <a:xfrm flipV="1">
                  <a:off x="7505579" y="3509056"/>
                  <a:ext cx="1386180" cy="271285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33"/>
                    <p:cNvSpPr txBox="1"/>
                    <p:nvPr/>
                  </p:nvSpPr>
                  <p:spPr>
                    <a:xfrm flipH="1">
                      <a:off x="7101665" y="3636175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34" name="TextBox 13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7101665" y="3636175"/>
                      <a:ext cx="502324" cy="52322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7" name="Group 26"/>
                <p:cNvGrpSpPr/>
                <p:nvPr/>
              </p:nvGrpSpPr>
              <p:grpSpPr>
                <a:xfrm>
                  <a:off x="5803733" y="3717187"/>
                  <a:ext cx="3101907" cy="1647917"/>
                  <a:chOff x="5803733" y="3717187"/>
                  <a:chExt cx="3101907" cy="1647917"/>
                </a:xfrm>
              </p:grpSpPr>
              <p:grpSp>
                <p:nvGrpSpPr>
                  <p:cNvPr id="132" name="Group 131"/>
                  <p:cNvGrpSpPr/>
                  <p:nvPr/>
                </p:nvGrpSpPr>
                <p:grpSpPr>
                  <a:xfrm>
                    <a:off x="7480674" y="3932808"/>
                    <a:ext cx="1424966" cy="1432296"/>
                    <a:chOff x="2651832" y="1960700"/>
                    <a:chExt cx="1424966" cy="1432296"/>
                  </a:xfrm>
                </p:grpSpPr>
                <p:cxnSp>
                  <p:nvCxnSpPr>
                    <p:cNvPr id="144" name="Straight Connector 143"/>
                    <p:cNvCxnSpPr>
                      <a:stCxn id="148" idx="1"/>
                      <a:endCxn id="135" idx="2"/>
                    </p:cNvCxnSpPr>
                    <p:nvPr/>
                  </p:nvCxnSpPr>
                  <p:spPr>
                    <a:xfrm flipH="1" flipV="1">
                      <a:off x="2740009" y="1960700"/>
                      <a:ext cx="504276" cy="181222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45" name="Group 144"/>
                    <p:cNvGrpSpPr/>
                    <p:nvPr/>
                  </p:nvGrpSpPr>
                  <p:grpSpPr>
                    <a:xfrm>
                      <a:off x="2651832" y="2093275"/>
                      <a:ext cx="1424966" cy="1299721"/>
                      <a:chOff x="3249343" y="4297707"/>
                      <a:chExt cx="1424966" cy="1299721"/>
                    </a:xfrm>
                  </p:grpSpPr>
                  <p:grpSp>
                    <p:nvGrpSpPr>
                      <p:cNvPr id="147" name="Group 146"/>
                      <p:cNvGrpSpPr/>
                      <p:nvPr/>
                    </p:nvGrpSpPr>
                    <p:grpSpPr>
                      <a:xfrm>
                        <a:off x="3249343" y="4463798"/>
                        <a:ext cx="1424966" cy="1133630"/>
                        <a:chOff x="3361428" y="4626084"/>
                        <a:chExt cx="1692188" cy="1133630"/>
                      </a:xfrm>
                    </p:grpSpPr>
                    <p:sp>
                      <p:nvSpPr>
                        <p:cNvPr id="149" name="Isosceles Triangle 148"/>
                        <p:cNvSpPr/>
                        <p:nvPr/>
                      </p:nvSpPr>
                      <p:spPr>
                        <a:xfrm>
                          <a:off x="3361428" y="4626084"/>
                          <a:ext cx="1692188" cy="1080198"/>
                        </a:xfrm>
                        <a:prstGeom prst="triangle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28575">
                          <a:solidFill>
                            <a:srgbClr val="00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50" name="TextBox 149"/>
                            <p:cNvSpPr txBox="1"/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oMath>
                                </m:oMathPara>
                              </a14:m>
                              <a:endParaRPr lang="en-US" sz="28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50" name="TextBox 149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blipFill>
                              <a:blip r:embed="rId16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sp>
                    <p:nvSpPr>
                      <p:cNvPr id="148" name="Oval 147"/>
                      <p:cNvSpPr/>
                      <p:nvPr/>
                    </p:nvSpPr>
                    <p:spPr>
                      <a:xfrm>
                        <a:off x="3794342" y="4297707"/>
                        <a:ext cx="324036" cy="33218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6" name="TextBox 145"/>
                        <p:cNvSpPr txBox="1"/>
                        <p:nvPr/>
                      </p:nvSpPr>
                      <p:spPr>
                        <a:xfrm>
                          <a:off x="3152815" y="2447432"/>
                          <a:ext cx="422999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n-US" sz="28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146" name="TextBox 145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152815" y="2447432"/>
                          <a:ext cx="422999" cy="523220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33" name="Group 132"/>
                  <p:cNvGrpSpPr/>
                  <p:nvPr/>
                </p:nvGrpSpPr>
                <p:grpSpPr>
                  <a:xfrm flipH="1">
                    <a:off x="5803733" y="3932808"/>
                    <a:ext cx="1424966" cy="1432296"/>
                    <a:chOff x="2647521" y="1960700"/>
                    <a:chExt cx="1424966" cy="1432296"/>
                  </a:xfrm>
                </p:grpSpPr>
                <p:cxnSp>
                  <p:nvCxnSpPr>
                    <p:cNvPr id="136" name="Straight Connector 135"/>
                    <p:cNvCxnSpPr>
                      <a:stCxn id="140" idx="1"/>
                      <a:endCxn id="135" idx="6"/>
                    </p:cNvCxnSpPr>
                    <p:nvPr/>
                  </p:nvCxnSpPr>
                  <p:spPr>
                    <a:xfrm flipH="1" flipV="1">
                      <a:off x="2739417" y="1960700"/>
                      <a:ext cx="504868" cy="181222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37" name="Group 136"/>
                    <p:cNvGrpSpPr/>
                    <p:nvPr/>
                  </p:nvGrpSpPr>
                  <p:grpSpPr>
                    <a:xfrm>
                      <a:off x="2647521" y="2093275"/>
                      <a:ext cx="1424966" cy="1299721"/>
                      <a:chOff x="3245032" y="4297707"/>
                      <a:chExt cx="1424966" cy="1299721"/>
                    </a:xfrm>
                  </p:grpSpPr>
                  <p:grpSp>
                    <p:nvGrpSpPr>
                      <p:cNvPr id="139" name="Group 138"/>
                      <p:cNvGrpSpPr/>
                      <p:nvPr/>
                    </p:nvGrpSpPr>
                    <p:grpSpPr>
                      <a:xfrm>
                        <a:off x="3245032" y="4463798"/>
                        <a:ext cx="1424966" cy="1133630"/>
                        <a:chOff x="3356309" y="4626084"/>
                        <a:chExt cx="1692188" cy="1133630"/>
                      </a:xfrm>
                    </p:grpSpPr>
                    <p:sp>
                      <p:nvSpPr>
                        <p:cNvPr id="142" name="Isosceles Triangle 141"/>
                        <p:cNvSpPr/>
                        <p:nvPr/>
                      </p:nvSpPr>
                      <p:spPr>
                        <a:xfrm>
                          <a:off x="3356309" y="4626084"/>
                          <a:ext cx="1692188" cy="1080198"/>
                        </a:xfrm>
                        <a:prstGeom prst="triangle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28575">
                          <a:solidFill>
                            <a:srgbClr val="00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43" name="TextBox 142"/>
                            <p:cNvSpPr txBox="1"/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oMath>
                                </m:oMathPara>
                              </a14:m>
                              <a:endParaRPr lang="en-US" sz="28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43" name="TextBox 142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blipFill>
                              <a:blip r:embed="rId18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sp>
                    <p:nvSpPr>
                      <p:cNvPr id="140" name="Oval 139"/>
                      <p:cNvSpPr/>
                      <p:nvPr/>
                    </p:nvSpPr>
                    <p:spPr>
                      <a:xfrm>
                        <a:off x="3794342" y="4297707"/>
                        <a:ext cx="324036" cy="33218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8" name="TextBox 137"/>
                        <p:cNvSpPr txBox="1"/>
                        <p:nvPr/>
                      </p:nvSpPr>
                      <p:spPr>
                        <a:xfrm>
                          <a:off x="3155918" y="2443196"/>
                          <a:ext cx="422999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US" sz="28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138" name="TextBox 137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155918" y="2443196"/>
                          <a:ext cx="422999" cy="523220"/>
                        </a:xfrm>
                        <a:prstGeom prst="rect">
                          <a:avLst/>
                        </a:prstGeom>
                        <a:blipFill>
                          <a:blip r:embed="rId1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35" name="Oval 134"/>
                  <p:cNvSpPr/>
                  <p:nvPr/>
                </p:nvSpPr>
                <p:spPr>
                  <a:xfrm flipH="1">
                    <a:off x="7136803" y="3717187"/>
                    <a:ext cx="432048" cy="43124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5" name="Group 174"/>
                <p:cNvGrpSpPr/>
                <p:nvPr/>
              </p:nvGrpSpPr>
              <p:grpSpPr>
                <a:xfrm>
                  <a:off x="9196297" y="3717187"/>
                  <a:ext cx="3101907" cy="1647917"/>
                  <a:chOff x="5803733" y="3717187"/>
                  <a:chExt cx="3101907" cy="1647917"/>
                </a:xfrm>
              </p:grpSpPr>
              <p:grpSp>
                <p:nvGrpSpPr>
                  <p:cNvPr id="176" name="Group 175"/>
                  <p:cNvGrpSpPr/>
                  <p:nvPr/>
                </p:nvGrpSpPr>
                <p:grpSpPr>
                  <a:xfrm>
                    <a:off x="7480674" y="3932808"/>
                    <a:ext cx="1424966" cy="1432296"/>
                    <a:chOff x="2651832" y="1960700"/>
                    <a:chExt cx="1424966" cy="1432296"/>
                  </a:xfrm>
                </p:grpSpPr>
                <p:cxnSp>
                  <p:nvCxnSpPr>
                    <p:cNvPr id="186" name="Straight Connector 185"/>
                    <p:cNvCxnSpPr>
                      <a:stCxn id="190" idx="1"/>
                      <a:endCxn id="178" idx="2"/>
                    </p:cNvCxnSpPr>
                    <p:nvPr/>
                  </p:nvCxnSpPr>
                  <p:spPr>
                    <a:xfrm flipH="1" flipV="1">
                      <a:off x="2740009" y="1960700"/>
                      <a:ext cx="504276" cy="181222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87" name="Group 186"/>
                    <p:cNvGrpSpPr/>
                    <p:nvPr/>
                  </p:nvGrpSpPr>
                  <p:grpSpPr>
                    <a:xfrm>
                      <a:off x="2651832" y="2093275"/>
                      <a:ext cx="1424966" cy="1299721"/>
                      <a:chOff x="3249343" y="4297707"/>
                      <a:chExt cx="1424966" cy="1299721"/>
                    </a:xfrm>
                  </p:grpSpPr>
                  <p:grpSp>
                    <p:nvGrpSpPr>
                      <p:cNvPr id="189" name="Group 188"/>
                      <p:cNvGrpSpPr/>
                      <p:nvPr/>
                    </p:nvGrpSpPr>
                    <p:grpSpPr>
                      <a:xfrm>
                        <a:off x="3249343" y="4463798"/>
                        <a:ext cx="1424966" cy="1133630"/>
                        <a:chOff x="3361428" y="4626084"/>
                        <a:chExt cx="1692188" cy="1133630"/>
                      </a:xfrm>
                    </p:grpSpPr>
                    <p:sp>
                      <p:nvSpPr>
                        <p:cNvPr id="191" name="Isosceles Triangle 190"/>
                        <p:cNvSpPr/>
                        <p:nvPr/>
                      </p:nvSpPr>
                      <p:spPr>
                        <a:xfrm>
                          <a:off x="3361428" y="4626084"/>
                          <a:ext cx="1692188" cy="1080198"/>
                        </a:xfrm>
                        <a:prstGeom prst="triangle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28575">
                          <a:solidFill>
                            <a:srgbClr val="00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92" name="TextBox 191"/>
                            <p:cNvSpPr txBox="1"/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oMath>
                                </m:oMathPara>
                              </a14:m>
                              <a:endParaRPr lang="en-US" sz="28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92" name="TextBox 191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blipFill>
                              <a:blip r:embed="rId20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sp>
                    <p:nvSpPr>
                      <p:cNvPr id="190" name="Oval 189"/>
                      <p:cNvSpPr/>
                      <p:nvPr/>
                    </p:nvSpPr>
                    <p:spPr>
                      <a:xfrm>
                        <a:off x="3794342" y="4297707"/>
                        <a:ext cx="324036" cy="33218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88" name="TextBox 187"/>
                        <p:cNvSpPr txBox="1"/>
                        <p:nvPr/>
                      </p:nvSpPr>
                      <p:spPr>
                        <a:xfrm>
                          <a:off x="3152815" y="2447432"/>
                          <a:ext cx="422999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oMath>
                            </m:oMathPara>
                          </a14:m>
                          <a:endParaRPr lang="en-US" sz="28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188" name="TextBox 187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152815" y="2447432"/>
                          <a:ext cx="422999" cy="523220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77" name="Group 176"/>
                  <p:cNvGrpSpPr/>
                  <p:nvPr/>
                </p:nvGrpSpPr>
                <p:grpSpPr>
                  <a:xfrm flipH="1">
                    <a:off x="5803733" y="3932808"/>
                    <a:ext cx="1424966" cy="1432296"/>
                    <a:chOff x="2647521" y="1960700"/>
                    <a:chExt cx="1424966" cy="1432296"/>
                  </a:xfrm>
                </p:grpSpPr>
                <p:cxnSp>
                  <p:nvCxnSpPr>
                    <p:cNvPr id="179" name="Straight Connector 178"/>
                    <p:cNvCxnSpPr>
                      <a:stCxn id="183" idx="1"/>
                      <a:endCxn id="178" idx="6"/>
                    </p:cNvCxnSpPr>
                    <p:nvPr/>
                  </p:nvCxnSpPr>
                  <p:spPr>
                    <a:xfrm flipH="1" flipV="1">
                      <a:off x="2739417" y="1960700"/>
                      <a:ext cx="504868" cy="181222"/>
                    </a:xfrm>
                    <a:prstGeom prst="line">
                      <a:avLst/>
                    </a:prstGeom>
                    <a:ln w="28575">
                      <a:solidFill>
                        <a:srgbClr val="00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80" name="Group 179"/>
                    <p:cNvGrpSpPr/>
                    <p:nvPr/>
                  </p:nvGrpSpPr>
                  <p:grpSpPr>
                    <a:xfrm>
                      <a:off x="2647521" y="2093275"/>
                      <a:ext cx="1424966" cy="1299721"/>
                      <a:chOff x="3245032" y="4297707"/>
                      <a:chExt cx="1424966" cy="1299721"/>
                    </a:xfrm>
                  </p:grpSpPr>
                  <p:grpSp>
                    <p:nvGrpSpPr>
                      <p:cNvPr id="182" name="Group 181"/>
                      <p:cNvGrpSpPr/>
                      <p:nvPr/>
                    </p:nvGrpSpPr>
                    <p:grpSpPr>
                      <a:xfrm>
                        <a:off x="3245032" y="4463798"/>
                        <a:ext cx="1424966" cy="1133630"/>
                        <a:chOff x="3356309" y="4626084"/>
                        <a:chExt cx="1692188" cy="1133630"/>
                      </a:xfrm>
                    </p:grpSpPr>
                    <p:sp>
                      <p:nvSpPr>
                        <p:cNvPr id="184" name="Isosceles Triangle 183"/>
                        <p:cNvSpPr/>
                        <p:nvPr/>
                      </p:nvSpPr>
                      <p:spPr>
                        <a:xfrm>
                          <a:off x="3356309" y="4626084"/>
                          <a:ext cx="1692188" cy="1080198"/>
                        </a:xfrm>
                        <a:prstGeom prst="triangle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28575">
                          <a:solidFill>
                            <a:srgbClr val="00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85" name="TextBox 184"/>
                            <p:cNvSpPr txBox="1"/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oMath>
                                </m:oMathPara>
                              </a14:m>
                              <a:endParaRPr lang="en-US" sz="28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85" name="TextBox 184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956360" y="5236494"/>
                              <a:ext cx="502323" cy="523220"/>
                            </a:xfrm>
                            <a:prstGeom prst="rect">
                              <a:avLst/>
                            </a:prstGeom>
                            <a:blipFill>
                              <a:blip r:embed="rId22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sp>
                    <p:nvSpPr>
                      <p:cNvPr id="183" name="Oval 182"/>
                      <p:cNvSpPr/>
                      <p:nvPr/>
                    </p:nvSpPr>
                    <p:spPr>
                      <a:xfrm>
                        <a:off x="3794342" y="4297707"/>
                        <a:ext cx="324036" cy="33218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81" name="TextBox 180"/>
                        <p:cNvSpPr txBox="1"/>
                        <p:nvPr/>
                      </p:nvSpPr>
                      <p:spPr>
                        <a:xfrm>
                          <a:off x="3203110" y="2443196"/>
                          <a:ext cx="422999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oMath>
                            </m:oMathPara>
                          </a14:m>
                          <a:endParaRPr lang="en-US" sz="28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181" name="TextBox 180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03110" y="2443196"/>
                          <a:ext cx="422999" cy="523220"/>
                        </a:xfrm>
                        <a:prstGeom prst="rect">
                          <a:avLst/>
                        </a:prstGeom>
                        <a:blipFill>
                          <a:blip r:embed="rId23"/>
                          <a:stretch>
                            <a:fillRect r="-4348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78" name="Oval 177"/>
                  <p:cNvSpPr/>
                  <p:nvPr/>
                </p:nvSpPr>
                <p:spPr>
                  <a:xfrm flipH="1">
                    <a:off x="7136803" y="3717187"/>
                    <a:ext cx="432048" cy="431242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3" name="TextBox 192"/>
                    <p:cNvSpPr txBox="1"/>
                    <p:nvPr/>
                  </p:nvSpPr>
                  <p:spPr>
                    <a:xfrm>
                      <a:off x="8831037" y="3019274"/>
                      <a:ext cx="50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93" name="TextBox 19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31037" y="3019274"/>
                      <a:ext cx="502324" cy="523220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4" name="Oval 193"/>
                <p:cNvSpPr/>
                <p:nvPr/>
              </p:nvSpPr>
              <p:spPr>
                <a:xfrm flipH="1">
                  <a:off x="8828487" y="3140968"/>
                  <a:ext cx="432048" cy="431242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6" name="TextBox 195"/>
              <p:cNvSpPr txBox="1"/>
              <p:nvPr/>
            </p:nvSpPr>
            <p:spPr>
              <a:xfrm>
                <a:off x="9516380" y="2738181"/>
                <a:ext cx="1677173" cy="109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after right rotation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27DD5A3-2C17-8E86-1AF2-7CA928D15B0F}"/>
                </a:ext>
              </a:extLst>
            </p:cNvPr>
            <p:cNvGrpSpPr/>
            <p:nvPr/>
          </p:nvGrpSpPr>
          <p:grpSpPr>
            <a:xfrm>
              <a:off x="7213856" y="5409554"/>
              <a:ext cx="502324" cy="523220"/>
              <a:chOff x="2127577" y="5242628"/>
              <a:chExt cx="502324" cy="52322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FA454E6-461E-4679-AD77-A631C8217E6F}"/>
                  </a:ext>
                </a:extLst>
              </p:cNvPr>
              <p:cNvSpPr/>
              <p:nvPr/>
            </p:nvSpPr>
            <p:spPr>
              <a:xfrm flipH="1">
                <a:off x="2162715" y="5334606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DC4871F-75E3-43D1-D8CC-37807549306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DC4871F-75E3-43D1-D8CC-3780754930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DFF6F62-15EF-E086-3FA4-DCA88A3AD8C2}"/>
                </a:ext>
              </a:extLst>
            </p:cNvPr>
            <p:cNvGrpSpPr/>
            <p:nvPr/>
          </p:nvGrpSpPr>
          <p:grpSpPr>
            <a:xfrm>
              <a:off x="8930811" y="5406550"/>
              <a:ext cx="502324" cy="523220"/>
              <a:chOff x="2127577" y="5242628"/>
              <a:chExt cx="502324" cy="52322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AD9B17-BAB3-F9AB-2CEE-0F8FE3D872E7}"/>
                  </a:ext>
                </a:extLst>
              </p:cNvPr>
              <p:cNvSpPr/>
              <p:nvPr/>
            </p:nvSpPr>
            <p:spPr>
              <a:xfrm flipH="1">
                <a:off x="2162715" y="5334606"/>
                <a:ext cx="432048" cy="43124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891DE6A-BCE0-C8CC-24D1-A1F65A8CE9C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891DE6A-BCE0-C8CC-24D1-A1F65A8CE9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127577" y="5242628"/>
                    <a:ext cx="502324" cy="52322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102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965430" y="4098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2-3 Trees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1070157"/>
                <a:ext cx="10261140" cy="5053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 algn="just">
                  <a:lnSpc>
                    <a:spcPct val="12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800" b="0" dirty="0"/>
                  <a:t>Every internal node has either 2 or 3 children.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800" dirty="0"/>
                  <a:t>All root-to-leaf paths have same length.</a:t>
                </a:r>
              </a:p>
              <a:p>
                <a:pPr marL="514350" indent="-514350" algn="just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b="0" dirty="0"/>
                  <a:t>The elements of the dynamic set are stored only at leaves.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0" dirty="0"/>
                  <a:t>The keys at leaves are </a:t>
                </a:r>
                <a:r>
                  <a:rPr lang="en-US" sz="2800" dirty="0"/>
                  <a:t>sorted left-to-right in </a:t>
                </a:r>
                <a:r>
                  <a:rPr lang="en-US" sz="2800" b="0" dirty="0"/>
                  <a:t>ascending order.</a:t>
                </a:r>
              </a:p>
              <a:p>
                <a:pPr marL="514350" indent="-514350" algn="just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An internal node stores 3 directives</a:t>
                </a:r>
              </a:p>
              <a:p>
                <a:pPr marL="971550" lvl="1" indent="-5143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1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800" b="0" dirty="0"/>
                  <a:t> smallest keys in </a:t>
                </a:r>
                <a:r>
                  <a:rPr lang="en-US" sz="2800" b="1" dirty="0"/>
                  <a:t>left, mid </a:t>
                </a:r>
                <a:r>
                  <a:rPr lang="en-US" sz="2800" dirty="0"/>
                  <a:t>and</a:t>
                </a:r>
                <a:r>
                  <a:rPr lang="en-US" sz="2800" b="1" dirty="0"/>
                  <a:t> right</a:t>
                </a:r>
                <a:r>
                  <a:rPr lang="en-US" sz="2800" b="0" dirty="0"/>
                  <a:t> subtrees, resp.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and </a:t>
                </a:r>
                <a:r>
                  <a:rPr lang="en-US" sz="2800" b="1" dirty="0"/>
                  <a:t>right</a:t>
                </a:r>
                <a:r>
                  <a:rPr lang="en-US" sz="2800" dirty="0"/>
                  <a:t> subtree may not exist.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(It is possible to use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).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70157"/>
                <a:ext cx="10261140" cy="5053691"/>
              </a:xfrm>
              <a:prstGeom prst="rect">
                <a:avLst/>
              </a:prstGeom>
              <a:blipFill>
                <a:blip r:embed="rId3"/>
                <a:stretch>
                  <a:fillRect l="-1247" t="-362" r="-1188" b="-18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62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715" y="1197200"/>
            <a:ext cx="9180570" cy="31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4376585"/>
                <a:ext cx="10261140" cy="109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i="0" dirty="0" smtClean="0"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en-US" sz="2800" b="0" dirty="0"/>
                  <a:t> starts at root proceeding to left child until reaching a leaf, returning its key. Returning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0" dirty="0"/>
                  <a:t> at the root is also possible.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376585"/>
                <a:ext cx="10261140" cy="1090876"/>
              </a:xfrm>
              <a:prstGeom prst="rect">
                <a:avLst/>
              </a:prstGeom>
              <a:blipFill>
                <a:blip r:embed="rId3"/>
                <a:stretch>
                  <a:fillRect l="-1188" t="-1117" r="-1188" b="-15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965430" y="4098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2-3 Tree Operations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181000" y="1924291"/>
            <a:ext cx="3009600" cy="1607539"/>
            <a:chOff x="2181000" y="1924291"/>
            <a:chExt cx="3009600" cy="1607539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3396000" y="1924291"/>
              <a:ext cx="1794600" cy="559709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2181000" y="3169479"/>
              <a:ext cx="225000" cy="362351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65430" y="5544000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dirty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sz="2800" b="1" i="0" dirty="0" smtClean="0">
                        <a:latin typeface="Cambria Math" panose="02040503050406030204" pitchFamily="18" charset="0"/>
                      </a:rPr>
                      <m:t>AX</m:t>
                    </m:r>
                  </m:oMath>
                </a14:m>
                <a:r>
                  <a:rPr lang="en-US" sz="2800" dirty="0"/>
                  <a:t> works similarly with right subtrees.</a:t>
                </a:r>
                <a:endParaRPr lang="en-US" sz="2800" b="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544000"/>
                <a:ext cx="10261140" cy="573811"/>
              </a:xfrm>
              <a:prstGeom prst="rect">
                <a:avLst/>
              </a:prstGeom>
              <a:blipFill>
                <a:blip r:embed="rId4"/>
                <a:stretch>
                  <a:fillRect t="-1053" b="-2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 flipH="1">
            <a:off x="6992214" y="1924291"/>
            <a:ext cx="3009600" cy="1630797"/>
            <a:chOff x="2181000" y="1901033"/>
            <a:chExt cx="3009600" cy="1630797"/>
          </a:xfrm>
        </p:grpSpPr>
        <p:cxnSp>
          <p:nvCxnSpPr>
            <p:cNvPr id="19" name="Straight Arrow Connector 18"/>
            <p:cNvCxnSpPr/>
            <p:nvPr/>
          </p:nvCxnSpPr>
          <p:spPr>
            <a:xfrm flipH="1">
              <a:off x="3396000" y="1901033"/>
              <a:ext cx="1794600" cy="55970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2181000" y="3169479"/>
              <a:ext cx="225000" cy="36235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999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09860" y="864000"/>
                <a:ext cx="1026114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b="0" dirty="0"/>
                  <a:t>Like BST,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dirty="0">
                        <a:latin typeface="Cambria Math" panose="02040503050406030204" pitchFamily="18" charset="0"/>
                      </a:rPr>
                      <m:t>MEMBER</m:t>
                    </m:r>
                  </m:oMath>
                </a14:m>
                <a:r>
                  <a:rPr lang="en-US" sz="2800" b="0" dirty="0"/>
                  <a:t> starts 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b="0" dirty="0"/>
                  <a:t>’s root and proceeds downwards to subtrees by comparing the key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b="0" dirty="0"/>
                  <a:t>. 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b="0" dirty="0"/>
                  <a:t> 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800" b="0" dirty="0"/>
                  <a:t>  leaf with key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, 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search in left child.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 search in mid child.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search in right child.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write code accounting all cases and verify correctness.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60" y="864000"/>
                <a:ext cx="10261140" cy="5152180"/>
              </a:xfrm>
              <a:prstGeom prst="rect">
                <a:avLst/>
              </a:prstGeom>
              <a:blipFill>
                <a:blip r:embed="rId3"/>
                <a:stretch>
                  <a:fillRect l="-1248" t="-237" r="-1188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41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II: Search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787" y="1287233"/>
            <a:ext cx="6956425" cy="2034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5736000" y="702233"/>
            <a:ext cx="450000" cy="675000"/>
            <a:chOff x="3813600" y="459000"/>
            <a:chExt cx="450000" cy="67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3813600" y="459000"/>
                  <a:ext cx="450000" cy="369332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3600" y="459000"/>
                  <a:ext cx="4500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299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>
              <a:stCxn id="6" idx="2"/>
            </p:cNvCxnSpPr>
            <p:nvPr/>
          </p:nvCxnSpPr>
          <p:spPr>
            <a:xfrm>
              <a:off x="4038600" y="828332"/>
              <a:ext cx="0" cy="30566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8141604" y="1422233"/>
            <a:ext cx="450000" cy="675000"/>
            <a:chOff x="3813600" y="459000"/>
            <a:chExt cx="450000" cy="67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813600" y="459000"/>
                  <a:ext cx="450000" cy="369332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3600" y="459000"/>
                  <a:ext cx="45000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31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7" idx="2"/>
            </p:cNvCxnSpPr>
            <p:nvPr/>
          </p:nvCxnSpPr>
          <p:spPr>
            <a:xfrm>
              <a:off x="4038600" y="828332"/>
              <a:ext cx="0" cy="30566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2158636" y="3640101"/>
            <a:ext cx="7874727" cy="2291905"/>
            <a:chOff x="2372517" y="3879000"/>
            <a:chExt cx="7446963" cy="2045869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2517" y="3879000"/>
              <a:ext cx="7446963" cy="2045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Rectangle 18"/>
            <p:cNvSpPr/>
            <p:nvPr/>
          </p:nvSpPr>
          <p:spPr>
            <a:xfrm>
              <a:off x="8245697" y="4700197"/>
              <a:ext cx="484023" cy="315000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266302" y="5319000"/>
              <a:ext cx="429396" cy="405000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949CF-9DE5-E436-2BA6-179C853515E0}"/>
                  </a:ext>
                </a:extLst>
              </p:cNvPr>
              <p:cNvSpPr txBox="1"/>
              <p:nvPr/>
            </p:nvSpPr>
            <p:spPr>
              <a:xfrm>
                <a:off x="1425558" y="1115623"/>
                <a:ext cx="14661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800" b="1" i="0" dirty="0" smtClean="0">
                          <a:latin typeface="Cambria Math" panose="02040503050406030204" pitchFamily="18" charset="0"/>
                        </a:rPr>
                        <m:t>𝐍𝐒𝐄𝐑𝐓</m:t>
                      </m:r>
                      <m:r>
                        <a:rPr lang="en-US" sz="2800" b="1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949CF-9DE5-E436-2BA6-179C85351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558" y="1115623"/>
                <a:ext cx="14661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87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09860" y="1264214"/>
                <a:ext cx="10261140" cy="4369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𝐍𝐒𝐄𝐑𝐓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starts 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b="0" dirty="0"/>
                  <a:t>’s root and </a:t>
                </a:r>
                <a:r>
                  <a:rPr lang="en-US" sz="2800" dirty="0"/>
                  <a:t>like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MEMBER</m:t>
                    </m:r>
                  </m:oMath>
                </a14:m>
                <a:r>
                  <a:rPr lang="en-US" sz="2800" dirty="0"/>
                  <a:t> proceeds </a:t>
                </a:r>
                <a:r>
                  <a:rPr lang="en-US" sz="2800" b="0" dirty="0"/>
                  <a:t>downwards to node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b="0" dirty="0"/>
                  <a:t> that should be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b="0" dirty="0"/>
                  <a:t>’s parent.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b="0" dirty="0"/>
                  <a:t> has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b="0" dirty="0"/>
                  <a:t> leaves: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b="0" dirty="0"/>
                  <a:t> is added as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2800" b="0" i="0" baseline="30000" dirty="0" smtClean="0">
                        <a:latin typeface="Cambria Math" panose="02040503050406030204" pitchFamily="18" charset="0"/>
                      </a:rPr>
                      <m:t>rd</m:t>
                    </m:r>
                  </m:oMath>
                </a14:m>
                <a:r>
                  <a:rPr lang="en-US" sz="2800" b="0" dirty="0"/>
                  <a:t> leaf and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’s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b="0" dirty="0"/>
                  <a:t> directives,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b="0" dirty="0"/>
                  <a:t>, are updated accordingly.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happens to be the smallest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updated along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-to-root path.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60" y="1264214"/>
                <a:ext cx="10261140" cy="4369786"/>
              </a:xfrm>
              <a:prstGeom prst="rect">
                <a:avLst/>
              </a:prstGeom>
              <a:blipFill>
                <a:blip r:embed="rId3"/>
                <a:stretch>
                  <a:fillRect l="-1248" t="-139" r="-1188" b="-3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6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529" y="1268601"/>
            <a:ext cx="8584941" cy="1992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5472777" y="684000"/>
            <a:ext cx="488223" cy="693935"/>
            <a:chOff x="5736000" y="770220"/>
            <a:chExt cx="446970" cy="6070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736000" y="770220"/>
                  <a:ext cx="446970" cy="323070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000" y="770220"/>
                  <a:ext cx="446970" cy="3230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/>
            <p:cNvCxnSpPr>
              <a:stCxn id="6" idx="2"/>
            </p:cNvCxnSpPr>
            <p:nvPr/>
          </p:nvCxnSpPr>
          <p:spPr>
            <a:xfrm>
              <a:off x="5959485" y="1093290"/>
              <a:ext cx="1515" cy="28394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/>
          <p:cNvCxnSpPr>
            <a:stCxn id="10" idx="2"/>
          </p:cNvCxnSpPr>
          <p:nvPr/>
        </p:nvCxnSpPr>
        <p:spPr>
          <a:xfrm>
            <a:off x="6868553" y="1550334"/>
            <a:ext cx="0" cy="1336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5510999" y="1181003"/>
            <a:ext cx="1597848" cy="843994"/>
            <a:chOff x="5680993" y="827282"/>
            <a:chExt cx="1462835" cy="7382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703847" y="827282"/>
                  <a:ext cx="439981" cy="323069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847" y="827282"/>
                  <a:ext cx="439981" cy="3230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/>
            <p:nvPr/>
          </p:nvCxnSpPr>
          <p:spPr>
            <a:xfrm>
              <a:off x="5680993" y="1259889"/>
              <a:ext cx="0" cy="30566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680993" y="1267258"/>
              <a:ext cx="1242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531689" y="1268601"/>
                <a:ext cx="5956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689" y="1268601"/>
                <a:ext cx="5956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1196287" y="3574084"/>
            <a:ext cx="9799425" cy="2565477"/>
            <a:chOff x="1196287" y="3574084"/>
            <a:chExt cx="9799425" cy="2565477"/>
          </a:xfrm>
        </p:grpSpPr>
        <p:pic>
          <p:nvPicPr>
            <p:cNvPr id="31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287" y="3574084"/>
              <a:ext cx="9799425" cy="2565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Oval 31"/>
            <p:cNvSpPr/>
            <p:nvPr/>
          </p:nvSpPr>
          <p:spPr>
            <a:xfrm>
              <a:off x="5646000" y="5453999"/>
              <a:ext cx="499061" cy="527907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16863" y="3665028"/>
              <a:ext cx="563679" cy="352882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166646" y="4290646"/>
              <a:ext cx="564189" cy="359024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667315" y="4902839"/>
              <a:ext cx="559162" cy="366151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6A4487-C286-98BB-45FB-E5DF3601B4F6}"/>
              </a:ext>
            </a:extLst>
          </p:cNvPr>
          <p:cNvGrpSpPr/>
          <p:nvPr/>
        </p:nvGrpSpPr>
        <p:grpSpPr>
          <a:xfrm>
            <a:off x="2985771" y="1933545"/>
            <a:ext cx="4920858" cy="3413979"/>
            <a:chOff x="2985771" y="1933545"/>
            <a:chExt cx="4920858" cy="3413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222766" y="1933545"/>
                  <a:ext cx="59562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766" y="1933545"/>
                  <a:ext cx="59562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2985771" y="4824304"/>
              <a:ext cx="4920858" cy="523220"/>
              <a:chOff x="2985771" y="4824304"/>
              <a:chExt cx="4920858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985771" y="4824304"/>
                    <a:ext cx="59562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5771" y="4824304"/>
                    <a:ext cx="595629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7311000" y="4824304"/>
                    <a:ext cx="59562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1000" y="4824304"/>
                    <a:ext cx="595629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3" name="TextBox 32"/>
          <p:cNvSpPr txBox="1"/>
          <p:nvPr/>
        </p:nvSpPr>
        <p:spPr>
          <a:xfrm>
            <a:off x="6226477" y="3550637"/>
            <a:ext cx="1569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new root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911985" y="4206475"/>
            <a:ext cx="7451288" cy="539961"/>
            <a:chOff x="1911985" y="4206475"/>
            <a:chExt cx="7451288" cy="539961"/>
          </a:xfrm>
        </p:grpSpPr>
        <p:grpSp>
          <p:nvGrpSpPr>
            <p:cNvPr id="14" name="Group 13"/>
            <p:cNvGrpSpPr/>
            <p:nvPr/>
          </p:nvGrpSpPr>
          <p:grpSpPr>
            <a:xfrm>
              <a:off x="1911985" y="4206475"/>
              <a:ext cx="7451288" cy="525293"/>
              <a:chOff x="1911985" y="4206475"/>
              <a:chExt cx="7451288" cy="5252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1911985" y="4208548"/>
                    <a:ext cx="59562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1985" y="4208548"/>
                    <a:ext cx="59562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8767644" y="4206475"/>
                    <a:ext cx="59562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67644" y="4206475"/>
                    <a:ext cx="59562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3743531" y="4223216"/>
              <a:ext cx="3342469" cy="523220"/>
              <a:chOff x="3743531" y="4223216"/>
              <a:chExt cx="3342469" cy="523220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4328531" y="4223216"/>
                <a:ext cx="20331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split old root</a:t>
                </a:r>
              </a:p>
            </p:txBody>
          </p:sp>
          <p:cxnSp>
            <p:nvCxnSpPr>
              <p:cNvPr id="29" name="Straight Arrow Connector 28"/>
              <p:cNvCxnSpPr>
                <a:stCxn id="16" idx="1"/>
              </p:cNvCxnSpPr>
              <p:nvPr/>
            </p:nvCxnSpPr>
            <p:spPr>
              <a:xfrm flipH="1" flipV="1">
                <a:off x="3743531" y="4484684"/>
                <a:ext cx="585000" cy="14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6376312" y="4484684"/>
                <a:ext cx="70968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3278AD7-F97B-FACB-AE75-AD07EA941B8A}"/>
              </a:ext>
            </a:extLst>
          </p:cNvPr>
          <p:cNvSpPr/>
          <p:nvPr/>
        </p:nvSpPr>
        <p:spPr>
          <a:xfrm>
            <a:off x="983432" y="4192544"/>
            <a:ext cx="9613068" cy="710295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6C06B6-676B-EACE-9ECD-B34EE6DC62DD}"/>
              </a:ext>
            </a:extLst>
          </p:cNvPr>
          <p:cNvSpPr/>
          <p:nvPr/>
        </p:nvSpPr>
        <p:spPr>
          <a:xfrm>
            <a:off x="983432" y="3537012"/>
            <a:ext cx="9613068" cy="748795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878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1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09860" y="843354"/>
                <a:ext cx="10261140" cy="5284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has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leaves: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Split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.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smaller among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attached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and the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larger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be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’s parent.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had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children,  replace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has 3 children.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had </a:t>
                </a:r>
                <a14:m>
                  <m:oMath xmlns:m="http://schemas.openxmlformats.org/officeDocument/2006/math">
                    <m:r>
                      <a:rPr lang="he-IL" sz="28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children (now 4), split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,  attach the 2 smaller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,  attach the 2 larger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.  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Proceed upwards until </a:t>
                </a:r>
                <a:r>
                  <a:rPr lang="en-US" sz="2800" b="1" dirty="0"/>
                  <a:t>parent absorbs </a:t>
                </a:r>
                <a:r>
                  <a:rPr lang="en-US" sz="2800" dirty="0"/>
                  <a:t>the split of child.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If root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splits, create new root with children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60" y="843354"/>
                <a:ext cx="10261140" cy="5284524"/>
              </a:xfrm>
              <a:prstGeom prst="rect">
                <a:avLst/>
              </a:prstGeom>
              <a:blipFill>
                <a:blip r:embed="rId3"/>
                <a:stretch>
                  <a:fillRect l="-1248" t="-115" r="-1188" b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24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09860" y="999000"/>
                <a:ext cx="10261140" cy="4830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𝐃𝐄𝐋𝐄𝐓𝐄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starts 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’s root and like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MEMBER</m:t>
                    </m:r>
                  </m:oMath>
                </a14:m>
                <a:r>
                  <a:rPr lang="en-US" sz="2800" dirty="0"/>
                  <a:t> proceeds downwards to node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which is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’s parent.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had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siblings (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had 3 directives):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Delete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and update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.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up to root.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had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sibling, say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, delete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and modify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as follows: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had larger sibling with 3 children, smallest moves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Else, 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had smaller sibling with 3 children, largest moves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60" y="999000"/>
                <a:ext cx="10261140" cy="4830361"/>
              </a:xfrm>
              <a:prstGeom prst="rect">
                <a:avLst/>
              </a:prstGeom>
              <a:blipFill>
                <a:blip r:embed="rId3"/>
                <a:stretch>
                  <a:fillRect l="-1248" t="-253" r="-11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7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18" y="835478"/>
            <a:ext cx="5900497" cy="212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32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3196357" y="1892670"/>
            <a:ext cx="1684644" cy="1065855"/>
            <a:chOff x="3196357" y="1892670"/>
            <a:chExt cx="1684644" cy="10658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464811" y="2435305"/>
                  <a:ext cx="4161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811" y="2435305"/>
                  <a:ext cx="41619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3196357" y="2435305"/>
                  <a:ext cx="2736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6357" y="2435305"/>
                  <a:ext cx="273693" cy="523220"/>
                </a:xfrm>
                <a:prstGeom prst="rect">
                  <a:avLst/>
                </a:prstGeom>
                <a:blipFill>
                  <a:blip r:embed="rId6"/>
                  <a:stretch>
                    <a:fillRect r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207971" y="1892670"/>
                  <a:ext cx="4161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971" y="1892670"/>
                  <a:ext cx="41619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/>
          <p:cNvGrpSpPr/>
          <p:nvPr/>
        </p:nvGrpSpPr>
        <p:grpSpPr>
          <a:xfrm>
            <a:off x="5161014" y="2980387"/>
            <a:ext cx="6191417" cy="1744061"/>
            <a:chOff x="5161014" y="2980387"/>
            <a:chExt cx="6191417" cy="1744061"/>
          </a:xfrm>
        </p:grpSpPr>
        <p:grpSp>
          <p:nvGrpSpPr>
            <p:cNvPr id="34" name="Group 33"/>
            <p:cNvGrpSpPr/>
            <p:nvPr/>
          </p:nvGrpSpPr>
          <p:grpSpPr>
            <a:xfrm>
              <a:off x="5161014" y="2980387"/>
              <a:ext cx="6191417" cy="1744061"/>
              <a:chOff x="5161014" y="2980387"/>
              <a:chExt cx="6191417" cy="1744061"/>
            </a:xfrm>
          </p:grpSpPr>
          <p:pic>
            <p:nvPicPr>
              <p:cNvPr id="6" name="Picture 3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61014" y="2980387"/>
                <a:ext cx="6191417" cy="1744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>
              <a:xfrm>
                <a:off x="8153400" y="3857220"/>
                <a:ext cx="1052744" cy="247223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9709044" y="3857221"/>
                <a:ext cx="373029" cy="247222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 flipH="1">
                <a:off x="9304045" y="3972859"/>
                <a:ext cx="405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7780372" y="3711249"/>
                  <a:ext cx="4161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0372" y="3711249"/>
                  <a:ext cx="41619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8174318" y="4055675"/>
                  <a:ext cx="2736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4318" y="4055675"/>
                  <a:ext cx="273693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/>
          <p:cNvGrpSpPr/>
          <p:nvPr/>
        </p:nvGrpSpPr>
        <p:grpSpPr>
          <a:xfrm>
            <a:off x="861218" y="4587722"/>
            <a:ext cx="5681540" cy="1631278"/>
            <a:chOff x="861218" y="4587722"/>
            <a:chExt cx="5681540" cy="1631278"/>
          </a:xfrm>
        </p:grpSpPr>
        <p:grpSp>
          <p:nvGrpSpPr>
            <p:cNvPr id="35" name="Group 34"/>
            <p:cNvGrpSpPr/>
            <p:nvPr/>
          </p:nvGrpSpPr>
          <p:grpSpPr>
            <a:xfrm>
              <a:off x="861218" y="4587722"/>
              <a:ext cx="5681540" cy="1631278"/>
              <a:chOff x="861218" y="4587722"/>
              <a:chExt cx="5681540" cy="1631278"/>
            </a:xfrm>
          </p:grpSpPr>
          <p:pic>
            <p:nvPicPr>
              <p:cNvPr id="7" name="Picture 4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1218" y="4587722"/>
                <a:ext cx="5681540" cy="1631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>
              <a:xfrm>
                <a:off x="3834766" y="5425080"/>
                <a:ext cx="1046235" cy="230639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360279" y="5425080"/>
                <a:ext cx="1046235" cy="230639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957899" y="5027641"/>
                <a:ext cx="360000" cy="243914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76665" y="5264296"/>
                  <a:ext cx="4161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6665" y="5264296"/>
                  <a:ext cx="416190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476665" y="5645087"/>
                  <a:ext cx="2736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6665" y="5645087"/>
                  <a:ext cx="273693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C1D252-78B2-6EC8-5250-5B55DBD4AB28}"/>
              </a:ext>
            </a:extLst>
          </p:cNvPr>
          <p:cNvGrpSpPr/>
          <p:nvPr/>
        </p:nvGrpSpPr>
        <p:grpSpPr>
          <a:xfrm>
            <a:off x="3470050" y="395921"/>
            <a:ext cx="1314173" cy="2466980"/>
            <a:chOff x="3470050" y="395921"/>
            <a:chExt cx="1314173" cy="2466980"/>
          </a:xfrm>
        </p:grpSpPr>
        <p:grpSp>
          <p:nvGrpSpPr>
            <p:cNvPr id="13" name="Group 12"/>
            <p:cNvGrpSpPr/>
            <p:nvPr/>
          </p:nvGrpSpPr>
          <p:grpSpPr>
            <a:xfrm>
              <a:off x="3470050" y="395921"/>
              <a:ext cx="308223" cy="504601"/>
              <a:chOff x="5472777" y="729000"/>
              <a:chExt cx="308223" cy="50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solidFill>
                    <a:srgbClr val="FF0000">
                      <a:alpha val="30196"/>
                    </a:srgbClr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/>
              <p:cNvCxnSpPr/>
              <p:nvPr/>
            </p:nvCxnSpPr>
            <p:spPr>
              <a:xfrm>
                <a:off x="5626888" y="1005999"/>
                <a:ext cx="0" cy="2276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4476000" y="954000"/>
              <a:ext cx="308223" cy="504601"/>
              <a:chOff x="5472777" y="729000"/>
              <a:chExt cx="308223" cy="50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solidFill>
                    <a:srgbClr val="FF0000">
                      <a:alpha val="30196"/>
                    </a:srgbClr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/>
              <p:nvPr/>
            </p:nvCxnSpPr>
            <p:spPr>
              <a:xfrm>
                <a:off x="5626888" y="1005999"/>
                <a:ext cx="0" cy="2276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>
              <a:off x="3884488" y="1539000"/>
              <a:ext cx="308223" cy="504601"/>
              <a:chOff x="5472777" y="729000"/>
              <a:chExt cx="308223" cy="50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solidFill>
                    <a:srgbClr val="FF0000">
                      <a:alpha val="30196"/>
                    </a:srgbClr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Arrow Connector 18"/>
              <p:cNvCxnSpPr/>
              <p:nvPr/>
            </p:nvCxnSpPr>
            <p:spPr>
              <a:xfrm>
                <a:off x="5626888" y="1005999"/>
                <a:ext cx="0" cy="2276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/>
            <p:cNvSpPr/>
            <p:nvPr/>
          </p:nvSpPr>
          <p:spPr>
            <a:xfrm>
              <a:off x="4243826" y="2569631"/>
              <a:ext cx="304262" cy="293270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955450-5810-5C5F-3B9A-020A2904B2E1}"/>
                </a:ext>
              </a:extLst>
            </p:cNvPr>
            <p:cNvSpPr txBox="1"/>
            <p:nvPr/>
          </p:nvSpPr>
          <p:spPr>
            <a:xfrm>
              <a:off x="3892855" y="2043601"/>
              <a:ext cx="350963" cy="219156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2073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09860" y="963424"/>
                <a:ext cx="10261140" cy="262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sz="2800" dirty="0"/>
                  <a:t>Else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had siblings with only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children: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’s sibling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moves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’s sibling as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baseline="30000" dirty="0"/>
                  <a:t>rd</a:t>
                </a:r>
                <a:r>
                  <a:rPr lang="en-US" sz="2800" dirty="0"/>
                  <a:t> child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is deleted.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’s parent had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children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are left and we are done. </a:t>
                </a:r>
              </a:p>
              <a:p>
                <a:pPr marL="914400" lvl="1" indent="-457200" algn="just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/>
                  <a:t>Otherwise, we proceed recursively upwards.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60" y="963424"/>
                <a:ext cx="10261140" cy="2622256"/>
              </a:xfrm>
              <a:prstGeom prst="rect">
                <a:avLst/>
              </a:prstGeom>
              <a:blipFill>
                <a:blip r:embed="rId3"/>
                <a:stretch>
                  <a:fillRect l="-1070" t="-233" b="-441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44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884993" y="4473796"/>
            <a:ext cx="5924882" cy="1826670"/>
            <a:chOff x="884993" y="4473796"/>
            <a:chExt cx="5924882" cy="1826670"/>
          </a:xfrm>
        </p:grpSpPr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993" y="4473796"/>
              <a:ext cx="5924882" cy="1826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Rectangle 19"/>
            <p:cNvSpPr/>
            <p:nvPr/>
          </p:nvSpPr>
          <p:spPr>
            <a:xfrm>
              <a:off x="3404342" y="4569742"/>
              <a:ext cx="1218934" cy="287508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432815" y="1779331"/>
            <a:ext cx="6678845" cy="3273926"/>
            <a:chOff x="4432815" y="1779331"/>
            <a:chExt cx="6678845" cy="3273926"/>
          </a:xfrm>
        </p:grpSpPr>
        <p:grpSp>
          <p:nvGrpSpPr>
            <p:cNvPr id="22" name="Group 21"/>
            <p:cNvGrpSpPr/>
            <p:nvPr/>
          </p:nvGrpSpPr>
          <p:grpSpPr>
            <a:xfrm>
              <a:off x="5232835" y="2794464"/>
              <a:ext cx="5800123" cy="2258793"/>
              <a:chOff x="5232835" y="2794464"/>
              <a:chExt cx="5800123" cy="2258793"/>
            </a:xfrm>
          </p:grpSpPr>
          <p:pic>
            <p:nvPicPr>
              <p:cNvPr id="6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2835" y="2794464"/>
                <a:ext cx="5800123" cy="2258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>
              <a:xfrm>
                <a:off x="5852160" y="3993502"/>
                <a:ext cx="957715" cy="271951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283317" y="3406771"/>
                <a:ext cx="1074537" cy="277488"/>
              </a:xfrm>
              <a:prstGeom prst="rect">
                <a:avLst/>
              </a:prstGeom>
              <a:solidFill>
                <a:srgbClr val="000000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4432815" y="1779331"/>
              <a:ext cx="6678845" cy="3153335"/>
              <a:chOff x="4432815" y="1779331"/>
              <a:chExt cx="6678845" cy="3153335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7090987" y="3806311"/>
                <a:ext cx="413790" cy="1126355"/>
                <a:chOff x="7090987" y="3806311"/>
                <a:chExt cx="413790" cy="112635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/>
                    <p:cNvSpPr txBox="1"/>
                    <p:nvPr/>
                  </p:nvSpPr>
                  <p:spPr>
                    <a:xfrm>
                      <a:off x="7231084" y="4409446"/>
                      <a:ext cx="27369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29" name="TextBox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31084" y="4409446"/>
                      <a:ext cx="273693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/>
                    <p:cNvSpPr txBox="1"/>
                    <p:nvPr/>
                  </p:nvSpPr>
                  <p:spPr>
                    <a:xfrm>
                      <a:off x="7090987" y="3806311"/>
                      <a:ext cx="402656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3600" i="1" dirty="0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oMath>
                        </m:oMathPara>
                      </a14:m>
                      <a:endParaRPr lang="en-US" sz="3600" dirty="0"/>
                    </a:p>
                  </p:txBody>
                </p:sp>
              </mc:Choice>
              <mc:Fallback xmlns="">
                <p:sp>
                  <p:nvSpPr>
                    <p:cNvPr id="41" name="TextBox 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90987" y="3806311"/>
                      <a:ext cx="402656" cy="64633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4" name="TextBox 43"/>
              <p:cNvSpPr txBox="1"/>
              <p:nvPr/>
            </p:nvSpPr>
            <p:spPr>
              <a:xfrm>
                <a:off x="4432815" y="3271785"/>
                <a:ext cx="18982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imbalanced</a:t>
                </a:r>
              </a:p>
            </p:txBody>
          </p:sp>
          <p:sp>
            <p:nvSpPr>
              <p:cNvPr id="49" name="Trapezoid 48"/>
              <p:cNvSpPr/>
              <p:nvPr/>
            </p:nvSpPr>
            <p:spPr>
              <a:xfrm>
                <a:off x="5926499" y="2713313"/>
                <a:ext cx="4491497" cy="1104208"/>
              </a:xfrm>
              <a:prstGeom prst="trapezoid">
                <a:avLst>
                  <a:gd name="adj" fmla="val 102228"/>
                </a:avLst>
              </a:prstGeom>
              <a:noFill/>
              <a:ln w="28575">
                <a:solidFill>
                  <a:srgbClr val="0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7042119" y="1779331"/>
                <a:ext cx="406954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2 children yielding 3 subtrees merged in parent</a:t>
                </a:r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92" y="869744"/>
            <a:ext cx="5924883" cy="2328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oup 38"/>
          <p:cNvGrpSpPr/>
          <p:nvPr/>
        </p:nvGrpSpPr>
        <p:grpSpPr>
          <a:xfrm>
            <a:off x="1991074" y="365143"/>
            <a:ext cx="1590326" cy="2695172"/>
            <a:chOff x="1991074" y="365143"/>
            <a:chExt cx="1590326" cy="2695172"/>
          </a:xfrm>
        </p:grpSpPr>
        <p:grpSp>
          <p:nvGrpSpPr>
            <p:cNvPr id="8" name="Group 7"/>
            <p:cNvGrpSpPr/>
            <p:nvPr/>
          </p:nvGrpSpPr>
          <p:grpSpPr>
            <a:xfrm>
              <a:off x="3273177" y="365143"/>
              <a:ext cx="308223" cy="504601"/>
              <a:chOff x="5472777" y="729000"/>
              <a:chExt cx="308223" cy="50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solidFill>
                    <a:srgbClr val="FF0000">
                      <a:alpha val="30196"/>
                    </a:srgbClr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" name="Straight Arrow Connector 9"/>
              <p:cNvCxnSpPr/>
              <p:nvPr/>
            </p:nvCxnSpPr>
            <p:spPr>
              <a:xfrm>
                <a:off x="5626888" y="1005999"/>
                <a:ext cx="0" cy="2276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2055688" y="989491"/>
              <a:ext cx="308223" cy="504601"/>
              <a:chOff x="5472777" y="729000"/>
              <a:chExt cx="308223" cy="50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solidFill>
                    <a:srgbClr val="FF0000">
                      <a:alpha val="30196"/>
                    </a:srgbClr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/>
              <p:cNvCxnSpPr/>
              <p:nvPr/>
            </p:nvCxnSpPr>
            <p:spPr>
              <a:xfrm>
                <a:off x="5626888" y="1005999"/>
                <a:ext cx="0" cy="2276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2503056" y="1658084"/>
              <a:ext cx="308223" cy="504601"/>
              <a:chOff x="5472777" y="729000"/>
              <a:chExt cx="308223" cy="5046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solidFill>
                    <a:srgbClr val="FF0000">
                      <a:alpha val="30196"/>
                    </a:srgbClr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2777" y="729000"/>
                    <a:ext cx="308223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/>
              <p:nvPr/>
            </p:nvCxnSpPr>
            <p:spPr>
              <a:xfrm>
                <a:off x="5626888" y="1005999"/>
                <a:ext cx="0" cy="2276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Oval 16"/>
            <p:cNvSpPr/>
            <p:nvPr/>
          </p:nvSpPr>
          <p:spPr>
            <a:xfrm>
              <a:off x="2410691" y="2794464"/>
              <a:ext cx="270933" cy="265851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91074" y="1522283"/>
              <a:ext cx="301365" cy="248808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446035" y="2161305"/>
              <a:ext cx="301365" cy="248808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920434" y="1984406"/>
            <a:ext cx="1738740" cy="1160241"/>
            <a:chOff x="1920434" y="1984406"/>
            <a:chExt cx="1738740" cy="11602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071990" y="2621427"/>
                  <a:ext cx="4161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990" y="2621427"/>
                  <a:ext cx="41619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3385481" y="2597368"/>
                  <a:ext cx="2736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481" y="2597368"/>
                  <a:ext cx="273693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2152678" y="1984406"/>
                  <a:ext cx="4161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678" y="1984406"/>
                  <a:ext cx="416190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H="1" flipV="1">
              <a:off x="1920434" y="2285709"/>
              <a:ext cx="270508" cy="93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519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965430" y="4098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Complexities of Operations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965430" y="1359000"/>
                <a:ext cx="10261140" cy="462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b="1" dirty="0"/>
                  <a:t>Claim</a:t>
                </a:r>
                <a:r>
                  <a:rPr lang="en-US" sz="2800" b="0" dirty="0"/>
                  <a:t>: The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leaves of 2-3 tree  of height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 satisfy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By induction 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.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there are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leaves.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By induction, at root’s sons, there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). 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The root has either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sons, so</a:t>
                </a:r>
              </a:p>
              <a:p>
                <a:pPr algn="ctr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800" dirty="0"/>
                  <a:t>.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∎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Corollary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A </a:t>
                </a:r>
                <a:r>
                  <a:rPr lang="en-US" sz="2800" dirty="0"/>
                  <a:t>2-3 tree with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800" dirty="0"/>
                  <a:t>leaves has height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(</a:t>
                </a:r>
                <a:r>
                  <a:rPr lang="en-US" sz="28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HW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Corollary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INSERT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DELETE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complexity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(</a:t>
                </a:r>
                <a:r>
                  <a:rPr lang="en-US" sz="28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HW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59000"/>
                <a:ext cx="10261140" cy="4627229"/>
              </a:xfrm>
              <a:prstGeom prst="rect">
                <a:avLst/>
              </a:prstGeom>
              <a:blipFill>
                <a:blip r:embed="rId3"/>
                <a:stretch>
                  <a:fillRect l="-1188" t="-132" r="-950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46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E755D-C4A0-B0DC-2CBA-EB3FF0BB5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0282B-886D-2BAC-91A2-0740AF85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Search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49432-CE64-1D3E-A5F8-4C7B9931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6BF05-C0CE-638C-FD06-C2F085DA0EC6}"/>
              </a:ext>
            </a:extLst>
          </p:cNvPr>
          <p:cNvSpPr txBox="1"/>
          <p:nvPr/>
        </p:nvSpPr>
        <p:spPr>
          <a:xfrm>
            <a:off x="965430" y="3032956"/>
            <a:ext cx="10261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4800" b="1" dirty="0"/>
              <a:t>Supplementary </a:t>
            </a:r>
          </a:p>
        </p:txBody>
      </p:sp>
    </p:spTree>
    <p:extLst>
      <p:ext uri="{BB962C8B-B14F-4D97-AF65-F5344CB8AC3E}">
        <p14:creationId xmlns:p14="http://schemas.microsoft.com/office/powerpoint/2010/main" val="296482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282371" y="409876"/>
            <a:ext cx="5627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Random BSTs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Search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1344239"/>
                <a:ext cx="10261140" cy="4635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All operations are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b="0" dirty="0"/>
                  <a:t>, so what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b="0" dirty="0"/>
                  <a:t>?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12.4</m:t>
                    </m:r>
                  </m:oMath>
                </a14:m>
                <a:r>
                  <a:rPr lang="en-US" sz="2800" b="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b="0" dirty="0"/>
                  <a:t> depends on the order and the values of inserted and deleted keys.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Study only random insertions and assume w.l.o.g keys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the root’s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chosen randomly uniformly from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b="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 reside in </a:t>
                </a:r>
                <a:r>
                  <a:rPr lang="en-US" sz="2800" b="1" dirty="0"/>
                  <a:t>randomly built </a:t>
                </a:r>
                <a:r>
                  <a:rPr lang="en-US" sz="2800" b="0" dirty="0">
                    <a:solidFill>
                      <a:srgbClr val="0000FF"/>
                    </a:solidFill>
                  </a:rPr>
                  <a:t>left</a:t>
                </a:r>
                <a:r>
                  <a:rPr lang="en-US" sz="2800" b="0" dirty="0"/>
                  <a:t> and </a:t>
                </a:r>
                <a:r>
                  <a:rPr lang="en-US" sz="2800" b="0" dirty="0">
                    <a:solidFill>
                      <a:srgbClr val="FF0000"/>
                    </a:solidFill>
                  </a:rPr>
                  <a:t>right</a:t>
                </a:r>
                <a:r>
                  <a:rPr lang="en-US" sz="2800" b="0" dirty="0"/>
                  <a:t> subtrees, </a:t>
                </a:r>
                <a:r>
                  <a:rPr lang="en-US" sz="2800" dirty="0"/>
                  <a:t>independent of each other.</a:t>
                </a:r>
                <a:endParaRPr lang="en-US" sz="2800" b="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44239"/>
                <a:ext cx="10261140" cy="4635115"/>
              </a:xfrm>
              <a:prstGeom prst="rect">
                <a:avLst/>
              </a:prstGeom>
              <a:blipFill>
                <a:blip r:embed="rId3"/>
                <a:stretch>
                  <a:fillRect l="-1188" t="-263" r="-1188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27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692696"/>
                <a:ext cx="10261140" cy="218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random variable: </a:t>
                </a:r>
                <a:r>
                  <a:rPr lang="en-US" sz="2800" b="0" dirty="0"/>
                  <a:t>height of randomly built</a:t>
                </a:r>
                <a:r>
                  <a:rPr lang="en-US" sz="2800" dirty="0"/>
                  <a:t> BST </a:t>
                </a:r>
                <a:r>
                  <a:rPr lang="en-US" sz="2800" b="0" dirty="0"/>
                  <a:t>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(chosen randomly) </a:t>
                </a:r>
                <a:r>
                  <a:rPr lang="en-US" sz="2800" b="0" dirty="0"/>
                  <a:t>then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2696"/>
                <a:ext cx="10261140" cy="2182136"/>
              </a:xfrm>
              <a:prstGeom prst="rect">
                <a:avLst/>
              </a:prstGeom>
              <a:blipFill>
                <a:blip r:embed="rId3"/>
                <a:stretch>
                  <a:fillRect l="-1188" t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 86"/>
          <p:cNvGrpSpPr/>
          <p:nvPr/>
        </p:nvGrpSpPr>
        <p:grpSpPr>
          <a:xfrm>
            <a:off x="2696682" y="3102684"/>
            <a:ext cx="6820758" cy="3015853"/>
            <a:chOff x="3327539" y="2945564"/>
            <a:chExt cx="6820758" cy="3015853"/>
          </a:xfrm>
        </p:grpSpPr>
        <p:sp>
          <p:nvSpPr>
            <p:cNvPr id="24" name="Oval 23"/>
            <p:cNvSpPr/>
            <p:nvPr/>
          </p:nvSpPr>
          <p:spPr>
            <a:xfrm>
              <a:off x="6487340" y="2947184"/>
              <a:ext cx="545232" cy="5400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7" idx="0"/>
              <a:endCxn id="24" idx="3"/>
            </p:cNvCxnSpPr>
            <p:nvPr/>
          </p:nvCxnSpPr>
          <p:spPr>
            <a:xfrm flipV="1">
              <a:off x="5271176" y="3408154"/>
              <a:ext cx="1296011" cy="6450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8" idx="0"/>
              <a:endCxn id="24" idx="5"/>
            </p:cNvCxnSpPr>
            <p:nvPr/>
          </p:nvCxnSpPr>
          <p:spPr>
            <a:xfrm flipH="1" flipV="1">
              <a:off x="6952725" y="3408154"/>
              <a:ext cx="1321925" cy="5789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/>
            <p:cNvGrpSpPr/>
            <p:nvPr/>
          </p:nvGrpSpPr>
          <p:grpSpPr>
            <a:xfrm>
              <a:off x="6409589" y="3482954"/>
              <a:ext cx="670761" cy="2478463"/>
              <a:chOff x="1152106" y="3385525"/>
              <a:chExt cx="670761" cy="2639319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 flipH="1">
                <a:off x="1487487" y="3385525"/>
                <a:ext cx="1" cy="2639319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/>
                  <p:cNvSpPr/>
                  <p:nvPr/>
                </p:nvSpPr>
                <p:spPr>
                  <a:xfrm>
                    <a:off x="1152106" y="4293679"/>
                    <a:ext cx="670761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Rectangle 3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2106" y="4293679"/>
                    <a:ext cx="670761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4" name="Group 63"/>
            <p:cNvGrpSpPr/>
            <p:nvPr/>
          </p:nvGrpSpPr>
          <p:grpSpPr>
            <a:xfrm>
              <a:off x="3327539" y="4028194"/>
              <a:ext cx="939680" cy="1908247"/>
              <a:chOff x="3838242" y="4178074"/>
              <a:chExt cx="939680" cy="1908247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 flipH="1">
                <a:off x="4301014" y="4178074"/>
                <a:ext cx="2368" cy="1908247"/>
              </a:xfrm>
              <a:prstGeom prst="line">
                <a:avLst/>
              </a:prstGeom>
              <a:ln w="28575">
                <a:solidFill>
                  <a:srgbClr val="0000FF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/>
                  <p:cNvSpPr/>
                  <p:nvPr/>
                </p:nvSpPr>
                <p:spPr>
                  <a:xfrm>
                    <a:off x="3838242" y="4749285"/>
                    <a:ext cx="939680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8242" y="4749285"/>
                    <a:ext cx="939680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/>
            <p:cNvGrpSpPr/>
            <p:nvPr/>
          </p:nvGrpSpPr>
          <p:grpSpPr>
            <a:xfrm>
              <a:off x="9186495" y="3987060"/>
              <a:ext cx="961802" cy="1967845"/>
              <a:chOff x="6806903" y="3552052"/>
              <a:chExt cx="961802" cy="1967845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7285920" y="3552052"/>
                <a:ext cx="0" cy="1967845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/>
                  <p:cNvSpPr/>
                  <p:nvPr/>
                </p:nvSpPr>
                <p:spPr>
                  <a:xfrm>
                    <a:off x="6806903" y="4196048"/>
                    <a:ext cx="961802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Rectangle 5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6903" y="4196048"/>
                    <a:ext cx="961802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Isosceles Triangle 17"/>
            <p:cNvSpPr/>
            <p:nvPr/>
          </p:nvSpPr>
          <p:spPr>
            <a:xfrm>
              <a:off x="7362805" y="3987060"/>
              <a:ext cx="1823690" cy="1974357"/>
            </a:xfrm>
            <a:prstGeom prst="triangle">
              <a:avLst/>
            </a:prstGeom>
            <a:solidFill>
              <a:srgbClr val="FF0000">
                <a:alpha val="30196"/>
              </a:srgb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4388238" y="4053171"/>
              <a:ext cx="1765875" cy="1908246"/>
            </a:xfrm>
            <a:prstGeom prst="triangle">
              <a:avLst/>
            </a:prstGeom>
            <a:solidFill>
              <a:srgbClr val="0000FF">
                <a:alpha val="30196"/>
              </a:srgbClr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6561079" y="2945564"/>
                  <a:ext cx="391646" cy="52322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1079" y="2945564"/>
                  <a:ext cx="39164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/>
                <p:cNvSpPr/>
                <p:nvPr/>
              </p:nvSpPr>
              <p:spPr>
                <a:xfrm>
                  <a:off x="4225824" y="5238764"/>
                  <a:ext cx="2090701" cy="52322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824" y="5238764"/>
                  <a:ext cx="209070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/>
                <p:cNvSpPr/>
                <p:nvPr/>
              </p:nvSpPr>
              <p:spPr>
                <a:xfrm>
                  <a:off x="7222214" y="5238764"/>
                  <a:ext cx="2104871" cy="523220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214" y="5238764"/>
                  <a:ext cx="2104871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9859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632668"/>
                <a:ext cx="10261140" cy="139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Define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800" dirty="0"/>
                  <a:t>, then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32668"/>
                <a:ext cx="10261140" cy="1392176"/>
              </a:xfrm>
              <a:prstGeom prst="rect">
                <a:avLst/>
              </a:prstGeom>
              <a:blipFill>
                <a:blip r:embed="rId3"/>
                <a:stretch>
                  <a:fillRect l="-1188" t="-877" b="-87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C443507-F42F-1DB0-7EED-7B288BD0DFBC}"/>
              </a:ext>
            </a:extLst>
          </p:cNvPr>
          <p:cNvGrpSpPr/>
          <p:nvPr/>
        </p:nvGrpSpPr>
        <p:grpSpPr>
          <a:xfrm>
            <a:off x="970656" y="1988840"/>
            <a:ext cx="10261140" cy="2182521"/>
            <a:chOff x="970656" y="1988840"/>
            <a:chExt cx="10261140" cy="21825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970656" y="1988840"/>
                  <a:ext cx="10261140" cy="21825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3000"/>
                    </a:spcAft>
                  </a:pPr>
                  <a:r>
                    <a:rPr lang="en-US" sz="2800" dirty="0"/>
                    <a:t>Define random variables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800" dirty="0"/>
                    <a:t> ,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800" b="0" i="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b>
                                  <m:sSubPr>
                                    <m:ctrlP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b>
                                  <m:sSubPr>
                                    <m:ctrlP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r>
                    <a:rPr lang="en-US" sz="2800" dirty="0"/>
                    <a:t>, </a:t>
                  </a:r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 </a:t>
                  </a:r>
                  <a:endParaRPr lang="en-US" sz="2800" b="0" i="0" dirty="0"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20000"/>
                    </a:lnSpc>
                    <a:spcAft>
                      <a:spcPts val="3000"/>
                    </a:spcAft>
                  </a:pPr>
                  <a:r>
                    <a:rPr lang="en-US" sz="2800" dirty="0"/>
                    <a:t>(2)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sz="280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sz="280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656" y="1988840"/>
                  <a:ext cx="10261140" cy="2182521"/>
                </a:xfrm>
                <a:prstGeom prst="rect">
                  <a:avLst/>
                </a:prstGeom>
                <a:blipFill>
                  <a:blip r:embed="rId4"/>
                  <a:stretch>
                    <a:fillRect l="-1188" b="-6145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/>
            <p:cNvGrpSpPr/>
            <p:nvPr/>
          </p:nvGrpSpPr>
          <p:grpSpPr>
            <a:xfrm>
              <a:off x="2633954" y="3024532"/>
              <a:ext cx="2351584" cy="523221"/>
              <a:chOff x="4743505" y="5043095"/>
              <a:chExt cx="2351584" cy="488266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4743505" y="5043095"/>
                <a:ext cx="2351584" cy="488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mean, average</a:t>
                </a:r>
              </a:p>
            </p:txBody>
          </p:sp>
          <p:sp>
            <p:nvSpPr>
              <p:cNvPr id="8" name="Rectangular Callout 7"/>
              <p:cNvSpPr/>
              <p:nvPr/>
            </p:nvSpPr>
            <p:spPr>
              <a:xfrm>
                <a:off x="4785171" y="5086329"/>
                <a:ext cx="2268252" cy="432436"/>
              </a:xfrm>
              <a:prstGeom prst="wedgeRectCallout">
                <a:avLst>
                  <a:gd name="adj1" fmla="val 5423"/>
                  <a:gd name="adj2" fmla="val 103438"/>
                </a:avLst>
              </a:prstGeom>
              <a:solidFill>
                <a:schemeClr val="tx1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701C1B-E3CB-D174-303F-25DE1AD8AF95}"/>
                  </a:ext>
                </a:extLst>
              </p:cNvPr>
              <p:cNvSpPr txBox="1"/>
              <p:nvPr/>
            </p:nvSpPr>
            <p:spPr>
              <a:xfrm>
                <a:off x="965430" y="4365104"/>
                <a:ext cx="10261140" cy="1837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Choosing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, subtrees randomly built on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 keys.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Other than number of keys, subtrees’ structure not affected by the choice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.</a:t>
                </a:r>
                <a:endParaRPr lang="he-IL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701C1B-E3CB-D174-303F-25DE1AD8A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365104"/>
                <a:ext cx="10261140" cy="1837106"/>
              </a:xfrm>
              <a:prstGeom prst="rect">
                <a:avLst/>
              </a:prstGeom>
              <a:blipFill>
                <a:blip r:embed="rId5"/>
                <a:stretch>
                  <a:fillRect l="-1188" t="-332" r="-1188" b="-89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0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40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965430" y="3764377"/>
            <a:ext cx="10261140" cy="1536831"/>
            <a:chOff x="965430" y="3764377"/>
            <a:chExt cx="10261140" cy="1536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965430" y="3764377"/>
                  <a:ext cx="10261140" cy="15368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a14:m>
                  <a:r>
                    <a:rPr lang="en-US" sz="2800" dirty="0"/>
                    <a:t>.  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 </a:t>
                  </a: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800" dirty="0"/>
                    <a:t> is recursive.</a:t>
                  </a: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3764377"/>
                  <a:ext cx="10261140" cy="1536831"/>
                </a:xfrm>
                <a:prstGeom prst="rect">
                  <a:avLst/>
                </a:prstGeom>
                <a:blipFill>
                  <a:blip r:embed="rId6"/>
                  <a:stretch>
                    <a:fillRect l="-1188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/>
            <p:cNvGrpSpPr/>
            <p:nvPr/>
          </p:nvGrpSpPr>
          <p:grpSpPr>
            <a:xfrm>
              <a:off x="4486442" y="4699062"/>
              <a:ext cx="3812645" cy="523220"/>
              <a:chOff x="3562892" y="4723902"/>
              <a:chExt cx="3812645" cy="488266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3562892" y="4723902"/>
                <a:ext cx="3812645" cy="488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summands appear twice</a:t>
                </a:r>
              </a:p>
            </p:txBody>
          </p:sp>
          <p:sp>
            <p:nvSpPr>
              <p:cNvPr id="21" name="Rectangular Callout 20"/>
              <p:cNvSpPr/>
              <p:nvPr/>
            </p:nvSpPr>
            <p:spPr>
              <a:xfrm>
                <a:off x="3624278" y="4757502"/>
                <a:ext cx="3689874" cy="421068"/>
              </a:xfrm>
              <a:prstGeom prst="wedgeRectCallout">
                <a:avLst>
                  <a:gd name="adj1" fmla="val -35916"/>
                  <a:gd name="adj2" fmla="val -155703"/>
                </a:avLst>
              </a:prstGeom>
              <a:solidFill>
                <a:schemeClr val="tx1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65430" y="5409587"/>
                <a:ext cx="10261140" cy="724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Show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box>
                      <m:box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e>
                    </m:box>
                  </m:oMath>
                </a14:m>
                <a:r>
                  <a:rPr lang="en-US" sz="2800" dirty="0"/>
                  <a:t> by substitution,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 12.4</m:t>
                    </m:r>
                  </m:oMath>
                </a14:m>
                <a:r>
                  <a:rPr lang="en-US" sz="2800" dirty="0"/>
                  <a:t>).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409587"/>
                <a:ext cx="10261140" cy="724942"/>
              </a:xfrm>
              <a:prstGeom prst="rect">
                <a:avLst/>
              </a:prstGeom>
              <a:blipFill>
                <a:blip r:embed="rId7"/>
                <a:stretch>
                  <a:fillRect l="-1188" b="-134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0D7A723-4A56-B844-03C6-604487D5CDBF}"/>
              </a:ext>
            </a:extLst>
          </p:cNvPr>
          <p:cNvGrpSpPr/>
          <p:nvPr/>
        </p:nvGrpSpPr>
        <p:grpSpPr>
          <a:xfrm>
            <a:off x="965430" y="1248786"/>
            <a:ext cx="10261140" cy="2468246"/>
            <a:chOff x="965430" y="1248786"/>
            <a:chExt cx="10261140" cy="24682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965430" y="1674742"/>
                  <a:ext cx="10261140" cy="20422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dirty="0" smtClean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sz="2800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sz="2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</m:nary>
                          </m:e>
                        </m:d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800" b="0" i="1" dirty="0">
                    <a:latin typeface="Cambria Math" panose="02040503050406030204" pitchFamily="18" charset="0"/>
                  </a:endParaRP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b="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endParaRPr lang="en-US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1674742"/>
                  <a:ext cx="10261140" cy="204229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/>
            <p:cNvGrpSpPr/>
            <p:nvPr/>
          </p:nvGrpSpPr>
          <p:grpSpPr>
            <a:xfrm>
              <a:off x="4011719" y="1248786"/>
              <a:ext cx="5615408" cy="523220"/>
              <a:chOff x="3684948" y="1340768"/>
              <a:chExt cx="5615408" cy="523220"/>
            </a:xfrm>
          </p:grpSpPr>
          <p:sp>
            <p:nvSpPr>
              <p:cNvPr id="14" name="Rectangular Callout 13"/>
              <p:cNvSpPr/>
              <p:nvPr/>
            </p:nvSpPr>
            <p:spPr>
              <a:xfrm>
                <a:off x="3899756" y="1423136"/>
                <a:ext cx="5148572" cy="440851"/>
              </a:xfrm>
              <a:prstGeom prst="wedgeRectCallout">
                <a:avLst>
                  <a:gd name="adj1" fmla="val -42275"/>
                  <a:gd name="adj2" fmla="val 151913"/>
                </a:avLst>
              </a:prstGeom>
              <a:solidFill>
                <a:schemeClr val="tx1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3684948" y="1340768"/>
                    <a:ext cx="561540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Independence: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2800" i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oMath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4948" y="1340768"/>
                    <a:ext cx="561540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/>
            <p:cNvGrpSpPr/>
            <p:nvPr/>
          </p:nvGrpSpPr>
          <p:grpSpPr>
            <a:xfrm>
              <a:off x="1271464" y="1289003"/>
              <a:ext cx="1661139" cy="523220"/>
              <a:chOff x="1775520" y="1340768"/>
              <a:chExt cx="1661139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1775520" y="1340768"/>
                    <a:ext cx="166113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2800" dirty="0"/>
                      <a:t>linearity </a:t>
                    </a:r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5520" y="1340768"/>
                    <a:ext cx="1661139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1628" r="-1208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Rectangular Callout 5"/>
              <p:cNvSpPr/>
              <p:nvPr/>
            </p:nvSpPr>
            <p:spPr>
              <a:xfrm>
                <a:off x="1827590" y="1381953"/>
                <a:ext cx="1556998" cy="440850"/>
              </a:xfrm>
              <a:prstGeom prst="wedgeRectCallout">
                <a:avLst>
                  <a:gd name="adj1" fmla="val 19792"/>
                  <a:gd name="adj2" fmla="val 144614"/>
                </a:avLst>
              </a:prstGeom>
              <a:solidFill>
                <a:schemeClr val="tx1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DB047C-CF42-AA49-1FEF-3275DAEBDEBC}"/>
                </a:ext>
              </a:extLst>
            </p:cNvPr>
            <p:cNvGrpSpPr/>
            <p:nvPr/>
          </p:nvGrpSpPr>
          <p:grpSpPr>
            <a:xfrm>
              <a:off x="3238637" y="1270545"/>
              <a:ext cx="680734" cy="523220"/>
              <a:chOff x="6747415" y="2732232"/>
              <a:chExt cx="680734" cy="523220"/>
            </a:xfrm>
          </p:grpSpPr>
          <p:sp>
            <p:nvSpPr>
              <p:cNvPr id="7" name="Rectangular Callout 5">
                <a:extLst>
                  <a:ext uri="{FF2B5EF4-FFF2-40B4-BE49-F238E27FC236}">
                    <a16:creationId xmlns:a16="http://schemas.microsoft.com/office/drawing/2014/main" id="{2907BE7B-A2F9-93A2-F111-F7F09782FECD}"/>
                  </a:ext>
                </a:extLst>
              </p:cNvPr>
              <p:cNvSpPr/>
              <p:nvPr/>
            </p:nvSpPr>
            <p:spPr>
              <a:xfrm>
                <a:off x="6852084" y="2798672"/>
                <a:ext cx="576065" cy="440850"/>
              </a:xfrm>
              <a:prstGeom prst="wedgeRectCallout">
                <a:avLst>
                  <a:gd name="adj1" fmla="val 58488"/>
                  <a:gd name="adj2" fmla="val 149599"/>
                </a:avLst>
              </a:prstGeom>
              <a:solidFill>
                <a:schemeClr val="tx1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994A475-09E9-17B2-C7F2-DFEB7415C46F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415" y="2732232"/>
                    <a:ext cx="68073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2800" dirty="0"/>
                      <a:t>(2) 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994A475-09E9-17B2-C7F2-DFEB7415C4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415" y="2732232"/>
                    <a:ext cx="680734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464" t="-10465" r="-28571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A85888-D44E-44A1-39CD-52AFC244D32C}"/>
                  </a:ext>
                </a:extLst>
              </p:cNvPr>
              <p:cNvSpPr txBox="1"/>
              <p:nvPr/>
            </p:nvSpPr>
            <p:spPr>
              <a:xfrm>
                <a:off x="838200" y="584684"/>
                <a:ext cx="10515600" cy="6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are all independent of each other, hence (1)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A85888-D44E-44A1-39CD-52AFC244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4684"/>
                <a:ext cx="10515600" cy="603883"/>
              </a:xfrm>
              <a:prstGeom prst="rect">
                <a:avLst/>
              </a:prstGeom>
              <a:blipFill>
                <a:blip r:embed="rId10"/>
                <a:stretch>
                  <a:fillRect t="-2020" b="-2626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68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656692"/>
                <a:ext cx="10261140" cy="13572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Definition: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is convex if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l-GR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sSub>
                          <m:sSubPr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l-GR" sz="28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1357295"/>
              </a:xfrm>
              <a:prstGeom prst="rect">
                <a:avLst/>
              </a:prstGeom>
              <a:blipFill>
                <a:blip r:embed="rId3"/>
                <a:stretch>
                  <a:fillRect l="-1188" t="-901" b="-99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/>
          <p:cNvSpPr/>
          <p:nvPr/>
        </p:nvSpPr>
        <p:spPr>
          <a:xfrm rot="5217164">
            <a:off x="3559883" y="365635"/>
            <a:ext cx="5220580" cy="3991264"/>
          </a:xfrm>
          <a:prstGeom prst="arc">
            <a:avLst>
              <a:gd name="adj1" fmla="val 18441357"/>
              <a:gd name="adj2" fmla="val 4524747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797710" y="2613447"/>
            <a:ext cx="4818856" cy="3078062"/>
            <a:chOff x="5921946" y="2618994"/>
            <a:chExt cx="4818856" cy="3078062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096000" y="2618994"/>
              <a:ext cx="0" cy="3078062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5921946" y="5450771"/>
              <a:ext cx="4818856" cy="554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472264" y="5168289"/>
                <a:ext cx="8280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264" y="5168289"/>
                <a:ext cx="82809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981065" y="2489213"/>
                <a:ext cx="8280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065" y="2489213"/>
                <a:ext cx="82809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>
            <a:off x="4439816" y="3633292"/>
            <a:ext cx="3024336" cy="695808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439816" y="3633292"/>
            <a:ext cx="7186" cy="179660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7491166" y="4387502"/>
            <a:ext cx="12563" cy="107745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145819" y="5419216"/>
                <a:ext cx="6125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19" y="5419216"/>
                <a:ext cx="61254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193323" y="5341059"/>
                <a:ext cx="6208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323" y="5341059"/>
                <a:ext cx="62081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517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Search Trees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1088740"/>
                <a:ext cx="10261140" cy="1357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For convex function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of a random variable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b="0" dirty="0"/>
                  <a:t> there is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, provided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2800" dirty="0"/>
                  <a:t> exists and finite.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88740"/>
                <a:ext cx="10261140" cy="1357295"/>
              </a:xfrm>
              <a:prstGeom prst="rect">
                <a:avLst/>
              </a:prstGeom>
              <a:blipFill>
                <a:blip r:embed="rId3"/>
                <a:stretch>
                  <a:fillRect l="-1188" t="-901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964178" y="3032956"/>
            <a:ext cx="10261140" cy="3021725"/>
            <a:chOff x="964178" y="3137151"/>
            <a:chExt cx="10261140" cy="3021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964178" y="3137151"/>
                  <a:ext cx="10261140" cy="3021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5400"/>
                    </a:spcAft>
                  </a:pP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US" sz="2800" b="0" dirty="0"/>
                    <a:t> is convex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sz="2800" b="0" dirty="0"/>
                    <a:t>) </a:t>
                  </a:r>
                  <a:r>
                    <a:rPr lang="en-US" sz="2800" b="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p>
                            </m:sSup>
                          </m:e>
                        </m:d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box>
                          <m:box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box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b="0" dirty="0"/>
                </a:p>
                <a:p>
                  <a:pPr algn="just">
                    <a:lnSpc>
                      <a:spcPct val="120000"/>
                    </a:lnSpc>
                    <a:spcBef>
                      <a:spcPts val="1800"/>
                    </a:spcBef>
                    <a:spcAft>
                      <a:spcPts val="1800"/>
                    </a:spcAft>
                  </a:pPr>
                  <a:r>
                    <a:rPr lang="en-US" sz="2800" b="0" dirty="0"/>
                    <a:t>Log of both sides </a:t>
                  </a:r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</a:t>
                  </a:r>
                  <a:r>
                    <a:rPr lang="en-US" sz="2800" b="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a14:m>
                  <a:r>
                    <a:rPr lang="en-US" sz="2800" b="0" dirty="0"/>
                    <a:t>.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178" y="3137151"/>
                  <a:ext cx="10261140" cy="3021725"/>
                </a:xfrm>
                <a:prstGeom prst="rect">
                  <a:avLst/>
                </a:prstGeom>
                <a:blipFill>
                  <a:blip r:embed="rId4"/>
                  <a:stretch>
                    <a:fillRect l="-1188" t="-1010" b="-26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/>
            <p:cNvGrpSpPr/>
            <p:nvPr/>
          </p:nvGrpSpPr>
          <p:grpSpPr>
            <a:xfrm>
              <a:off x="2999656" y="3798882"/>
              <a:ext cx="3106851" cy="523220"/>
              <a:chOff x="2300964" y="3869490"/>
              <a:chExt cx="3106851" cy="523220"/>
            </a:xfrm>
          </p:grpSpPr>
          <p:sp>
            <p:nvSpPr>
              <p:cNvPr id="11" name="Rectangular Callout 10"/>
              <p:cNvSpPr/>
              <p:nvPr/>
            </p:nvSpPr>
            <p:spPr>
              <a:xfrm>
                <a:off x="2300964" y="3899404"/>
                <a:ext cx="3106851" cy="463392"/>
              </a:xfrm>
              <a:prstGeom prst="wedgeRectCallout">
                <a:avLst>
                  <a:gd name="adj1" fmla="val -17248"/>
                  <a:gd name="adj2" fmla="val 105755"/>
                </a:avLst>
              </a:prstGeom>
              <a:solidFill>
                <a:schemeClr val="tx1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2300964" y="3869490"/>
                    <a:ext cx="309634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0964" y="3869490"/>
                    <a:ext cx="3096344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09092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15870</TotalTime>
  <Words>3950</Words>
  <Application>Microsoft Office PowerPoint</Application>
  <PresentationFormat>Widescreen</PresentationFormat>
  <Paragraphs>533</Paragraphs>
  <Slides>42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Courier New</vt:lpstr>
      <vt:lpstr>Office Theme</vt:lpstr>
      <vt:lpstr>Search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462</cp:revision>
  <dcterms:created xsi:type="dcterms:W3CDTF">2021-10-08T01:25:47Z</dcterms:created>
  <dcterms:modified xsi:type="dcterms:W3CDTF">2026-05-05T07:46:52Z</dcterms:modified>
</cp:coreProperties>
</file>