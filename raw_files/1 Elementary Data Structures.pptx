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4" r:id="rId3"/>
    <p:sldId id="275" r:id="rId4"/>
    <p:sldId id="276" r:id="rId5"/>
    <p:sldId id="277" r:id="rId6"/>
    <p:sldId id="278" r:id="rId7"/>
    <p:sldId id="257" r:id="rId8"/>
    <p:sldId id="259" r:id="rId9"/>
    <p:sldId id="25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9" r:id="rId18"/>
    <p:sldId id="269" r:id="rId19"/>
    <p:sldId id="270" r:id="rId20"/>
    <p:sldId id="271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FBFBF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03" d="100"/>
          <a:sy n="103" d="100"/>
        </p:scale>
        <p:origin x="4241" y="4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undo custSel modSld">
      <pc:chgData name="Shmuel Wimer" userId="8ef14acc-0d94-4859-bee1-3b6488f0f102" providerId="ADAL" clId="{2891196E-E581-47E3-AAD7-5B981CEF6CD4}" dt="2026-03-10T15:32:28.910" v="29" actId="20577"/>
      <pc:docMkLst>
        <pc:docMk/>
      </pc:docMkLst>
      <pc:sldChg chg="modSp mod">
        <pc:chgData name="Shmuel Wimer" userId="8ef14acc-0d94-4859-bee1-3b6488f0f102" providerId="ADAL" clId="{2891196E-E581-47E3-AAD7-5B981CEF6CD4}" dt="2026-03-10T15:32:28.910" v="29" actId="20577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2:28.910" v="29" actId="20577"/>
          <ac:spMkLst>
            <pc:docMk/>
            <pc:sldMk cId="4163084423" sldId="256"/>
            <ac:spMk id="1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1B977-A81E-4356-BBF0-6088A1BEF76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312B9-F9E2-4E54-B9F7-D43A5754F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61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6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9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93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30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39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22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78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9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38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13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635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.png"/><Relationship Id="rId3" Type="http://schemas.openxmlformats.org/officeDocument/2006/relationships/image" Target="../media/image410.png"/><Relationship Id="rId7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10.png"/><Relationship Id="rId15" Type="http://schemas.openxmlformats.org/officeDocument/2006/relationships/image" Target="../media/image16.png"/><Relationship Id="rId19" Type="http://schemas.openxmlformats.org/officeDocument/2006/relationships/image" Target="../media/image20.png"/><Relationship Id="rId4" Type="http://schemas.openxmlformats.org/officeDocument/2006/relationships/image" Target="../media/image5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9" Type="http://schemas.openxmlformats.org/officeDocument/2006/relationships/image" Target="../media/image58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50" Type="http://schemas.openxmlformats.org/officeDocument/2006/relationships/image" Target="../media/image69.png"/><Relationship Id="rId55" Type="http://schemas.openxmlformats.org/officeDocument/2006/relationships/image" Target="../media/image74.png"/><Relationship Id="rId63" Type="http://schemas.openxmlformats.org/officeDocument/2006/relationships/image" Target="../media/image82.png"/><Relationship Id="rId68" Type="http://schemas.openxmlformats.org/officeDocument/2006/relationships/image" Target="../media/image87.png"/><Relationship Id="rId7" Type="http://schemas.openxmlformats.org/officeDocument/2006/relationships/image" Target="../media/image26.png"/><Relationship Id="rId71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5.png"/><Relationship Id="rId29" Type="http://schemas.openxmlformats.org/officeDocument/2006/relationships/image" Target="../media/image48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3" Type="http://schemas.openxmlformats.org/officeDocument/2006/relationships/image" Target="../media/image72.png"/><Relationship Id="rId58" Type="http://schemas.openxmlformats.org/officeDocument/2006/relationships/image" Target="../media/image77.png"/><Relationship Id="rId66" Type="http://schemas.openxmlformats.org/officeDocument/2006/relationships/image" Target="../media/image85.png"/><Relationship Id="rId74" Type="http://schemas.openxmlformats.org/officeDocument/2006/relationships/image" Target="../media/image9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49" Type="http://schemas.openxmlformats.org/officeDocument/2006/relationships/image" Target="../media/image68.png"/><Relationship Id="rId57" Type="http://schemas.openxmlformats.org/officeDocument/2006/relationships/image" Target="../media/image76.png"/><Relationship Id="rId61" Type="http://schemas.openxmlformats.org/officeDocument/2006/relationships/image" Target="../media/image80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52" Type="http://schemas.openxmlformats.org/officeDocument/2006/relationships/image" Target="../media/image71.png"/><Relationship Id="rId60" Type="http://schemas.openxmlformats.org/officeDocument/2006/relationships/image" Target="../media/image79.png"/><Relationship Id="rId65" Type="http://schemas.openxmlformats.org/officeDocument/2006/relationships/image" Target="../media/image84.png"/><Relationship Id="rId73" Type="http://schemas.openxmlformats.org/officeDocument/2006/relationships/image" Target="../media/image92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Relationship Id="rId43" Type="http://schemas.openxmlformats.org/officeDocument/2006/relationships/image" Target="../media/image62.png"/><Relationship Id="rId48" Type="http://schemas.openxmlformats.org/officeDocument/2006/relationships/image" Target="../media/image67.png"/><Relationship Id="rId56" Type="http://schemas.openxmlformats.org/officeDocument/2006/relationships/image" Target="../media/image75.png"/><Relationship Id="rId64" Type="http://schemas.openxmlformats.org/officeDocument/2006/relationships/image" Target="../media/image83.png"/><Relationship Id="rId69" Type="http://schemas.openxmlformats.org/officeDocument/2006/relationships/image" Target="../media/image88.png"/><Relationship Id="rId8" Type="http://schemas.openxmlformats.org/officeDocument/2006/relationships/image" Target="../media/image27.png"/><Relationship Id="rId51" Type="http://schemas.openxmlformats.org/officeDocument/2006/relationships/image" Target="../media/image70.png"/><Relationship Id="rId72" Type="http://schemas.openxmlformats.org/officeDocument/2006/relationships/image" Target="../media/image91.png"/><Relationship Id="rId3" Type="http://schemas.openxmlformats.org/officeDocument/2006/relationships/image" Target="../media/image22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59" Type="http://schemas.openxmlformats.org/officeDocument/2006/relationships/image" Target="../media/image78.png"/><Relationship Id="rId67" Type="http://schemas.openxmlformats.org/officeDocument/2006/relationships/image" Target="../media/image86.png"/><Relationship Id="rId20" Type="http://schemas.openxmlformats.org/officeDocument/2006/relationships/image" Target="../media/image39.png"/><Relationship Id="rId41" Type="http://schemas.openxmlformats.org/officeDocument/2006/relationships/image" Target="../media/image60.png"/><Relationship Id="rId54" Type="http://schemas.openxmlformats.org/officeDocument/2006/relationships/image" Target="../media/image73.png"/><Relationship Id="rId62" Type="http://schemas.openxmlformats.org/officeDocument/2006/relationships/image" Target="../media/image81.png"/><Relationship Id="rId70" Type="http://schemas.openxmlformats.org/officeDocument/2006/relationships/image" Target="../media/image89.png"/><Relationship Id="rId75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99.png"/><Relationship Id="rId7" Type="http://schemas.openxmlformats.org/officeDocument/2006/relationships/image" Target="../media/image9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0.png"/><Relationship Id="rId5" Type="http://schemas.openxmlformats.org/officeDocument/2006/relationships/image" Target="../media/image970.png"/><Relationship Id="rId4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00.png"/><Relationship Id="rId7" Type="http://schemas.openxmlformats.org/officeDocument/2006/relationships/image" Target="../media/image10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0.png"/><Relationship Id="rId5" Type="http://schemas.openxmlformats.org/officeDocument/2006/relationships/image" Target="../media/image1040.png"/><Relationship Id="rId4" Type="http://schemas.openxmlformats.org/officeDocument/2006/relationships/image" Target="../media/image105.png"/><Relationship Id="rId9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0.png"/><Relationship Id="rId4" Type="http://schemas.openxmlformats.org/officeDocument/2006/relationships/image" Target="../media/image10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Elementary Data Structures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by </a:t>
            </a:r>
            <a:r>
              <a:rPr lang="en-US"/>
              <a:t>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406405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289159"/>
                <a:ext cx="10261140" cy="4732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An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-element array, 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-array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sz="2800" dirty="0"/>
                  <a:t> data structure (DS) whose elements (keys) are referenced by their index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An array is usually stored in the computer’s DRAM contiguously.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Its usage is shown for a sorting problem where a number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needs to be permuted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s.t.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An algorithm called </a:t>
                </a:r>
                <a:r>
                  <a:rPr lang="en-US" sz="2800" b="1" dirty="0"/>
                  <a:t>insertion sort </a:t>
                </a:r>
                <a:r>
                  <a:rPr lang="en-US" sz="2800" dirty="0"/>
                  <a:t>permutes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s.t. upon termination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89159"/>
                <a:ext cx="10261140" cy="4732129"/>
              </a:xfrm>
              <a:prstGeom prst="rect">
                <a:avLst/>
              </a:prstGeom>
              <a:blipFill>
                <a:blip r:embed="rId3"/>
                <a:stretch>
                  <a:fillRect l="-1188" t="-129" r="-1188" b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0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064590"/>
              </p:ext>
            </p:extLst>
          </p:nvPr>
        </p:nvGraphicFramePr>
        <p:xfrm>
          <a:off x="2032000" y="1691774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7798"/>
              </p:ext>
            </p:extLst>
          </p:nvPr>
        </p:nvGraphicFramePr>
        <p:xfrm>
          <a:off x="2032000" y="1295534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sp>
        <p:nvSpPr>
          <p:cNvPr id="7" name="Arc 6"/>
          <p:cNvSpPr/>
          <p:nvPr/>
        </p:nvSpPr>
        <p:spPr>
          <a:xfrm flipV="1">
            <a:off x="2315580" y="1897434"/>
            <a:ext cx="612068" cy="667470"/>
          </a:xfrm>
          <a:prstGeom prst="arc">
            <a:avLst>
              <a:gd name="adj1" fmla="val 10772384"/>
              <a:gd name="adj2" fmla="val 109460"/>
            </a:avLst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5533"/>
              </p:ext>
            </p:extLst>
          </p:nvPr>
        </p:nvGraphicFramePr>
        <p:xfrm>
          <a:off x="6672064" y="1691774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65089"/>
              </p:ext>
            </p:extLst>
          </p:nvPr>
        </p:nvGraphicFramePr>
        <p:xfrm>
          <a:off x="6672064" y="1295534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sp>
        <p:nvSpPr>
          <p:cNvPr id="10" name="Arc 9"/>
          <p:cNvSpPr/>
          <p:nvPr/>
        </p:nvSpPr>
        <p:spPr>
          <a:xfrm flipV="1">
            <a:off x="7572164" y="1876199"/>
            <a:ext cx="612068" cy="667470"/>
          </a:xfrm>
          <a:prstGeom prst="arc">
            <a:avLst>
              <a:gd name="adj1" fmla="val 10772384"/>
              <a:gd name="adj2" fmla="val 109460"/>
            </a:avLst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193527"/>
              </p:ext>
            </p:extLst>
          </p:nvPr>
        </p:nvGraphicFramePr>
        <p:xfrm>
          <a:off x="2032000" y="3266034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322746"/>
              </p:ext>
            </p:extLst>
          </p:nvPr>
        </p:nvGraphicFramePr>
        <p:xfrm>
          <a:off x="2032000" y="2869794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sp>
        <p:nvSpPr>
          <p:cNvPr id="13" name="Arc 12"/>
          <p:cNvSpPr/>
          <p:nvPr/>
        </p:nvSpPr>
        <p:spPr>
          <a:xfrm flipV="1">
            <a:off x="3971764" y="3457957"/>
            <a:ext cx="180020" cy="659971"/>
          </a:xfrm>
          <a:prstGeom prst="arc">
            <a:avLst>
              <a:gd name="adj1" fmla="val 10772384"/>
              <a:gd name="adj2" fmla="val 109460"/>
            </a:avLst>
          </a:prstGeom>
          <a:ln w="1905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96313"/>
              </p:ext>
            </p:extLst>
          </p:nvPr>
        </p:nvGraphicFramePr>
        <p:xfrm>
          <a:off x="6672064" y="3246196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552449"/>
              </p:ext>
            </p:extLst>
          </p:nvPr>
        </p:nvGraphicFramePr>
        <p:xfrm>
          <a:off x="6672064" y="2849956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6959565" y="3427022"/>
            <a:ext cx="2432761" cy="687328"/>
            <a:chOff x="6959565" y="3427022"/>
            <a:chExt cx="2432761" cy="687328"/>
          </a:xfrm>
        </p:grpSpPr>
        <p:sp>
          <p:nvSpPr>
            <p:cNvPr id="16" name="Arc 15"/>
            <p:cNvSpPr/>
            <p:nvPr/>
          </p:nvSpPr>
          <p:spPr>
            <a:xfrm flipV="1">
              <a:off x="6959565" y="3446880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/>
            <p:cNvSpPr/>
            <p:nvPr/>
          </p:nvSpPr>
          <p:spPr>
            <a:xfrm flipV="1">
              <a:off x="7576556" y="3436749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/>
            <p:cNvSpPr/>
            <p:nvPr/>
          </p:nvSpPr>
          <p:spPr>
            <a:xfrm flipV="1">
              <a:off x="8168190" y="3432067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/>
            <p:cNvSpPr/>
            <p:nvPr/>
          </p:nvSpPr>
          <p:spPr>
            <a:xfrm flipV="1">
              <a:off x="8780258" y="3427022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015121"/>
              </p:ext>
            </p:extLst>
          </p:nvPr>
        </p:nvGraphicFramePr>
        <p:xfrm>
          <a:off x="2030076" y="4839229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solidFill>
                      <a:srgbClr val="0000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72132"/>
              </p:ext>
            </p:extLst>
          </p:nvPr>
        </p:nvGraphicFramePr>
        <p:xfrm>
          <a:off x="2030076" y="4442989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3452138" y="5020055"/>
            <a:ext cx="1815770" cy="677197"/>
            <a:chOff x="3452138" y="4934203"/>
            <a:chExt cx="1815770" cy="677197"/>
          </a:xfrm>
        </p:grpSpPr>
        <p:sp>
          <p:nvSpPr>
            <p:cNvPr id="23" name="Arc 22"/>
            <p:cNvSpPr/>
            <p:nvPr/>
          </p:nvSpPr>
          <p:spPr>
            <a:xfrm flipV="1">
              <a:off x="3452138" y="4943930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 flipV="1">
              <a:off x="4043772" y="4939248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/>
            <p:cNvSpPr/>
            <p:nvPr/>
          </p:nvSpPr>
          <p:spPr>
            <a:xfrm flipV="1">
              <a:off x="4655840" y="4934203"/>
              <a:ext cx="612068" cy="667470"/>
            </a:xfrm>
            <a:prstGeom prst="arc">
              <a:avLst>
                <a:gd name="adj1" fmla="val 10772384"/>
                <a:gd name="adj2" fmla="val 109460"/>
              </a:avLst>
            </a:prstGeom>
            <a:ln w="1905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3601"/>
              </p:ext>
            </p:extLst>
          </p:nvPr>
        </p:nvGraphicFramePr>
        <p:xfrm>
          <a:off x="6669536" y="4839229"/>
          <a:ext cx="3487938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59667"/>
              </p:ext>
            </p:extLst>
          </p:nvPr>
        </p:nvGraphicFramePr>
        <p:xfrm>
          <a:off x="6669536" y="4442989"/>
          <a:ext cx="348793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323">
                  <a:extLst>
                    <a:ext uri="{9D8B030D-6E8A-4147-A177-3AD203B41FA5}">
                      <a16:colId xmlns:a16="http://schemas.microsoft.com/office/drawing/2014/main" val="3168778501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692569733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16122560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3093228332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1916300564"/>
                    </a:ext>
                  </a:extLst>
                </a:gridCol>
                <a:gridCol w="581323">
                  <a:extLst>
                    <a:ext uri="{9D8B030D-6E8A-4147-A177-3AD203B41FA5}">
                      <a16:colId xmlns:a16="http://schemas.microsoft.com/office/drawing/2014/main" val="222793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50721"/>
                  </a:ext>
                </a:extLst>
              </a:tr>
            </a:tbl>
          </a:graphicData>
        </a:graphic>
      </p:graphicFrame>
      <p:sp>
        <p:nvSpPr>
          <p:cNvPr id="22" name="Right Arrow 21"/>
          <p:cNvSpPr/>
          <p:nvPr/>
        </p:nvSpPr>
        <p:spPr>
          <a:xfrm>
            <a:off x="5915981" y="1840307"/>
            <a:ext cx="360040" cy="2210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</a:t>
            </a:r>
          </a:p>
        </p:txBody>
      </p:sp>
      <p:sp>
        <p:nvSpPr>
          <p:cNvPr id="30" name="Right Arrow 29"/>
          <p:cNvSpPr/>
          <p:nvPr/>
        </p:nvSpPr>
        <p:spPr>
          <a:xfrm rot="8275592">
            <a:off x="5683888" y="2619679"/>
            <a:ext cx="824226" cy="2210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5911528" y="3394729"/>
            <a:ext cx="360040" cy="2210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11528" y="4987762"/>
            <a:ext cx="360040" cy="2210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</a:t>
            </a:r>
          </a:p>
        </p:txBody>
      </p:sp>
      <p:sp>
        <p:nvSpPr>
          <p:cNvPr id="36" name="Right Arrow 35"/>
          <p:cNvSpPr/>
          <p:nvPr/>
        </p:nvSpPr>
        <p:spPr>
          <a:xfrm rot="8275592">
            <a:off x="5683888" y="4233392"/>
            <a:ext cx="824226" cy="2210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22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83432" y="4776941"/>
                <a:ext cx="10261140" cy="1280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The loop </a:t>
                </a:r>
                <a:r>
                  <a:rPr lang="en-US" sz="2800" b="1" dirty="0"/>
                  <a:t>invariant</a:t>
                </a:r>
                <a:r>
                  <a:rPr lang="en-US" sz="2800" dirty="0"/>
                  <a:t> is the sorted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800" dirty="0"/>
                  <a:t>, starting with is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Upon termination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 hence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sorted.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776941"/>
                <a:ext cx="10261140" cy="1280351"/>
              </a:xfrm>
              <a:prstGeom prst="rect">
                <a:avLst/>
              </a:prstGeom>
              <a:blipFill>
                <a:blip r:embed="rId3"/>
                <a:stretch>
                  <a:fillRect l="-1188" t="-952" r="-29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998088" y="656692"/>
            <a:ext cx="10195824" cy="3977253"/>
            <a:chOff x="983432" y="656692"/>
            <a:chExt cx="10195824" cy="3977253"/>
          </a:xfrm>
        </p:grpSpPr>
        <p:grpSp>
          <p:nvGrpSpPr>
            <p:cNvPr id="13" name="Group 12"/>
            <p:cNvGrpSpPr/>
            <p:nvPr/>
          </p:nvGrpSpPr>
          <p:grpSpPr>
            <a:xfrm>
              <a:off x="1012744" y="656692"/>
              <a:ext cx="10166512" cy="3977253"/>
              <a:chOff x="1271464" y="908720"/>
              <a:chExt cx="10166512" cy="3977253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323692" y="3212976"/>
                <a:ext cx="468052" cy="10081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1464" y="908720"/>
                <a:ext cx="5780559" cy="3977253"/>
              </a:xfrm>
              <a:prstGeom prst="rect">
                <a:avLst/>
              </a:prstGeom>
              <a:ln>
                <a:noFill/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583832" y="1952836"/>
                    <a:ext cx="266429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compare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3832" y="1952836"/>
                    <a:ext cx="2664296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059"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4634492" y="2426414"/>
                    <a:ext cx="519796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with already sorted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1..</m:t>
                            </m:r>
                            <m:r>
                              <a:rPr lang="en-US" sz="28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4492" y="2426414"/>
                    <a:ext cx="519796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24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/>
              <p:cNvSpPr txBox="1"/>
              <p:nvPr/>
            </p:nvSpPr>
            <p:spPr>
              <a:xfrm>
                <a:off x="5975171" y="3394583"/>
                <a:ext cx="21730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swap keys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6852084" y="2910499"/>
                    <a:ext cx="458589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proceed while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2800" i="1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  <a:endParaRPr lang="en-US" sz="2800" dirty="0">
                      <a:solidFill>
                        <a:srgbClr val="0099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52084" y="2910499"/>
                    <a:ext cx="4585892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Rectangle 14"/>
            <p:cNvSpPr/>
            <p:nvPr/>
          </p:nvSpPr>
          <p:spPr>
            <a:xfrm>
              <a:off x="983432" y="656692"/>
              <a:ext cx="10195824" cy="3924436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938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406405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Runtime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124744"/>
                <a:ext cx="10261140" cy="460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runtime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relates to the input size which for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Reference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 to </a:t>
                </a:r>
                <a:r>
                  <a:rPr lang="en-US" sz="2800" b="1" dirty="0"/>
                  <a:t>RAM</a:t>
                </a:r>
                <a:r>
                  <a:rPr lang="en-US" sz="2800" dirty="0"/>
                  <a:t> takes </a:t>
                </a:r>
                <a:r>
                  <a:rPr lang="en-US" sz="2800" b="1" dirty="0"/>
                  <a:t>constant</a:t>
                </a:r>
                <a:r>
                  <a:rPr lang="en-US" sz="2800" dirty="0"/>
                  <a:t> time, independently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Constant</a:t>
                </a:r>
                <a:r>
                  <a:rPr lang="en-US" sz="2800" dirty="0"/>
                  <a:t> time is charged to code line unless it calls function.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Counting number of times each line is executed yields runtime dependence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Of interests are </a:t>
                </a:r>
                <a:r>
                  <a:rPr lang="en-US" sz="2800" b="1" dirty="0"/>
                  <a:t>worst-case</a:t>
                </a:r>
                <a:r>
                  <a:rPr lang="en-US" sz="2800" dirty="0"/>
                  <a:t> and </a:t>
                </a:r>
                <a:r>
                  <a:rPr lang="en-US" sz="2800" b="1" dirty="0"/>
                  <a:t>average-case</a:t>
                </a:r>
                <a:r>
                  <a:rPr lang="en-US" sz="2800" dirty="0"/>
                  <a:t> runtime, where average is usually more difficult to derive than worst.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24744"/>
                <a:ext cx="10261140" cy="4600618"/>
              </a:xfrm>
              <a:prstGeom prst="rect">
                <a:avLst/>
              </a:prstGeom>
              <a:blipFill>
                <a:blip r:embed="rId3"/>
                <a:stretch>
                  <a:fillRect l="-1188" t="-265" r="-1188" b="-2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4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46288"/>
                <a:ext cx="10261140" cy="5383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Worst-case</a:t>
                </a:r>
                <a:r>
                  <a:rPr lang="en-US" sz="2800" dirty="0"/>
                  <a:t> input analysis result bounds the runtime of </a:t>
                </a:r>
                <a:r>
                  <a:rPr lang="en-US" sz="2800" b="1" dirty="0"/>
                  <a:t>any input</a:t>
                </a:r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Average-case</a:t>
                </a:r>
                <a:r>
                  <a:rPr lang="en-US" sz="2800" dirty="0"/>
                  <a:t> is more difficult. Requires knowledge of the input probabilistic nature, and applying probabilistic analysis.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What is the worst-case input instance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INSERTION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SORT</m:t>
                    </m:r>
                  </m:oMath>
                </a14:m>
                <a:r>
                  <a:rPr lang="en-US" sz="2800" dirty="0"/>
                  <a:t> ?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Worst-case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INSERTION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SORT</m:t>
                    </m:r>
                  </m:oMath>
                </a14:m>
                <a:r>
                  <a:rPr lang="en-US" sz="2800" dirty="0"/>
                  <a:t> runtimw is quadratic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algorithms in this course are </a:t>
                </a:r>
                <a:r>
                  <a:rPr lang="en-US" sz="2800" b="1" dirty="0"/>
                  <a:t>deterministic</a:t>
                </a:r>
                <a:r>
                  <a:rPr lang="en-US" sz="2800" dirty="0"/>
                  <a:t>, where different runs for same input yield same runtime.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Randomized</a:t>
                </a:r>
                <a:r>
                  <a:rPr lang="en-US" sz="2800" dirty="0"/>
                  <a:t> algorithms are left for advanced courses.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46288"/>
                <a:ext cx="10261140" cy="5383012"/>
              </a:xfrm>
              <a:prstGeom prst="rect">
                <a:avLst/>
              </a:prstGeom>
              <a:blipFill>
                <a:blip r:embed="rId3"/>
                <a:stretch>
                  <a:fillRect l="-1188" t="-113" r="-1188" b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6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Stacks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5430" y="1284654"/>
            <a:ext cx="1026114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800"/>
              </a:spcAft>
            </a:pPr>
            <a:r>
              <a:rPr lang="en-US" sz="2800" dirty="0"/>
              <a:t>Dynamic set where elements are deleted in </a:t>
            </a:r>
            <a:r>
              <a:rPr lang="en-US" sz="2800" b="1" i="1" dirty="0"/>
              <a:t>last-in</a:t>
            </a:r>
            <a:r>
              <a:rPr lang="en-US" sz="2800" dirty="0"/>
              <a:t>, </a:t>
            </a:r>
            <a:r>
              <a:rPr lang="en-US" sz="2800" b="1" i="1" dirty="0"/>
              <a:t>first-out</a:t>
            </a:r>
            <a:r>
              <a:rPr lang="en-US" sz="2800" dirty="0"/>
              <a:t> (</a:t>
            </a:r>
            <a:r>
              <a:rPr lang="en-US" sz="2800" b="1" dirty="0"/>
              <a:t>LIFO</a:t>
            </a:r>
            <a:r>
              <a:rPr lang="en-US" sz="2800" dirty="0"/>
              <a:t>).</a:t>
            </a:r>
          </a:p>
          <a:p>
            <a:pPr algn="just">
              <a:spcAft>
                <a:spcPts val="1800"/>
              </a:spcAft>
            </a:pPr>
            <a:r>
              <a:rPr lang="en-US" sz="2800" b="1" dirty="0"/>
              <a:t>INSERT</a:t>
            </a:r>
            <a:r>
              <a:rPr lang="en-US" sz="2800" dirty="0"/>
              <a:t> operation is called </a:t>
            </a:r>
            <a:r>
              <a:rPr lang="en-US" sz="2800" b="1" dirty="0"/>
              <a:t>PUSH</a:t>
            </a:r>
            <a:r>
              <a:rPr lang="en-US" sz="2800" dirty="0"/>
              <a:t>, </a:t>
            </a:r>
            <a:r>
              <a:rPr lang="en-US" sz="2800" b="1" dirty="0"/>
              <a:t>DELETE</a:t>
            </a:r>
            <a:r>
              <a:rPr lang="en-US" sz="2800" dirty="0"/>
              <a:t> operation is called </a:t>
            </a:r>
            <a:r>
              <a:rPr lang="en-US" sz="2800" b="1" dirty="0"/>
              <a:t>POP</a:t>
            </a:r>
            <a:r>
              <a:rPr lang="en-US" sz="2800" dirty="0"/>
              <a:t>.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668" y="3320988"/>
            <a:ext cx="4150902" cy="2196244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30" y="3320988"/>
            <a:ext cx="4275968" cy="2288362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199754"/>
                  </p:ext>
                </p:extLst>
              </p:nvPr>
            </p:nvGraphicFramePr>
            <p:xfrm>
              <a:off x="1145223" y="1904993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199754"/>
                  </p:ext>
                </p:extLst>
              </p:nvPr>
            </p:nvGraphicFramePr>
            <p:xfrm>
              <a:off x="1145223" y="1904993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163" r="-60724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163" r="-498571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899" t="-1163" r="-40579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8571" t="-1163" r="-300000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4" name="Table 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3439793"/>
                  </p:ext>
                </p:extLst>
              </p:nvPr>
            </p:nvGraphicFramePr>
            <p:xfrm>
              <a:off x="1145223" y="1484784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4" name="Table 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3439793"/>
                  </p:ext>
                </p:extLst>
              </p:nvPr>
            </p:nvGraphicFramePr>
            <p:xfrm>
              <a:off x="1145223" y="1484784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r="-6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571" r="-4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449" r="-4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7143" r="-2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2899" r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5714" r="-9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9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400991"/>
                  </p:ext>
                </p:extLst>
              </p:nvPr>
            </p:nvGraphicFramePr>
            <p:xfrm>
              <a:off x="7428154" y="4374150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9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400991"/>
                  </p:ext>
                </p:extLst>
              </p:nvPr>
            </p:nvGraphicFramePr>
            <p:xfrm>
              <a:off x="7428154" y="4374150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r="-6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8571" r="-4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449" r="-4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449" r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01449" r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94286" r="-9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0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9" name="Table 9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543671"/>
                  </p:ext>
                </p:extLst>
              </p:nvPr>
            </p:nvGraphicFramePr>
            <p:xfrm>
              <a:off x="4223792" y="3654649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9" name="Table 9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543671"/>
                  </p:ext>
                </p:extLst>
              </p:nvPr>
            </p:nvGraphicFramePr>
            <p:xfrm>
              <a:off x="4223792" y="3654649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449" t="-1163" r="-60724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163" r="-498571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2899" t="-1163" r="-40579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98571" t="-1163" r="-300000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04348" t="-1163" r="-20434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97143" t="-1163" r="-101429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2" name="Table 10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481018"/>
                  </p:ext>
                </p:extLst>
              </p:nvPr>
            </p:nvGraphicFramePr>
            <p:xfrm>
              <a:off x="4223792" y="3234440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2" name="Table 10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5481018"/>
                  </p:ext>
                </p:extLst>
              </p:nvPr>
            </p:nvGraphicFramePr>
            <p:xfrm>
              <a:off x="4223792" y="3234440"/>
              <a:ext cx="2952327" cy="4572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r="-6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98571" r="-4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1449" r="-40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97143" r="-2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2899" r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5714" r="-9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576098"/>
                  </p:ext>
                </p:extLst>
              </p:nvPr>
            </p:nvGraphicFramePr>
            <p:xfrm>
              <a:off x="7536163" y="4930875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8576098"/>
                  </p:ext>
                </p:extLst>
              </p:nvPr>
            </p:nvGraphicFramePr>
            <p:xfrm>
              <a:off x="7536163" y="4930875"/>
              <a:ext cx="2952327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1761">
                      <a:extLst>
                        <a:ext uri="{9D8B030D-6E8A-4147-A177-3AD203B41FA5}">
                          <a16:colId xmlns:a16="http://schemas.microsoft.com/office/drawing/2014/main" val="1902383140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286746521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18977219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2739092685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3132788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412736467"/>
                        </a:ext>
                      </a:extLst>
                    </a:gridCol>
                    <a:gridCol w="421761">
                      <a:extLst>
                        <a:ext uri="{9D8B030D-6E8A-4147-A177-3AD203B41FA5}">
                          <a16:colId xmlns:a16="http://schemas.microsoft.com/office/drawing/2014/main" val="358140025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1449" t="-1163" r="-60579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100000" t="-1163" r="-497143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202899" t="-1163" r="-40434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302899" t="-1163" r="-30434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402899" t="-1163" r="-20434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49072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415232" y="997568"/>
            <a:ext cx="3186369" cy="1459324"/>
            <a:chOff x="1415232" y="997568"/>
            <a:chExt cx="3186369" cy="1459324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4097548" y="1874346"/>
              <a:ext cx="0" cy="582546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1415232" y="997568"/>
              <a:ext cx="3186369" cy="1255822"/>
              <a:chOff x="1415232" y="997568"/>
              <a:chExt cx="3186369" cy="12558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415232" y="997568"/>
                    <a:ext cx="1872456" cy="523220"/>
                  </a:xfrm>
                  <a:prstGeom prst="rect">
                    <a:avLst/>
                  </a:prstGeom>
                  <a:noFill/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5232" y="997568"/>
                    <a:ext cx="1872456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>
                    <a:solidFill>
                      <a:schemeClr val="bg1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/>
              <p:cNvGrpSpPr/>
              <p:nvPr/>
            </p:nvGrpSpPr>
            <p:grpSpPr>
              <a:xfrm>
                <a:off x="4097547" y="2145378"/>
                <a:ext cx="504054" cy="108012"/>
                <a:chOff x="5555940" y="1448780"/>
                <a:chExt cx="504054" cy="108012"/>
              </a:xfrm>
            </p:grpSpPr>
            <p:sp>
              <p:nvSpPr>
                <p:cNvPr id="2" name="Oval 1"/>
                <p:cNvSpPr/>
                <p:nvPr/>
              </p:nvSpPr>
              <p:spPr>
                <a:xfrm>
                  <a:off x="5555940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5753961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5951982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" name="Group 12"/>
          <p:cNvGrpSpPr/>
          <p:nvPr/>
        </p:nvGrpSpPr>
        <p:grpSpPr>
          <a:xfrm>
            <a:off x="5339668" y="1556992"/>
            <a:ext cx="2328238" cy="2648010"/>
            <a:chOff x="5447680" y="1556992"/>
            <a:chExt cx="2328238" cy="26480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5447928" y="1556992"/>
                  <a:ext cx="1872208" cy="523220"/>
                </a:xfrm>
                <a:prstGeom prst="rect">
                  <a:avLst/>
                </a:prstGeom>
                <a:noFill/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PUSH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928" y="1556992"/>
                  <a:ext cx="1872208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5447680" y="2144784"/>
                  <a:ext cx="1872456" cy="523220"/>
                </a:xfrm>
                <a:prstGeom prst="rect">
                  <a:avLst/>
                </a:prstGeom>
                <a:noFill/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PUSH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680" y="2144784"/>
                  <a:ext cx="1872456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5447928" y="2728838"/>
                  <a:ext cx="1873725" cy="523220"/>
                </a:xfrm>
                <a:prstGeom prst="rect">
                  <a:avLst/>
                </a:prstGeom>
                <a:noFill/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928" y="2728838"/>
                  <a:ext cx="1873725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/>
            <p:cNvCxnSpPr/>
            <p:nvPr/>
          </p:nvCxnSpPr>
          <p:spPr>
            <a:xfrm>
              <a:off x="7271865" y="3622456"/>
              <a:ext cx="0" cy="582546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7271864" y="3893488"/>
              <a:ext cx="504054" cy="108012"/>
              <a:chOff x="5555940" y="1448780"/>
              <a:chExt cx="504054" cy="108012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5555940" y="1448780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753961" y="1448780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5951982" y="1448780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8672624" y="3310803"/>
            <a:ext cx="2319920" cy="2170425"/>
            <a:chOff x="8672624" y="3310803"/>
            <a:chExt cx="2319920" cy="21704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/>
                <p:cNvSpPr txBox="1"/>
                <p:nvPr/>
              </p:nvSpPr>
              <p:spPr>
                <a:xfrm>
                  <a:off x="8672624" y="3310803"/>
                  <a:ext cx="1743856" cy="523220"/>
                </a:xfrm>
                <a:prstGeom prst="rect">
                  <a:avLst/>
                </a:prstGeom>
                <a:noFill/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OP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4" name="Text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624" y="3310803"/>
                  <a:ext cx="1743856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8672624" y="3880966"/>
                  <a:ext cx="1743856" cy="523220"/>
                </a:xfrm>
                <a:prstGeom prst="rect">
                  <a:avLst/>
                </a:prstGeom>
                <a:noFill/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624" y="3880966"/>
                  <a:ext cx="1743856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270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29"/>
            <p:cNvGrpSpPr/>
            <p:nvPr/>
          </p:nvGrpSpPr>
          <p:grpSpPr>
            <a:xfrm>
              <a:off x="10488490" y="4898682"/>
              <a:ext cx="504054" cy="582546"/>
              <a:chOff x="4097547" y="866234"/>
              <a:chExt cx="504054" cy="582546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4097548" y="866234"/>
                <a:ext cx="0" cy="582546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>
              <a:xfrm>
                <a:off x="4097547" y="1137266"/>
                <a:ext cx="504054" cy="108012"/>
                <a:chOff x="5555940" y="1448780"/>
                <a:chExt cx="504054" cy="108012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5555940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5753961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5951982" y="1448780"/>
                  <a:ext cx="108012" cy="10801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Queues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5431" y="980728"/>
            <a:ext cx="102611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800"/>
              </a:spcAft>
            </a:pPr>
            <a:r>
              <a:rPr lang="en-US" sz="2800" dirty="0"/>
              <a:t>Dynamic set. Elements deleted in a </a:t>
            </a:r>
            <a:r>
              <a:rPr lang="en-US" sz="2800" b="1" i="1" dirty="0"/>
              <a:t>first-in</a:t>
            </a:r>
            <a:r>
              <a:rPr lang="en-US" sz="2800" dirty="0"/>
              <a:t>, </a:t>
            </a:r>
            <a:r>
              <a:rPr lang="en-US" sz="2800" b="1" i="1" dirty="0"/>
              <a:t>first-out</a:t>
            </a:r>
            <a:r>
              <a:rPr lang="en-US" sz="2800" dirty="0"/>
              <a:t> (</a:t>
            </a:r>
            <a:r>
              <a:rPr lang="en-US" sz="2800" b="1" dirty="0"/>
              <a:t>FIFO</a:t>
            </a:r>
            <a:r>
              <a:rPr lang="en-US" sz="2800" dirty="0"/>
              <a:t>).</a:t>
            </a:r>
          </a:p>
          <a:p>
            <a:pPr algn="just">
              <a:spcAft>
                <a:spcPts val="1800"/>
              </a:spcAft>
            </a:pPr>
            <a:r>
              <a:rPr lang="en-US" sz="2800" b="1" dirty="0"/>
              <a:t>INSERT</a:t>
            </a:r>
            <a:r>
              <a:rPr lang="en-US" sz="2800" dirty="0"/>
              <a:t> called </a:t>
            </a:r>
            <a:r>
              <a:rPr lang="en-US" sz="2800" b="1" dirty="0"/>
              <a:t>ENQUEUE</a:t>
            </a:r>
            <a:r>
              <a:rPr lang="en-US" sz="2800" dirty="0"/>
              <a:t>, </a:t>
            </a:r>
            <a:r>
              <a:rPr lang="en-US" sz="2800" b="1" dirty="0"/>
              <a:t>DELETE</a:t>
            </a:r>
            <a:r>
              <a:rPr lang="en-US" sz="2800" dirty="0"/>
              <a:t> is called </a:t>
            </a:r>
            <a:r>
              <a:rPr lang="en-US" sz="2800" b="1" dirty="0"/>
              <a:t>DEQUEUE</a:t>
            </a:r>
            <a:r>
              <a:rPr lang="en-US" sz="2800" dirty="0"/>
              <a:t>. (code CLRS 10.1)</a:t>
            </a:r>
          </a:p>
          <a:p>
            <a:pPr algn="just">
              <a:spcAft>
                <a:spcPts val="1800"/>
              </a:spcAft>
            </a:pPr>
            <a:r>
              <a:rPr lang="en-US" sz="2800" dirty="0"/>
              <a:t>Queue has </a:t>
            </a:r>
            <a:r>
              <a:rPr lang="en-US" sz="2800" b="1" dirty="0"/>
              <a:t>head</a:t>
            </a:r>
            <a:r>
              <a:rPr lang="en-US" sz="2800" dirty="0"/>
              <a:t> and </a:t>
            </a:r>
            <a:r>
              <a:rPr lang="en-US" sz="2800" b="1" dirty="0"/>
              <a:t>tail</a:t>
            </a:r>
            <a:r>
              <a:rPr lang="en-US" sz="2800" dirty="0"/>
              <a:t>. Insertion is made to tail, deletion to head. </a:t>
            </a:r>
          </a:p>
        </p:txBody>
      </p:sp>
      <p:grpSp>
        <p:nvGrpSpPr>
          <p:cNvPr id="377" name="Group 376"/>
          <p:cNvGrpSpPr/>
          <p:nvPr/>
        </p:nvGrpSpPr>
        <p:grpSpPr>
          <a:xfrm>
            <a:off x="970730" y="3201274"/>
            <a:ext cx="3144151" cy="3222748"/>
            <a:chOff x="904913" y="549641"/>
            <a:chExt cx="3144151" cy="3222748"/>
          </a:xfrm>
        </p:grpSpPr>
        <p:sp>
          <p:nvSpPr>
            <p:cNvPr id="474" name="Oval 473"/>
            <p:cNvSpPr/>
            <p:nvPr/>
          </p:nvSpPr>
          <p:spPr>
            <a:xfrm>
              <a:off x="1340741" y="1098508"/>
              <a:ext cx="2378519" cy="23459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Oval 474"/>
            <p:cNvSpPr/>
            <p:nvPr/>
          </p:nvSpPr>
          <p:spPr>
            <a:xfrm>
              <a:off x="1884284" y="1628005"/>
              <a:ext cx="1290133" cy="12924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6" name="Straight Connector 475"/>
            <p:cNvCxnSpPr/>
            <p:nvPr/>
          </p:nvCxnSpPr>
          <p:spPr>
            <a:xfrm>
              <a:off x="1715071" y="1440197"/>
              <a:ext cx="390713" cy="3636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/>
            <p:cNvCxnSpPr>
              <a:stCxn id="474" idx="0"/>
              <a:endCxn id="475" idx="0"/>
            </p:cNvCxnSpPr>
            <p:nvPr/>
          </p:nvCxnSpPr>
          <p:spPr>
            <a:xfrm flipH="1">
              <a:off x="2529351" y="1098508"/>
              <a:ext cx="650" cy="52949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/>
            <p:cNvCxnSpPr/>
            <p:nvPr/>
          </p:nvCxnSpPr>
          <p:spPr>
            <a:xfrm flipH="1">
              <a:off x="2995407" y="1454514"/>
              <a:ext cx="385453" cy="3752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/>
            <p:cNvCxnSpPr>
              <a:stCxn id="474" idx="6"/>
              <a:endCxn id="475" idx="6"/>
            </p:cNvCxnSpPr>
            <p:nvPr/>
          </p:nvCxnSpPr>
          <p:spPr>
            <a:xfrm flipH="1">
              <a:off x="3174417" y="2271506"/>
              <a:ext cx="544843" cy="27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/>
            <p:cNvCxnSpPr>
              <a:stCxn id="474" idx="5"/>
              <a:endCxn id="475" idx="5"/>
            </p:cNvCxnSpPr>
            <p:nvPr/>
          </p:nvCxnSpPr>
          <p:spPr>
            <a:xfrm flipH="1" flipV="1">
              <a:off x="2985481" y="2731172"/>
              <a:ext cx="385453" cy="3697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/>
            <p:cNvCxnSpPr>
              <a:stCxn id="474" idx="2"/>
              <a:endCxn id="475" idx="2"/>
            </p:cNvCxnSpPr>
            <p:nvPr/>
          </p:nvCxnSpPr>
          <p:spPr>
            <a:xfrm>
              <a:off x="1340741" y="2271506"/>
              <a:ext cx="543543" cy="27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/>
            <p:cNvCxnSpPr>
              <a:stCxn id="474" idx="3"/>
              <a:endCxn id="475" idx="3"/>
            </p:cNvCxnSpPr>
            <p:nvPr/>
          </p:nvCxnSpPr>
          <p:spPr>
            <a:xfrm flipV="1">
              <a:off x="1689067" y="2731172"/>
              <a:ext cx="384153" cy="3697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/>
            <p:cNvCxnSpPr>
              <a:stCxn id="474" idx="4"/>
              <a:endCxn id="475" idx="4"/>
            </p:cNvCxnSpPr>
            <p:nvPr/>
          </p:nvCxnSpPr>
          <p:spPr>
            <a:xfrm flipH="1" flipV="1">
              <a:off x="2529351" y="2920445"/>
              <a:ext cx="650" cy="52405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4" name="Group 483"/>
            <p:cNvGrpSpPr/>
            <p:nvPr/>
          </p:nvGrpSpPr>
          <p:grpSpPr>
            <a:xfrm>
              <a:off x="2084554" y="1196394"/>
              <a:ext cx="937386" cy="2163697"/>
              <a:chOff x="5506623" y="3684147"/>
              <a:chExt cx="937386" cy="2163697"/>
            </a:xfrm>
          </p:grpSpPr>
          <p:cxnSp>
            <p:nvCxnSpPr>
              <p:cNvPr id="517" name="Straight Connector 516"/>
              <p:cNvCxnSpPr/>
              <p:nvPr/>
            </p:nvCxnSpPr>
            <p:spPr>
              <a:xfrm flipH="1">
                <a:off x="6233589" y="3684147"/>
                <a:ext cx="210420" cy="49764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Straight Connector 517"/>
              <p:cNvCxnSpPr/>
              <p:nvPr/>
            </p:nvCxnSpPr>
            <p:spPr>
              <a:xfrm flipH="1">
                <a:off x="5506623" y="5357122"/>
                <a:ext cx="203891" cy="4907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Group 484"/>
            <p:cNvGrpSpPr/>
            <p:nvPr/>
          </p:nvGrpSpPr>
          <p:grpSpPr>
            <a:xfrm rot="18790695">
              <a:off x="2106353" y="1261467"/>
              <a:ext cx="1083174" cy="1989417"/>
              <a:chOff x="5473836" y="3690613"/>
              <a:chExt cx="1083174" cy="1989417"/>
            </a:xfrm>
          </p:grpSpPr>
          <p:cxnSp>
            <p:nvCxnSpPr>
              <p:cNvPr id="515" name="Straight Connector 514"/>
              <p:cNvCxnSpPr/>
              <p:nvPr/>
            </p:nvCxnSpPr>
            <p:spPr>
              <a:xfrm rot="2809305">
                <a:off x="6206436" y="3550192"/>
                <a:ext cx="210153" cy="49099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Straight Connector 515"/>
              <p:cNvCxnSpPr/>
              <p:nvPr/>
            </p:nvCxnSpPr>
            <p:spPr>
              <a:xfrm flipH="1">
                <a:off x="5473836" y="5211978"/>
                <a:ext cx="180020" cy="4680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6" name="Group 485"/>
            <p:cNvGrpSpPr/>
            <p:nvPr/>
          </p:nvGrpSpPr>
          <p:grpSpPr>
            <a:xfrm rot="16200000">
              <a:off x="2074328" y="1187051"/>
              <a:ext cx="932557" cy="2182892"/>
              <a:chOff x="5505282" y="3421748"/>
              <a:chExt cx="939172" cy="2169930"/>
            </a:xfrm>
          </p:grpSpPr>
          <p:cxnSp>
            <p:nvCxnSpPr>
              <p:cNvPr id="513" name="Straight Connector 512"/>
              <p:cNvCxnSpPr/>
              <p:nvPr/>
            </p:nvCxnSpPr>
            <p:spPr>
              <a:xfrm rot="5400000">
                <a:off x="6094572" y="3546106"/>
                <a:ext cx="474240" cy="22552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Straight Connector 513"/>
              <p:cNvCxnSpPr/>
              <p:nvPr/>
            </p:nvCxnSpPr>
            <p:spPr>
              <a:xfrm rot="5400000">
                <a:off x="5364576" y="5237924"/>
                <a:ext cx="494460" cy="21304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7" name="Group 486"/>
            <p:cNvGrpSpPr/>
            <p:nvPr/>
          </p:nvGrpSpPr>
          <p:grpSpPr>
            <a:xfrm rot="13426009">
              <a:off x="1988342" y="1179900"/>
              <a:ext cx="1079381" cy="2013709"/>
              <a:chOff x="5672638" y="3512999"/>
              <a:chExt cx="1006789" cy="1992650"/>
            </a:xfrm>
          </p:grpSpPr>
          <p:cxnSp>
            <p:nvCxnSpPr>
              <p:cNvPr id="511" name="Straight Connector 510"/>
              <p:cNvCxnSpPr/>
              <p:nvPr/>
            </p:nvCxnSpPr>
            <p:spPr>
              <a:xfrm rot="8173991" flipV="1">
                <a:off x="6222919" y="3512999"/>
                <a:ext cx="456508" cy="19515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Straight Connector 511"/>
              <p:cNvCxnSpPr/>
              <p:nvPr/>
            </p:nvCxnSpPr>
            <p:spPr>
              <a:xfrm flipH="1">
                <a:off x="5672638" y="5037597"/>
                <a:ext cx="180020" cy="4680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/>
                <p:cNvSpPr txBox="1"/>
                <p:nvPr/>
              </p:nvSpPr>
              <p:spPr>
                <a:xfrm>
                  <a:off x="2618190" y="768211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88" name="TextBox 4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190" y="768211"/>
                  <a:ext cx="360040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/>
                <p:cNvSpPr txBox="1"/>
                <p:nvPr/>
              </p:nvSpPr>
              <p:spPr>
                <a:xfrm>
                  <a:off x="3123531" y="960500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89" name="TextBox 4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3531" y="960500"/>
                  <a:ext cx="36004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/>
                <p:cNvSpPr txBox="1"/>
                <p:nvPr/>
              </p:nvSpPr>
              <p:spPr>
                <a:xfrm>
                  <a:off x="3502549" y="1337946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0" name="TextBox 4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2549" y="1337946"/>
                  <a:ext cx="36004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/>
                <p:cNvSpPr txBox="1"/>
                <p:nvPr/>
              </p:nvSpPr>
              <p:spPr>
                <a:xfrm>
                  <a:off x="3689024" y="1828802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1" name="TextBox 4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024" y="1828802"/>
                  <a:ext cx="36004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/>
                <p:cNvSpPr txBox="1"/>
                <p:nvPr/>
              </p:nvSpPr>
              <p:spPr>
                <a:xfrm>
                  <a:off x="3675537" y="2337747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2" name="TextBox 4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537" y="2337747"/>
                  <a:ext cx="36004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/>
                <p:cNvSpPr txBox="1"/>
                <p:nvPr/>
              </p:nvSpPr>
              <p:spPr>
                <a:xfrm>
                  <a:off x="3473686" y="2821784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3" name="TextBox 4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686" y="2821784"/>
                  <a:ext cx="36004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/>
                <p:cNvSpPr txBox="1"/>
                <p:nvPr/>
              </p:nvSpPr>
              <p:spPr>
                <a:xfrm>
                  <a:off x="3130104" y="3184247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4" name="TextBox 4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0104" y="3184247"/>
                  <a:ext cx="36004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/>
                <p:cNvSpPr txBox="1"/>
                <p:nvPr/>
              </p:nvSpPr>
              <p:spPr>
                <a:xfrm>
                  <a:off x="2642453" y="3372279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5" name="TextBox 4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453" y="3372279"/>
                  <a:ext cx="360040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/>
                <p:cNvSpPr txBox="1"/>
                <p:nvPr/>
              </p:nvSpPr>
              <p:spPr>
                <a:xfrm>
                  <a:off x="943657" y="2349925"/>
                  <a:ext cx="5249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6" name="TextBox 4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657" y="2349925"/>
                  <a:ext cx="524905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/>
                <p:cNvSpPr txBox="1"/>
                <p:nvPr/>
              </p:nvSpPr>
              <p:spPr>
                <a:xfrm>
                  <a:off x="1109268" y="2831123"/>
                  <a:ext cx="53641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TextBox 4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268" y="2831123"/>
                  <a:ext cx="536417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/>
                <p:cNvSpPr txBox="1"/>
                <p:nvPr/>
              </p:nvSpPr>
              <p:spPr>
                <a:xfrm>
                  <a:off x="1518068" y="3228276"/>
                  <a:ext cx="4794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8" name="TextBox 4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8068" y="3228276"/>
                  <a:ext cx="479490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/>
                <p:cNvSpPr txBox="1"/>
                <p:nvPr/>
              </p:nvSpPr>
              <p:spPr>
                <a:xfrm>
                  <a:off x="904913" y="1828802"/>
                  <a:ext cx="48050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99" name="TextBox 4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913" y="1828802"/>
                  <a:ext cx="480506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/>
                <p:cNvSpPr txBox="1"/>
                <p:nvPr/>
              </p:nvSpPr>
              <p:spPr>
                <a:xfrm>
                  <a:off x="1156941" y="1297414"/>
                  <a:ext cx="4914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0" name="TextBox 4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941" y="1297414"/>
                  <a:ext cx="491434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/>
                <p:cNvSpPr txBox="1"/>
                <p:nvPr/>
              </p:nvSpPr>
              <p:spPr>
                <a:xfrm>
                  <a:off x="1545428" y="947067"/>
                  <a:ext cx="50466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1" name="TextBox 5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5428" y="947067"/>
                  <a:ext cx="504666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/>
                <p:cNvSpPr txBox="1"/>
                <p:nvPr/>
              </p:nvSpPr>
              <p:spPr>
                <a:xfrm>
                  <a:off x="2032636" y="777710"/>
                  <a:ext cx="45468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oMath>
                    </m:oMathPara>
                  </a14:m>
                  <a:endParaRPr lang="en-US" sz="20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02" name="TextBox 5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636" y="777710"/>
                  <a:ext cx="454687" cy="400110"/>
                </a:xfrm>
                <a:prstGeom prst="rect">
                  <a:avLst/>
                </a:prstGeom>
                <a:blipFill>
                  <a:blip r:embed="rId17"/>
                  <a:stretch>
                    <a:fillRect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/>
                <p:cNvSpPr txBox="1"/>
                <p:nvPr/>
              </p:nvSpPr>
              <p:spPr>
                <a:xfrm>
                  <a:off x="2131283" y="3372279"/>
                  <a:ext cx="36004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3" name="TextBox 5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1283" y="3372279"/>
                  <a:ext cx="360040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/>
                <p:cNvSpPr txBox="1"/>
                <p:nvPr/>
              </p:nvSpPr>
              <p:spPr>
                <a:xfrm>
                  <a:off x="1627824" y="2567296"/>
                  <a:ext cx="35163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4" name="TextBox 5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824" y="2567296"/>
                  <a:ext cx="351633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5172" r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/>
                <p:cNvSpPr txBox="1"/>
                <p:nvPr/>
              </p:nvSpPr>
              <p:spPr>
                <a:xfrm>
                  <a:off x="1463340" y="2167480"/>
                  <a:ext cx="35163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5" name="TextBox 5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340" y="2167480"/>
                  <a:ext cx="351633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5172" r="-5172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/>
                <p:cNvSpPr txBox="1"/>
                <p:nvPr/>
              </p:nvSpPr>
              <p:spPr>
                <a:xfrm>
                  <a:off x="1467495" y="1838274"/>
                  <a:ext cx="3600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6" name="TextBox 5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7495" y="1838274"/>
                  <a:ext cx="360040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/>
                <p:cNvSpPr txBox="1"/>
                <p:nvPr/>
              </p:nvSpPr>
              <p:spPr>
                <a:xfrm>
                  <a:off x="1535678" y="1472677"/>
                  <a:ext cx="3600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7" name="TextBox 5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5678" y="1472677"/>
                  <a:ext cx="360040" cy="461665"/>
                </a:xfrm>
                <a:prstGeom prst="rect">
                  <a:avLst/>
                </a:prstGeom>
                <a:blipFill>
                  <a:blip r:embed="rId22"/>
                  <a:stretch>
                    <a:fillRect r="-16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/>
                <p:cNvSpPr txBox="1"/>
                <p:nvPr/>
              </p:nvSpPr>
              <p:spPr>
                <a:xfrm>
                  <a:off x="1833256" y="1248497"/>
                  <a:ext cx="3600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08" name="TextBox 5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256" y="1248497"/>
                  <a:ext cx="360040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/>
                <p:cNvSpPr txBox="1"/>
                <p:nvPr/>
              </p:nvSpPr>
              <p:spPr>
                <a:xfrm>
                  <a:off x="1969948" y="549641"/>
                  <a:ext cx="63954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tail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509" name="TextBox 5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948" y="549641"/>
                  <a:ext cx="639549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0" name="TextBox 509"/>
                <p:cNvSpPr txBox="1"/>
                <p:nvPr/>
              </p:nvSpPr>
              <p:spPr>
                <a:xfrm>
                  <a:off x="940917" y="3029432"/>
                  <a:ext cx="76507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head</m:t>
                        </m:r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0" name="TextBox 5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917" y="3029432"/>
                  <a:ext cx="765079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  <p:grpSp>
        <p:nvGrpSpPr>
          <p:cNvPr id="538" name="Group 537"/>
          <p:cNvGrpSpPr/>
          <p:nvPr/>
        </p:nvGrpSpPr>
        <p:grpSpPr>
          <a:xfrm>
            <a:off x="4475820" y="2983669"/>
            <a:ext cx="3145019" cy="3411434"/>
            <a:chOff x="4475820" y="2983669"/>
            <a:chExt cx="3145019" cy="3411434"/>
          </a:xfrm>
        </p:grpSpPr>
        <p:grpSp>
          <p:nvGrpSpPr>
            <p:cNvPr id="535" name="Group 534"/>
            <p:cNvGrpSpPr/>
            <p:nvPr/>
          </p:nvGrpSpPr>
          <p:grpSpPr>
            <a:xfrm>
              <a:off x="4475820" y="3390925"/>
              <a:ext cx="3145019" cy="3004178"/>
              <a:chOff x="-3283745" y="4392656"/>
              <a:chExt cx="3145019" cy="3004178"/>
            </a:xfrm>
          </p:grpSpPr>
          <p:sp>
            <p:nvSpPr>
              <p:cNvPr id="222" name="Oval 221"/>
              <p:cNvSpPr/>
              <p:nvPr/>
            </p:nvSpPr>
            <p:spPr>
              <a:xfrm>
                <a:off x="-2847049" y="4722953"/>
                <a:ext cx="2378519" cy="2345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-2303506" y="5252450"/>
                <a:ext cx="1290133" cy="12924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4" name="Straight Connector 223"/>
              <p:cNvCxnSpPr/>
              <p:nvPr/>
            </p:nvCxnSpPr>
            <p:spPr>
              <a:xfrm>
                <a:off x="-2472719" y="5064642"/>
                <a:ext cx="390713" cy="3636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/>
              <p:cNvCxnSpPr>
                <a:stCxn id="222" idx="0"/>
                <a:endCxn id="223" idx="0"/>
              </p:cNvCxnSpPr>
              <p:nvPr/>
            </p:nvCxnSpPr>
            <p:spPr>
              <a:xfrm flipH="1">
                <a:off x="-1658439" y="4722953"/>
                <a:ext cx="650" cy="52949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 flipH="1">
                <a:off x="-1192383" y="5078959"/>
                <a:ext cx="385453" cy="3752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>
                <a:stCxn id="222" idx="6"/>
                <a:endCxn id="223" idx="6"/>
              </p:cNvCxnSpPr>
              <p:nvPr/>
            </p:nvCxnSpPr>
            <p:spPr>
              <a:xfrm flipH="1">
                <a:off x="-1013373" y="5895951"/>
                <a:ext cx="544843" cy="27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>
                <a:stCxn id="222" idx="5"/>
                <a:endCxn id="223" idx="5"/>
              </p:cNvCxnSpPr>
              <p:nvPr/>
            </p:nvCxnSpPr>
            <p:spPr>
              <a:xfrm flipH="1" flipV="1">
                <a:off x="-1202309" y="6355617"/>
                <a:ext cx="385453" cy="3697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/>
              <p:cNvCxnSpPr>
                <a:stCxn id="222" idx="2"/>
                <a:endCxn id="223" idx="2"/>
              </p:cNvCxnSpPr>
              <p:nvPr/>
            </p:nvCxnSpPr>
            <p:spPr>
              <a:xfrm>
                <a:off x="-2847049" y="5895951"/>
                <a:ext cx="543543" cy="27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/>
              <p:cNvCxnSpPr>
                <a:stCxn id="222" idx="3"/>
                <a:endCxn id="223" idx="3"/>
              </p:cNvCxnSpPr>
              <p:nvPr/>
            </p:nvCxnSpPr>
            <p:spPr>
              <a:xfrm flipV="1">
                <a:off x="-2498723" y="6355617"/>
                <a:ext cx="384153" cy="3697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>
                <a:stCxn id="222" idx="4"/>
                <a:endCxn id="223" idx="4"/>
              </p:cNvCxnSpPr>
              <p:nvPr/>
            </p:nvCxnSpPr>
            <p:spPr>
              <a:xfrm flipH="1" flipV="1">
                <a:off x="-1658439" y="6544890"/>
                <a:ext cx="650" cy="5240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2" name="Group 231"/>
              <p:cNvGrpSpPr/>
              <p:nvPr/>
            </p:nvGrpSpPr>
            <p:grpSpPr>
              <a:xfrm>
                <a:off x="-2103236" y="4810457"/>
                <a:ext cx="948399" cy="2174079"/>
                <a:chOff x="5506623" y="3673765"/>
                <a:chExt cx="948399" cy="2174079"/>
              </a:xfrm>
            </p:grpSpPr>
            <p:cxnSp>
              <p:nvCxnSpPr>
                <p:cNvPr id="265" name="Straight Connector 264"/>
                <p:cNvCxnSpPr/>
                <p:nvPr/>
              </p:nvCxnSpPr>
              <p:spPr>
                <a:xfrm flipH="1">
                  <a:off x="6244602" y="3673765"/>
                  <a:ext cx="210420" cy="49764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/>
              </p:nvCxnSpPr>
              <p:spPr>
                <a:xfrm flipH="1">
                  <a:off x="5506623" y="5357122"/>
                  <a:ext cx="203891" cy="4907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18790695">
                <a:off x="-2081437" y="4885912"/>
                <a:ext cx="1083174" cy="1989417"/>
                <a:chOff x="5473836" y="3690613"/>
                <a:chExt cx="1083174" cy="1989417"/>
              </a:xfrm>
            </p:grpSpPr>
            <p:cxnSp>
              <p:nvCxnSpPr>
                <p:cNvPr id="263" name="Straight Connector 262"/>
                <p:cNvCxnSpPr/>
                <p:nvPr/>
              </p:nvCxnSpPr>
              <p:spPr>
                <a:xfrm rot="2809305">
                  <a:off x="6206436" y="3550192"/>
                  <a:ext cx="210153" cy="4909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/>
              </p:nvCxnSpPr>
              <p:spPr>
                <a:xfrm flipH="1">
                  <a:off x="5473836" y="5211978"/>
                  <a:ext cx="180020" cy="46805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16200000">
                <a:off x="-2105405" y="4803441"/>
                <a:ext cx="916001" cy="2182452"/>
                <a:chOff x="5521955" y="3421748"/>
                <a:chExt cx="922499" cy="2169493"/>
              </a:xfrm>
            </p:grpSpPr>
            <p:cxnSp>
              <p:nvCxnSpPr>
                <p:cNvPr id="261" name="Straight Connector 260"/>
                <p:cNvCxnSpPr/>
                <p:nvPr/>
              </p:nvCxnSpPr>
              <p:spPr>
                <a:xfrm rot="5400000">
                  <a:off x="6094572" y="3546106"/>
                  <a:ext cx="474240" cy="22552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/>
              </p:nvCxnSpPr>
              <p:spPr>
                <a:xfrm rot="5400000">
                  <a:off x="5381249" y="5237487"/>
                  <a:ext cx="494460" cy="21304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13426009">
                <a:off x="-2199448" y="4804345"/>
                <a:ext cx="1079381" cy="2013709"/>
                <a:chOff x="5672638" y="3512999"/>
                <a:chExt cx="1006789" cy="1992650"/>
              </a:xfrm>
            </p:grpSpPr>
            <p:cxnSp>
              <p:nvCxnSpPr>
                <p:cNvPr id="259" name="Straight Connector 258"/>
                <p:cNvCxnSpPr/>
                <p:nvPr/>
              </p:nvCxnSpPr>
              <p:spPr>
                <a:xfrm rot="8173991" flipV="1">
                  <a:off x="6222919" y="3512999"/>
                  <a:ext cx="456508" cy="19515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>
                <a:xfrm flipH="1">
                  <a:off x="5672638" y="5037597"/>
                  <a:ext cx="180020" cy="46805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/>
                  <p:cNvSpPr txBox="1"/>
                  <p:nvPr/>
                </p:nvSpPr>
                <p:spPr>
                  <a:xfrm>
                    <a:off x="-1569600" y="4392656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36" name="TextBox 2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569600" y="4392656"/>
                    <a:ext cx="360040" cy="40011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7" name="TextBox 236"/>
                  <p:cNvSpPr txBox="1"/>
                  <p:nvPr/>
                </p:nvSpPr>
                <p:spPr>
                  <a:xfrm>
                    <a:off x="-1064259" y="4584945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37" name="TextBox 2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64259" y="4584945"/>
                    <a:ext cx="360040" cy="4001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8" name="TextBox 237"/>
                  <p:cNvSpPr txBox="1"/>
                  <p:nvPr/>
                </p:nvSpPr>
                <p:spPr>
                  <a:xfrm>
                    <a:off x="-685241" y="4962391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8" name="TextBox 2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85241" y="4962391"/>
                    <a:ext cx="360040" cy="40011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9" name="TextBox 238"/>
                  <p:cNvSpPr txBox="1"/>
                  <p:nvPr/>
                </p:nvSpPr>
                <p:spPr>
                  <a:xfrm>
                    <a:off x="-498766" y="5453247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39" name="TextBox 2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98766" y="5453247"/>
                    <a:ext cx="360040" cy="40011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" name="TextBox 239"/>
                  <p:cNvSpPr txBox="1"/>
                  <p:nvPr/>
                </p:nvSpPr>
                <p:spPr>
                  <a:xfrm>
                    <a:off x="-512253" y="5962192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0" name="TextBox 2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12253" y="5962192"/>
                    <a:ext cx="360040" cy="40011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TextBox 240"/>
                  <p:cNvSpPr txBox="1"/>
                  <p:nvPr/>
                </p:nvSpPr>
                <p:spPr>
                  <a:xfrm>
                    <a:off x="-714104" y="6446229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1" name="TextBox 2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714104" y="6446229"/>
                    <a:ext cx="360040" cy="40011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TextBox 241"/>
                  <p:cNvSpPr txBox="1"/>
                  <p:nvPr/>
                </p:nvSpPr>
                <p:spPr>
                  <a:xfrm>
                    <a:off x="-1057686" y="6808692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2" name="TextBox 2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7686" y="6808692"/>
                    <a:ext cx="360040" cy="40011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TextBox 242"/>
                  <p:cNvSpPr txBox="1"/>
                  <p:nvPr/>
                </p:nvSpPr>
                <p:spPr>
                  <a:xfrm>
                    <a:off x="-1545337" y="6996724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3" name="TextBox 2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545337" y="6996724"/>
                    <a:ext cx="360040" cy="40011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TextBox 243"/>
                  <p:cNvSpPr txBox="1"/>
                  <p:nvPr/>
                </p:nvSpPr>
                <p:spPr>
                  <a:xfrm>
                    <a:off x="-3244133" y="5974370"/>
                    <a:ext cx="52490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4" name="TextBox 2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44133" y="5974370"/>
                    <a:ext cx="524905" cy="400110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TextBox 244"/>
                  <p:cNvSpPr txBox="1"/>
                  <p:nvPr/>
                </p:nvSpPr>
                <p:spPr>
                  <a:xfrm>
                    <a:off x="-3078522" y="6455568"/>
                    <a:ext cx="53641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5" name="TextBox 2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78522" y="6455568"/>
                    <a:ext cx="536417" cy="40011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TextBox 245"/>
                  <p:cNvSpPr txBox="1"/>
                  <p:nvPr/>
                </p:nvSpPr>
                <p:spPr>
                  <a:xfrm>
                    <a:off x="-2669722" y="6852721"/>
                    <a:ext cx="4794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6" name="TextBox 2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69722" y="6852721"/>
                    <a:ext cx="479490" cy="400110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" name="TextBox 246"/>
                  <p:cNvSpPr txBox="1"/>
                  <p:nvPr/>
                </p:nvSpPr>
                <p:spPr>
                  <a:xfrm>
                    <a:off x="-3283745" y="5453247"/>
                    <a:ext cx="48050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7" name="TextBox 2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83745" y="5453247"/>
                    <a:ext cx="480506" cy="400110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8" name="TextBox 247"/>
                  <p:cNvSpPr txBox="1"/>
                  <p:nvPr/>
                </p:nvSpPr>
                <p:spPr>
                  <a:xfrm>
                    <a:off x="-3067721" y="4921859"/>
                    <a:ext cx="49143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8" name="TextBox 2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67721" y="4921859"/>
                    <a:ext cx="491434" cy="400110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9" name="TextBox 248"/>
                  <p:cNvSpPr txBox="1"/>
                  <p:nvPr/>
                </p:nvSpPr>
                <p:spPr>
                  <a:xfrm>
                    <a:off x="-2642362" y="4571512"/>
                    <a:ext cx="50466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9" name="TextBox 2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42362" y="4571512"/>
                    <a:ext cx="504666" cy="400110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1" name="TextBox 250"/>
                  <p:cNvSpPr txBox="1"/>
                  <p:nvPr/>
                </p:nvSpPr>
                <p:spPr>
                  <a:xfrm>
                    <a:off x="-2056507" y="6996724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51" name="TextBox 2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056507" y="6996724"/>
                    <a:ext cx="360040" cy="400110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" name="TextBox 251"/>
                  <p:cNvSpPr txBox="1"/>
                  <p:nvPr/>
                </p:nvSpPr>
                <p:spPr>
                  <a:xfrm>
                    <a:off x="-2559966" y="6191741"/>
                    <a:ext cx="35163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2" name="TextBox 2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559966" y="6191741"/>
                    <a:ext cx="351633" cy="461665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l="-5172" r="-34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3" name="TextBox 252"/>
                  <p:cNvSpPr txBox="1"/>
                  <p:nvPr/>
                </p:nvSpPr>
                <p:spPr>
                  <a:xfrm>
                    <a:off x="-2724450" y="5791925"/>
                    <a:ext cx="35163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3" name="TextBox 2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724450" y="5791925"/>
                    <a:ext cx="351633" cy="461665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l="-5172" r="-5172" b="-9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TextBox 253"/>
                  <p:cNvSpPr txBox="1"/>
                  <p:nvPr/>
                </p:nvSpPr>
                <p:spPr>
                  <a:xfrm>
                    <a:off x="-2720295" y="5481234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4" name="TextBox 2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720295" y="5481234"/>
                    <a:ext cx="360040" cy="461665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5" name="TextBox 254"/>
                  <p:cNvSpPr txBox="1"/>
                  <p:nvPr/>
                </p:nvSpPr>
                <p:spPr>
                  <a:xfrm>
                    <a:off x="-2652112" y="5097122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5" name="TextBox 2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52112" y="5097122"/>
                    <a:ext cx="360040" cy="461665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r="-16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" name="TextBox 255"/>
                  <p:cNvSpPr txBox="1"/>
                  <p:nvPr/>
                </p:nvSpPr>
                <p:spPr>
                  <a:xfrm>
                    <a:off x="-2354534" y="4872942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56" name="TextBox 2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354534" y="4872942"/>
                    <a:ext cx="360040" cy="461665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 r="-8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0" name="TextBox 249"/>
                  <p:cNvSpPr txBox="1"/>
                  <p:nvPr/>
                </p:nvSpPr>
                <p:spPr>
                  <a:xfrm>
                    <a:off x="-2155154" y="4402155"/>
                    <a:ext cx="45468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0" name="TextBox 2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155154" y="4402155"/>
                    <a:ext cx="454687" cy="400110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r="-1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7" name="TextBox 256"/>
                  <p:cNvSpPr txBox="1"/>
                  <p:nvPr/>
                </p:nvSpPr>
                <p:spPr>
                  <a:xfrm>
                    <a:off x="-839577" y="4736386"/>
                    <a:ext cx="64970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tail</m:t>
                          </m:r>
                        </m:oMath>
                      </m:oMathPara>
                    </a14:m>
                    <a:endParaRPr lang="en-US" sz="2000" b="1" dirty="0"/>
                  </a:p>
                </p:txBody>
              </p:sp>
            </mc:Choice>
            <mc:Fallback xmlns="">
              <p:sp>
                <p:nvSpPr>
                  <p:cNvPr id="257" name="TextBox 2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39577" y="4736386"/>
                    <a:ext cx="649708" cy="400110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TextBox 257"/>
                  <p:cNvSpPr txBox="1"/>
                  <p:nvPr/>
                </p:nvSpPr>
                <p:spPr>
                  <a:xfrm>
                    <a:off x="-3246873" y="6653877"/>
                    <a:ext cx="7650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head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8" name="TextBox 2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46873" y="6653877"/>
                    <a:ext cx="765079" cy="400110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33" name="Group 532"/>
              <p:cNvGrpSpPr/>
              <p:nvPr/>
            </p:nvGrpSpPr>
            <p:grpSpPr>
              <a:xfrm>
                <a:off x="-1980645" y="4724063"/>
                <a:ext cx="1073164" cy="610313"/>
                <a:chOff x="-2610670" y="7384784"/>
                <a:chExt cx="1073164" cy="6103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7" name="TextBox 266"/>
                    <p:cNvSpPr txBox="1"/>
                    <p:nvPr/>
                  </p:nvSpPr>
                  <p:spPr>
                    <a:xfrm>
                      <a:off x="-2610670" y="7384784"/>
                      <a:ext cx="35845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67" name="TextBox 2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610670" y="7384784"/>
                      <a:ext cx="358452" cy="461665"/>
                    </a:xfrm>
                    <a:prstGeom prst="rect">
                      <a:avLst/>
                    </a:prstGeom>
                    <a:blipFill>
                      <a:blip r:embed="rId4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8" name="TextBox 267"/>
                    <p:cNvSpPr txBox="1"/>
                    <p:nvPr/>
                  </p:nvSpPr>
                  <p:spPr>
                    <a:xfrm>
                      <a:off x="-2249932" y="7410993"/>
                      <a:ext cx="36004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68" name="TextBox 26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249932" y="7410993"/>
                      <a:ext cx="360040" cy="461665"/>
                    </a:xfrm>
                    <a:prstGeom prst="rect">
                      <a:avLst/>
                    </a:prstGeom>
                    <a:blipFill>
                      <a:blip r:embed="rId50"/>
                      <a:stretch>
                        <a:fillRect l="-5085" r="-50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9" name="TextBox 268"/>
                    <p:cNvSpPr txBox="1"/>
                    <p:nvPr/>
                  </p:nvSpPr>
                  <p:spPr>
                    <a:xfrm>
                      <a:off x="-1897546" y="7533432"/>
                      <a:ext cx="36004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69" name="TextBox 2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897546" y="7533432"/>
                      <a:ext cx="360040" cy="461665"/>
                    </a:xfrm>
                    <a:prstGeom prst="rect">
                      <a:avLst/>
                    </a:prstGeom>
                    <a:blipFill>
                      <a:blip r:embed="rId5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36" name="Rectangle 535"/>
            <p:cNvSpPr/>
            <p:nvPr/>
          </p:nvSpPr>
          <p:spPr>
            <a:xfrm>
              <a:off x="5020197" y="2983669"/>
              <a:ext cx="21723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</a:rPr>
                <a:t>3 x ENQUEUE</a:t>
              </a:r>
            </a:p>
          </p:txBody>
        </p:sp>
      </p:grpSp>
      <p:grpSp>
        <p:nvGrpSpPr>
          <p:cNvPr id="537" name="Group 536"/>
          <p:cNvGrpSpPr/>
          <p:nvPr/>
        </p:nvGrpSpPr>
        <p:grpSpPr>
          <a:xfrm>
            <a:off x="7862701" y="2992764"/>
            <a:ext cx="3360612" cy="3411838"/>
            <a:chOff x="7862701" y="2992764"/>
            <a:chExt cx="3360612" cy="3411838"/>
          </a:xfrm>
        </p:grpSpPr>
        <p:grpSp>
          <p:nvGrpSpPr>
            <p:cNvPr id="273" name="Group 272"/>
            <p:cNvGrpSpPr/>
            <p:nvPr/>
          </p:nvGrpSpPr>
          <p:grpSpPr>
            <a:xfrm>
              <a:off x="7862701" y="3400424"/>
              <a:ext cx="3360612" cy="3004178"/>
              <a:chOff x="-3499338" y="4392656"/>
              <a:chExt cx="3360612" cy="3004178"/>
            </a:xfrm>
          </p:grpSpPr>
          <p:sp>
            <p:nvSpPr>
              <p:cNvPr id="274" name="Oval 273"/>
              <p:cNvSpPr/>
              <p:nvPr/>
            </p:nvSpPr>
            <p:spPr>
              <a:xfrm>
                <a:off x="-2847049" y="4722953"/>
                <a:ext cx="2378519" cy="2345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Oval 274"/>
              <p:cNvSpPr/>
              <p:nvPr/>
            </p:nvSpPr>
            <p:spPr>
              <a:xfrm>
                <a:off x="-2303506" y="5252450"/>
                <a:ext cx="1290133" cy="12924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6" name="Straight Connector 275"/>
              <p:cNvCxnSpPr/>
              <p:nvPr/>
            </p:nvCxnSpPr>
            <p:spPr>
              <a:xfrm>
                <a:off x="-2472719" y="5064642"/>
                <a:ext cx="390713" cy="3636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>
                <a:stCxn id="274" idx="0"/>
                <a:endCxn id="275" idx="0"/>
              </p:cNvCxnSpPr>
              <p:nvPr/>
            </p:nvCxnSpPr>
            <p:spPr>
              <a:xfrm flipH="1">
                <a:off x="-1658439" y="4722953"/>
                <a:ext cx="650" cy="52949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/>
              <p:cNvCxnSpPr/>
              <p:nvPr/>
            </p:nvCxnSpPr>
            <p:spPr>
              <a:xfrm flipH="1">
                <a:off x="-1192383" y="5078959"/>
                <a:ext cx="385453" cy="3752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/>
              <p:cNvCxnSpPr>
                <a:stCxn id="274" idx="6"/>
                <a:endCxn id="275" idx="6"/>
              </p:cNvCxnSpPr>
              <p:nvPr/>
            </p:nvCxnSpPr>
            <p:spPr>
              <a:xfrm flipH="1">
                <a:off x="-1013373" y="5895951"/>
                <a:ext cx="544843" cy="27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>
                <a:stCxn id="274" idx="5"/>
                <a:endCxn id="275" idx="5"/>
              </p:cNvCxnSpPr>
              <p:nvPr/>
            </p:nvCxnSpPr>
            <p:spPr>
              <a:xfrm flipH="1" flipV="1">
                <a:off x="-1202309" y="6355617"/>
                <a:ext cx="385453" cy="3697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/>
              <p:cNvCxnSpPr>
                <a:stCxn id="274" idx="2"/>
                <a:endCxn id="275" idx="2"/>
              </p:cNvCxnSpPr>
              <p:nvPr/>
            </p:nvCxnSpPr>
            <p:spPr>
              <a:xfrm>
                <a:off x="-2847049" y="5895951"/>
                <a:ext cx="543543" cy="27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/>
              <p:cNvCxnSpPr>
                <a:stCxn id="274" idx="3"/>
                <a:endCxn id="275" idx="3"/>
              </p:cNvCxnSpPr>
              <p:nvPr/>
            </p:nvCxnSpPr>
            <p:spPr>
              <a:xfrm flipV="1">
                <a:off x="-2498723" y="6355617"/>
                <a:ext cx="384153" cy="3697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/>
              <p:cNvCxnSpPr>
                <a:stCxn id="274" idx="4"/>
                <a:endCxn id="275" idx="4"/>
              </p:cNvCxnSpPr>
              <p:nvPr/>
            </p:nvCxnSpPr>
            <p:spPr>
              <a:xfrm flipH="1" flipV="1">
                <a:off x="-1658439" y="6544890"/>
                <a:ext cx="650" cy="5240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4" name="Group 283"/>
              <p:cNvGrpSpPr/>
              <p:nvPr/>
            </p:nvGrpSpPr>
            <p:grpSpPr>
              <a:xfrm>
                <a:off x="-2103236" y="4810457"/>
                <a:ext cx="948399" cy="2174079"/>
                <a:chOff x="5506623" y="3673765"/>
                <a:chExt cx="948399" cy="2174079"/>
              </a:xfrm>
            </p:grpSpPr>
            <p:cxnSp>
              <p:nvCxnSpPr>
                <p:cNvPr id="321" name="Straight Connector 320"/>
                <p:cNvCxnSpPr/>
                <p:nvPr/>
              </p:nvCxnSpPr>
              <p:spPr>
                <a:xfrm flipH="1">
                  <a:off x="6244602" y="3673765"/>
                  <a:ext cx="210420" cy="49764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/>
                <p:cNvCxnSpPr/>
                <p:nvPr/>
              </p:nvCxnSpPr>
              <p:spPr>
                <a:xfrm flipH="1">
                  <a:off x="5506623" y="5357122"/>
                  <a:ext cx="203891" cy="4907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/>
            </p:nvGrpSpPr>
            <p:grpSpPr>
              <a:xfrm rot="18790695">
                <a:off x="-2081437" y="4885912"/>
                <a:ext cx="1083174" cy="1989417"/>
                <a:chOff x="5473836" y="3690613"/>
                <a:chExt cx="1083174" cy="1989417"/>
              </a:xfrm>
            </p:grpSpPr>
            <p:cxnSp>
              <p:nvCxnSpPr>
                <p:cNvPr id="319" name="Straight Connector 318"/>
                <p:cNvCxnSpPr/>
                <p:nvPr/>
              </p:nvCxnSpPr>
              <p:spPr>
                <a:xfrm rot="2809305">
                  <a:off x="6206436" y="3550192"/>
                  <a:ext cx="210153" cy="4909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Straight Connector 319"/>
                <p:cNvCxnSpPr/>
                <p:nvPr/>
              </p:nvCxnSpPr>
              <p:spPr>
                <a:xfrm flipH="1">
                  <a:off x="5473836" y="5211978"/>
                  <a:ext cx="180020" cy="46805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/>
            </p:nvGrpSpPr>
            <p:grpSpPr>
              <a:xfrm rot="16200000">
                <a:off x="-2102478" y="4800515"/>
                <a:ext cx="915577" cy="2187882"/>
                <a:chOff x="5522382" y="3421748"/>
                <a:chExt cx="922072" cy="2174891"/>
              </a:xfrm>
            </p:grpSpPr>
            <p:cxnSp>
              <p:nvCxnSpPr>
                <p:cNvPr id="317" name="Straight Connector 316"/>
                <p:cNvCxnSpPr/>
                <p:nvPr/>
              </p:nvCxnSpPr>
              <p:spPr>
                <a:xfrm rot="5400000">
                  <a:off x="6094572" y="3546106"/>
                  <a:ext cx="474240" cy="22552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Straight Connector 317"/>
                <p:cNvCxnSpPr/>
                <p:nvPr/>
              </p:nvCxnSpPr>
              <p:spPr>
                <a:xfrm rot="5400000">
                  <a:off x="5381676" y="5242885"/>
                  <a:ext cx="494460" cy="21304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/>
            </p:nvGrpSpPr>
            <p:grpSpPr>
              <a:xfrm rot="13426009">
                <a:off x="-2199448" y="4804345"/>
                <a:ext cx="1079381" cy="2013709"/>
                <a:chOff x="5672638" y="3512999"/>
                <a:chExt cx="1006789" cy="1992650"/>
              </a:xfrm>
            </p:grpSpPr>
            <p:cxnSp>
              <p:nvCxnSpPr>
                <p:cNvPr id="315" name="Straight Connector 314"/>
                <p:cNvCxnSpPr/>
                <p:nvPr/>
              </p:nvCxnSpPr>
              <p:spPr>
                <a:xfrm rot="8173991" flipV="1">
                  <a:off x="6222919" y="3512999"/>
                  <a:ext cx="456508" cy="19515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/>
                <p:cNvCxnSpPr/>
                <p:nvPr/>
              </p:nvCxnSpPr>
              <p:spPr>
                <a:xfrm flipH="1">
                  <a:off x="5672638" y="5037597"/>
                  <a:ext cx="180020" cy="46805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TextBox 287"/>
                  <p:cNvSpPr txBox="1"/>
                  <p:nvPr/>
                </p:nvSpPr>
                <p:spPr>
                  <a:xfrm>
                    <a:off x="-1569600" y="4392656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88" name="TextBox 2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569600" y="4392656"/>
                    <a:ext cx="360040" cy="400110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-1064259" y="4584945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89" name="TextBox 2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64259" y="4584945"/>
                    <a:ext cx="360040" cy="400110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0" name="TextBox 289"/>
                  <p:cNvSpPr txBox="1"/>
                  <p:nvPr/>
                </p:nvSpPr>
                <p:spPr>
                  <a:xfrm>
                    <a:off x="-685241" y="4962391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0" name="TextBox 2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85241" y="4962391"/>
                    <a:ext cx="360040" cy="400110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1" name="TextBox 290"/>
                  <p:cNvSpPr txBox="1"/>
                  <p:nvPr/>
                </p:nvSpPr>
                <p:spPr>
                  <a:xfrm>
                    <a:off x="-498766" y="5453247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1" name="TextBox 2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498766" y="5453247"/>
                    <a:ext cx="360040" cy="400110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2" name="TextBox 291"/>
                  <p:cNvSpPr txBox="1"/>
                  <p:nvPr/>
                </p:nvSpPr>
                <p:spPr>
                  <a:xfrm>
                    <a:off x="-512253" y="5962192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2" name="TextBox 2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512253" y="5962192"/>
                    <a:ext cx="360040" cy="400110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3" name="TextBox 292"/>
                  <p:cNvSpPr txBox="1"/>
                  <p:nvPr/>
                </p:nvSpPr>
                <p:spPr>
                  <a:xfrm>
                    <a:off x="-714104" y="6446229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3" name="TextBox 2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714104" y="6446229"/>
                    <a:ext cx="360040" cy="400110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TextBox 293"/>
                  <p:cNvSpPr txBox="1"/>
                  <p:nvPr/>
                </p:nvSpPr>
                <p:spPr>
                  <a:xfrm>
                    <a:off x="-1057686" y="6808692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4" name="TextBox 2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7686" y="6808692"/>
                    <a:ext cx="360040" cy="400110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5" name="TextBox 294"/>
                  <p:cNvSpPr txBox="1"/>
                  <p:nvPr/>
                </p:nvSpPr>
                <p:spPr>
                  <a:xfrm>
                    <a:off x="-1545337" y="6996724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5" name="TextBox 2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545337" y="6996724"/>
                    <a:ext cx="360040" cy="400110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6" name="TextBox 295"/>
                  <p:cNvSpPr txBox="1"/>
                  <p:nvPr/>
                </p:nvSpPr>
                <p:spPr>
                  <a:xfrm>
                    <a:off x="-3244133" y="5974370"/>
                    <a:ext cx="52490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6" name="TextBox 2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44133" y="5974370"/>
                    <a:ext cx="524905" cy="400110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Box 296"/>
                  <p:cNvSpPr txBox="1"/>
                  <p:nvPr/>
                </p:nvSpPr>
                <p:spPr>
                  <a:xfrm>
                    <a:off x="-3078522" y="6455568"/>
                    <a:ext cx="53641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7" name="TextBox 2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78522" y="6455568"/>
                    <a:ext cx="536417" cy="400110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TextBox 297"/>
                  <p:cNvSpPr txBox="1"/>
                  <p:nvPr/>
                </p:nvSpPr>
                <p:spPr>
                  <a:xfrm>
                    <a:off x="-2669722" y="6852721"/>
                    <a:ext cx="4794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98" name="TextBox 2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69722" y="6852721"/>
                    <a:ext cx="479490" cy="400110"/>
                  </a:xfrm>
                  <a:prstGeom prst="rect">
                    <a:avLst/>
                  </a:prstGeom>
                  <a:blipFill>
                    <a:blip r:embed="rId6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9" name="TextBox 298"/>
                  <p:cNvSpPr txBox="1"/>
                  <p:nvPr/>
                </p:nvSpPr>
                <p:spPr>
                  <a:xfrm>
                    <a:off x="-3294647" y="5453247"/>
                    <a:ext cx="48050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9" name="TextBox 2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294647" y="5453247"/>
                    <a:ext cx="480506" cy="400110"/>
                  </a:xfrm>
                  <a:prstGeom prst="rect">
                    <a:avLst/>
                  </a:prstGeom>
                  <a:blipFill>
                    <a:blip r:embed="rId63"/>
                    <a:stretch>
                      <a:fillRect r="-126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0" name="TextBox 299"/>
                  <p:cNvSpPr txBox="1"/>
                  <p:nvPr/>
                </p:nvSpPr>
                <p:spPr>
                  <a:xfrm>
                    <a:off x="-3014547" y="4921859"/>
                    <a:ext cx="49143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00" name="TextBox 2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14547" y="4921859"/>
                    <a:ext cx="491434" cy="400110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TextBox 300"/>
                  <p:cNvSpPr txBox="1"/>
                  <p:nvPr/>
                </p:nvSpPr>
                <p:spPr>
                  <a:xfrm>
                    <a:off x="-2642362" y="4571512"/>
                    <a:ext cx="50466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01" name="TextBox 3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42362" y="4571512"/>
                    <a:ext cx="504666" cy="400110"/>
                  </a:xfrm>
                  <a:prstGeom prst="rect">
                    <a:avLst/>
                  </a:prstGeom>
                  <a:blipFill>
                    <a:blip r:embed="rId6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-2056507" y="6996724"/>
                    <a:ext cx="36004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02" name="TextBox 3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056507" y="6996724"/>
                    <a:ext cx="360040" cy="400110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TextBox 304"/>
                  <p:cNvSpPr txBox="1"/>
                  <p:nvPr/>
                </p:nvSpPr>
                <p:spPr>
                  <a:xfrm>
                    <a:off x="-2720295" y="5476064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05" name="TextBox 3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720295" y="5476064"/>
                    <a:ext cx="360040" cy="461665"/>
                  </a:xfrm>
                  <a:prstGeom prst="rect">
                    <a:avLst/>
                  </a:prstGeom>
                  <a:blipFill>
                    <a:blip r:embed="rId6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6" name="TextBox 305"/>
                  <p:cNvSpPr txBox="1"/>
                  <p:nvPr/>
                </p:nvSpPr>
                <p:spPr>
                  <a:xfrm>
                    <a:off x="-2652112" y="5097122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06" name="TextBox 3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52112" y="5097122"/>
                    <a:ext cx="360040" cy="461665"/>
                  </a:xfrm>
                  <a:prstGeom prst="rect">
                    <a:avLst/>
                  </a:prstGeom>
                  <a:blipFill>
                    <a:blip r:embed="rId68"/>
                    <a:stretch>
                      <a:fillRect r="-16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TextBox 306"/>
                  <p:cNvSpPr txBox="1"/>
                  <p:nvPr/>
                </p:nvSpPr>
                <p:spPr>
                  <a:xfrm>
                    <a:off x="-2354534" y="4872942"/>
                    <a:ext cx="36004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07" name="TextBox 3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354534" y="4872942"/>
                    <a:ext cx="360040" cy="461665"/>
                  </a:xfrm>
                  <a:prstGeom prst="rect">
                    <a:avLst/>
                  </a:prstGeom>
                  <a:blipFill>
                    <a:blip r:embed="rId69"/>
                    <a:stretch>
                      <a:fillRect r="-8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8" name="TextBox 307"/>
                  <p:cNvSpPr txBox="1"/>
                  <p:nvPr/>
                </p:nvSpPr>
                <p:spPr>
                  <a:xfrm>
                    <a:off x="-2155154" y="4402155"/>
                    <a:ext cx="45468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8" name="TextBox 30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155154" y="4402155"/>
                    <a:ext cx="454687" cy="400110"/>
                  </a:xfrm>
                  <a:prstGeom prst="rect">
                    <a:avLst/>
                  </a:prstGeom>
                  <a:blipFill>
                    <a:blip r:embed="rId70"/>
                    <a:stretch>
                      <a:fillRect r="-1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9" name="TextBox 308"/>
                  <p:cNvSpPr txBox="1"/>
                  <p:nvPr/>
                </p:nvSpPr>
                <p:spPr>
                  <a:xfrm>
                    <a:off x="-839577" y="4736386"/>
                    <a:ext cx="64970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tail</m:t>
                          </m:r>
                        </m:oMath>
                      </m:oMathPara>
                    </a14:m>
                    <a:endParaRPr lang="en-US" sz="2000" b="1" dirty="0"/>
                  </a:p>
                </p:txBody>
              </p:sp>
            </mc:Choice>
            <mc:Fallback xmlns="">
              <p:sp>
                <p:nvSpPr>
                  <p:cNvPr id="309" name="TextBox 30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39577" y="4736386"/>
                    <a:ext cx="649708" cy="400110"/>
                  </a:xfrm>
                  <a:prstGeom prst="rect">
                    <a:avLst/>
                  </a:prstGeom>
                  <a:blipFill>
                    <a:blip r:embed="rId7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0" name="TextBox 309"/>
                  <p:cNvSpPr txBox="1"/>
                  <p:nvPr/>
                </p:nvSpPr>
                <p:spPr>
                  <a:xfrm>
                    <a:off x="-3499338" y="5149186"/>
                    <a:ext cx="7650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head</m:t>
                          </m:r>
                        </m:oMath>
                      </m:oMathPara>
                    </a14:m>
                    <a:endParaRPr lang="en-US" sz="20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0" name="TextBox 3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499338" y="5149186"/>
                    <a:ext cx="765079" cy="400110"/>
                  </a:xfrm>
                  <a:prstGeom prst="rect">
                    <a:avLst/>
                  </a:prstGeom>
                  <a:blipFill>
                    <a:blip r:embed="rId7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11" name="Group 310"/>
              <p:cNvGrpSpPr/>
              <p:nvPr/>
            </p:nvGrpSpPr>
            <p:grpSpPr>
              <a:xfrm>
                <a:off x="-1980645" y="4724063"/>
                <a:ext cx="1062262" cy="610313"/>
                <a:chOff x="-2610670" y="7384784"/>
                <a:chExt cx="1062262" cy="6103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2" name="TextBox 311"/>
                    <p:cNvSpPr txBox="1"/>
                    <p:nvPr/>
                  </p:nvSpPr>
                  <p:spPr>
                    <a:xfrm>
                      <a:off x="-2610670" y="7384784"/>
                      <a:ext cx="35845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12" name="TextBox 3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610670" y="7384784"/>
                      <a:ext cx="358452" cy="461665"/>
                    </a:xfrm>
                    <a:prstGeom prst="rect">
                      <a:avLst/>
                    </a:prstGeom>
                    <a:blipFill>
                      <a:blip r:embed="rId7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3" name="TextBox 312"/>
                    <p:cNvSpPr txBox="1"/>
                    <p:nvPr/>
                  </p:nvSpPr>
                  <p:spPr>
                    <a:xfrm>
                      <a:off x="-2249932" y="7410993"/>
                      <a:ext cx="36004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13" name="TextBox 3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2249932" y="7410993"/>
                      <a:ext cx="360040" cy="461665"/>
                    </a:xfrm>
                    <a:prstGeom prst="rect">
                      <a:avLst/>
                    </a:prstGeom>
                    <a:blipFill>
                      <a:blip r:embed="rId74"/>
                      <a:stretch>
                        <a:fillRect l="-5085" r="-50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4" name="TextBox 313"/>
                    <p:cNvSpPr txBox="1"/>
                    <p:nvPr/>
                  </p:nvSpPr>
                  <p:spPr>
                    <a:xfrm>
                      <a:off x="-1908448" y="7533432"/>
                      <a:ext cx="36004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14" name="TextBox 3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908448" y="7533432"/>
                      <a:ext cx="360040" cy="461665"/>
                    </a:xfrm>
                    <a:prstGeom prst="rect">
                      <a:avLst/>
                    </a:prstGeom>
                    <a:blipFill>
                      <a:blip r:embed="rId7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324" name="Rectangle 323"/>
            <p:cNvSpPr/>
            <p:nvPr/>
          </p:nvSpPr>
          <p:spPr>
            <a:xfrm>
              <a:off x="8641744" y="2992764"/>
              <a:ext cx="212987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2 x DEQUEUE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344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Linked Lists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8200" y="944724"/>
            <a:ext cx="1051559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Data structure where objects ordered linearly. </a:t>
            </a:r>
          </a:p>
          <a:p>
            <a:pPr algn="just">
              <a:spcAft>
                <a:spcPts val="1200"/>
              </a:spcAft>
            </a:pPr>
            <a:r>
              <a:rPr lang="en-US" sz="2800" dirty="0"/>
              <a:t>Unlike arrays which size is predefined, linked lists size change dynamically by using pointers (memory  addresses) attached to objects.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92367" y="3068960"/>
            <a:ext cx="9807265" cy="2661391"/>
            <a:chOff x="1192367" y="3068960"/>
            <a:chExt cx="9807265" cy="266139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2367" y="3068960"/>
              <a:ext cx="9807265" cy="2661391"/>
            </a:xfrm>
            <a:prstGeom prst="rect">
              <a:avLst/>
            </a:prstGeom>
          </p:spPr>
        </p:pic>
        <p:sp>
          <p:nvSpPr>
            <p:cNvPr id="4" name="Rounded Rectangle 3"/>
            <p:cNvSpPr/>
            <p:nvPr/>
          </p:nvSpPr>
          <p:spPr>
            <a:xfrm>
              <a:off x="2827004" y="4329100"/>
              <a:ext cx="1260140" cy="576064"/>
            </a:xfrm>
            <a:prstGeom prst="round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74876" y="3911562"/>
              <a:ext cx="35643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Insert object at head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40216" y="4315213"/>
              <a:ext cx="1260140" cy="57606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38138" y="3897640"/>
              <a:ext cx="2664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Delete object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March 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49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1" y="728700"/>
            <a:ext cx="4435919" cy="2006352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85" y="3295162"/>
            <a:ext cx="3884815" cy="2638259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36" y="3320988"/>
            <a:ext cx="4497361" cy="2586608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2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048345" y="440668"/>
            <a:ext cx="609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Rooted Trees Representation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5380" y="1284654"/>
            <a:ext cx="1116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sz="2800" dirty="0"/>
              <a:t>Linked lists representation is generalized for rooted trees.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835438" y="3499386"/>
            <a:ext cx="3504896" cy="1797385"/>
            <a:chOff x="1835438" y="3499386"/>
            <a:chExt cx="3504896" cy="1797385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5900" y="3842003"/>
              <a:ext cx="656819" cy="705472"/>
            </a:xfrm>
            <a:prstGeom prst="rect">
              <a:avLst/>
            </a:prstGeom>
          </p:spPr>
        </p:pic>
        <p:grpSp>
          <p:nvGrpSpPr>
            <p:cNvPr id="46" name="Group 45"/>
            <p:cNvGrpSpPr/>
            <p:nvPr/>
          </p:nvGrpSpPr>
          <p:grpSpPr>
            <a:xfrm flipH="1">
              <a:off x="1990002" y="3499386"/>
              <a:ext cx="1439914" cy="581499"/>
              <a:chOff x="2688288" y="2593604"/>
              <a:chExt cx="3190904" cy="581499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 flipV="1">
                <a:off x="2688288" y="2593604"/>
                <a:ext cx="2772308" cy="5113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flipV="1">
                <a:off x="3106884" y="2663743"/>
                <a:ext cx="2772308" cy="51136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 flipH="1">
              <a:off x="3825960" y="4221162"/>
              <a:ext cx="720081" cy="598898"/>
              <a:chOff x="2125182" y="2717351"/>
              <a:chExt cx="3951589" cy="457752"/>
            </a:xfrm>
          </p:grpSpPr>
          <p:cxnSp>
            <p:nvCxnSpPr>
              <p:cNvPr id="59" name="Straight Arrow Connector 58"/>
              <p:cNvCxnSpPr/>
              <p:nvPr/>
            </p:nvCxnSpPr>
            <p:spPr>
              <a:xfrm flipV="1">
                <a:off x="2125182" y="2717351"/>
                <a:ext cx="2914321" cy="4187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 flipV="1">
                <a:off x="3106882" y="2752586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/>
          </p:nvGrpSpPr>
          <p:grpSpPr>
            <a:xfrm>
              <a:off x="2651330" y="4214977"/>
              <a:ext cx="720081" cy="598898"/>
              <a:chOff x="2125182" y="2717351"/>
              <a:chExt cx="3951589" cy="457752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 flipV="1">
                <a:off x="2125182" y="2717351"/>
                <a:ext cx="2914321" cy="4187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 flipV="1">
                <a:off x="3106882" y="2752586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/>
            <p:cNvGrpSpPr/>
            <p:nvPr/>
          </p:nvGrpSpPr>
          <p:grpSpPr>
            <a:xfrm>
              <a:off x="1835438" y="4591299"/>
              <a:ext cx="1219803" cy="705472"/>
              <a:chOff x="1835438" y="4591299"/>
              <a:chExt cx="1219803" cy="705472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0345" y="459129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171" name="Group 170"/>
              <p:cNvGrpSpPr/>
              <p:nvPr/>
            </p:nvGrpSpPr>
            <p:grpSpPr>
              <a:xfrm>
                <a:off x="1835438" y="4971634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159" name="Group 158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8" name="Group 7"/>
            <p:cNvGrpSpPr/>
            <p:nvPr/>
          </p:nvGrpSpPr>
          <p:grpSpPr>
            <a:xfrm>
              <a:off x="4120531" y="4591299"/>
              <a:ext cx="1219803" cy="705472"/>
              <a:chOff x="4120531" y="4591299"/>
              <a:chExt cx="1219803" cy="705472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2024" y="459129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172" name="Group 171"/>
              <p:cNvGrpSpPr/>
              <p:nvPr/>
            </p:nvGrpSpPr>
            <p:grpSpPr>
              <a:xfrm>
                <a:off x="4120531" y="4956075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173" name="Group 172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78" name="Straight Connector 177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4" name="Group 173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75" name="Straight Connector 174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9" name="Group 18"/>
          <p:cNvGrpSpPr/>
          <p:nvPr/>
        </p:nvGrpSpPr>
        <p:grpSpPr>
          <a:xfrm>
            <a:off x="6352779" y="4208726"/>
            <a:ext cx="3809676" cy="1844129"/>
            <a:chOff x="6352779" y="4208726"/>
            <a:chExt cx="3809676" cy="1844129"/>
          </a:xfrm>
        </p:grpSpPr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6504" y="4593316"/>
              <a:ext cx="656819" cy="70547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4522" y="4591299"/>
              <a:ext cx="656819" cy="705472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4272" y="5347383"/>
              <a:ext cx="656819" cy="705472"/>
            </a:xfrm>
            <a:prstGeom prst="rect">
              <a:avLst/>
            </a:prstGeom>
          </p:spPr>
        </p:pic>
        <p:grpSp>
          <p:nvGrpSpPr>
            <p:cNvPr id="64" name="Group 63"/>
            <p:cNvGrpSpPr/>
            <p:nvPr/>
          </p:nvGrpSpPr>
          <p:grpSpPr>
            <a:xfrm flipH="1">
              <a:off x="6934713" y="4208726"/>
              <a:ext cx="720081" cy="598898"/>
              <a:chOff x="2125182" y="2717351"/>
              <a:chExt cx="3951589" cy="457752"/>
            </a:xfrm>
          </p:grpSpPr>
          <p:cxnSp>
            <p:nvCxnSpPr>
              <p:cNvPr id="65" name="Straight Arrow Connector 64"/>
              <p:cNvCxnSpPr/>
              <p:nvPr/>
            </p:nvCxnSpPr>
            <p:spPr>
              <a:xfrm flipV="1">
                <a:off x="2125182" y="2717351"/>
                <a:ext cx="2914321" cy="4187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 flipV="1">
                <a:off x="3106882" y="2752586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/>
            <p:cNvGrpSpPr/>
            <p:nvPr/>
          </p:nvGrpSpPr>
          <p:grpSpPr>
            <a:xfrm>
              <a:off x="9442374" y="4220925"/>
              <a:ext cx="720081" cy="598898"/>
              <a:chOff x="2125182" y="2717351"/>
              <a:chExt cx="3951589" cy="457752"/>
            </a:xfrm>
          </p:grpSpPr>
          <p:cxnSp>
            <p:nvCxnSpPr>
              <p:cNvPr id="68" name="Straight Arrow Connector 67"/>
              <p:cNvCxnSpPr/>
              <p:nvPr/>
            </p:nvCxnSpPr>
            <p:spPr>
              <a:xfrm flipV="1">
                <a:off x="2125182" y="2717351"/>
                <a:ext cx="2914321" cy="4187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V="1">
                <a:off x="3106882" y="2752586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7097744" y="4944035"/>
              <a:ext cx="649623" cy="617062"/>
              <a:chOff x="2511835" y="2720725"/>
              <a:chExt cx="3564936" cy="471635"/>
            </a:xfrm>
          </p:grpSpPr>
          <p:cxnSp>
            <p:nvCxnSpPr>
              <p:cNvPr id="71" name="Straight Arrow Connector 70"/>
              <p:cNvCxnSpPr/>
              <p:nvPr/>
            </p:nvCxnSpPr>
            <p:spPr>
              <a:xfrm flipV="1">
                <a:off x="2511835" y="2720725"/>
                <a:ext cx="2168102" cy="421739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>
              <a:xfrm flipV="1">
                <a:off x="3809923" y="2752587"/>
                <a:ext cx="2266848" cy="439773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/>
            <p:cNvGrpSpPr/>
            <p:nvPr/>
          </p:nvGrpSpPr>
          <p:grpSpPr>
            <a:xfrm>
              <a:off x="6352779" y="5724929"/>
              <a:ext cx="1219803" cy="140098"/>
              <a:chOff x="1817780" y="4961463"/>
              <a:chExt cx="1219803" cy="140098"/>
            </a:xfrm>
          </p:grpSpPr>
          <p:grpSp>
            <p:nvGrpSpPr>
              <p:cNvPr id="182" name="Group 181"/>
              <p:cNvGrpSpPr/>
              <p:nvPr/>
            </p:nvGrpSpPr>
            <p:grpSpPr>
              <a:xfrm flipH="1">
                <a:off x="2705934" y="4961463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187" name="Straight Connector 186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1817780" y="4961663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184" name="Straight Connector 183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0" name="Group 189"/>
            <p:cNvGrpSpPr/>
            <p:nvPr/>
          </p:nvGrpSpPr>
          <p:grpSpPr>
            <a:xfrm>
              <a:off x="8607449" y="4971334"/>
              <a:ext cx="1219803" cy="140098"/>
              <a:chOff x="1817780" y="4961463"/>
              <a:chExt cx="1219803" cy="140098"/>
            </a:xfrm>
          </p:grpSpPr>
          <p:grpSp>
            <p:nvGrpSpPr>
              <p:cNvPr id="191" name="Group 190"/>
              <p:cNvGrpSpPr/>
              <p:nvPr/>
            </p:nvGrpSpPr>
            <p:grpSpPr>
              <a:xfrm flipH="1">
                <a:off x="2705934" y="4961463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/>
            </p:nvGrpSpPr>
            <p:grpSpPr>
              <a:xfrm>
                <a:off x="1817780" y="4961663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0" name="Group 199"/>
            <p:cNvGrpSpPr/>
            <p:nvPr/>
          </p:nvGrpSpPr>
          <p:grpSpPr>
            <a:xfrm flipH="1">
              <a:off x="8177153" y="4971134"/>
              <a:ext cx="331649" cy="139898"/>
              <a:chOff x="560371" y="5370905"/>
              <a:chExt cx="351053" cy="159069"/>
            </a:xfrm>
          </p:grpSpPr>
          <p:cxnSp>
            <p:nvCxnSpPr>
              <p:cNvPr id="205" name="Straight Connector 204"/>
              <p:cNvCxnSpPr/>
              <p:nvPr/>
            </p:nvCxnSpPr>
            <p:spPr>
              <a:xfrm>
                <a:off x="560371" y="5450212"/>
                <a:ext cx="152442" cy="797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>
              <a:xfrm flipV="1">
                <a:off x="636592" y="5370906"/>
                <a:ext cx="0" cy="11032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/>
              <p:cNvCxnSpPr/>
              <p:nvPr/>
            </p:nvCxnSpPr>
            <p:spPr>
              <a:xfrm>
                <a:off x="636592" y="5370905"/>
                <a:ext cx="2748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Group 15"/>
          <p:cNvGrpSpPr/>
          <p:nvPr/>
        </p:nvGrpSpPr>
        <p:grpSpPr>
          <a:xfrm>
            <a:off x="6103666" y="3499386"/>
            <a:ext cx="4920709" cy="1048089"/>
            <a:chOff x="6103666" y="3499386"/>
            <a:chExt cx="4920709" cy="1048089"/>
          </a:xfrm>
        </p:grpSpPr>
        <p:grpSp>
          <p:nvGrpSpPr>
            <p:cNvPr id="49" name="Group 48"/>
            <p:cNvGrpSpPr/>
            <p:nvPr/>
          </p:nvGrpSpPr>
          <p:grpSpPr>
            <a:xfrm>
              <a:off x="6893614" y="3504478"/>
              <a:ext cx="1439914" cy="581499"/>
              <a:chOff x="2688288" y="2593604"/>
              <a:chExt cx="3190904" cy="581499"/>
            </a:xfrm>
          </p:grpSpPr>
          <p:cxnSp>
            <p:nvCxnSpPr>
              <p:cNvPr id="50" name="Straight Arrow Connector 49"/>
              <p:cNvCxnSpPr/>
              <p:nvPr/>
            </p:nvCxnSpPr>
            <p:spPr>
              <a:xfrm flipV="1">
                <a:off x="2688288" y="2593604"/>
                <a:ext cx="2772308" cy="5113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 flipV="1">
                <a:off x="3106884" y="2663743"/>
                <a:ext cx="2772308" cy="51136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/>
            <p:cNvGrpSpPr/>
            <p:nvPr/>
          </p:nvGrpSpPr>
          <p:grpSpPr>
            <a:xfrm flipH="1">
              <a:off x="8758631" y="3499386"/>
              <a:ext cx="1439914" cy="581499"/>
              <a:chOff x="2688288" y="2593604"/>
              <a:chExt cx="3190904" cy="581499"/>
            </a:xfrm>
          </p:grpSpPr>
          <p:cxnSp>
            <p:nvCxnSpPr>
              <p:cNvPr id="53" name="Straight Arrow Connector 52"/>
              <p:cNvCxnSpPr/>
              <p:nvPr/>
            </p:nvCxnSpPr>
            <p:spPr>
              <a:xfrm flipV="1">
                <a:off x="2688288" y="2593604"/>
                <a:ext cx="2772308" cy="5113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 flipV="1">
                <a:off x="3106884" y="2663743"/>
                <a:ext cx="2772308" cy="51136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6103666" y="3837425"/>
              <a:ext cx="929463" cy="705472"/>
              <a:chOff x="6103666" y="3837425"/>
              <a:chExt cx="929463" cy="705472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6310" y="3837425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01" name="Group 200"/>
              <p:cNvGrpSpPr/>
              <p:nvPr/>
            </p:nvGrpSpPr>
            <p:grpSpPr>
              <a:xfrm>
                <a:off x="6103666" y="4215154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02" name="Straight Connector 201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" name="Group 13"/>
            <p:cNvGrpSpPr/>
            <p:nvPr/>
          </p:nvGrpSpPr>
          <p:grpSpPr>
            <a:xfrm>
              <a:off x="10081909" y="3842003"/>
              <a:ext cx="942466" cy="705472"/>
              <a:chOff x="10081909" y="3842003"/>
              <a:chExt cx="942466" cy="705472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81909" y="3842003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08" name="Group 207"/>
              <p:cNvGrpSpPr/>
              <p:nvPr/>
            </p:nvGrpSpPr>
            <p:grpSpPr>
              <a:xfrm flipH="1">
                <a:off x="10692726" y="4215154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09" name="Straight Connector 208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/>
          <p:cNvGrpSpPr/>
          <p:nvPr/>
        </p:nvGrpSpPr>
        <p:grpSpPr>
          <a:xfrm>
            <a:off x="1181110" y="2783795"/>
            <a:ext cx="7703412" cy="1058208"/>
            <a:chOff x="1181110" y="2783795"/>
            <a:chExt cx="7703412" cy="1058208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7703" y="3136531"/>
              <a:ext cx="656819" cy="705472"/>
            </a:xfrm>
            <a:prstGeom prst="rect">
              <a:avLst/>
            </a:prstGeom>
          </p:spPr>
        </p:pic>
        <p:grpSp>
          <p:nvGrpSpPr>
            <p:cNvPr id="6" name="Group 5"/>
            <p:cNvGrpSpPr/>
            <p:nvPr/>
          </p:nvGrpSpPr>
          <p:grpSpPr>
            <a:xfrm>
              <a:off x="1989756" y="2783795"/>
              <a:ext cx="2951544" cy="581499"/>
              <a:chOff x="2927648" y="2593604"/>
              <a:chExt cx="2951544" cy="581499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 flipV="1">
                <a:off x="2927648" y="2593604"/>
                <a:ext cx="2772308" cy="5113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 flipV="1">
                <a:off x="3106884" y="2663743"/>
                <a:ext cx="2772308" cy="51136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/>
            <p:cNvGrpSpPr/>
            <p:nvPr/>
          </p:nvGrpSpPr>
          <p:grpSpPr>
            <a:xfrm flipH="1">
              <a:off x="5374132" y="2788584"/>
              <a:ext cx="2951544" cy="581499"/>
              <a:chOff x="2927648" y="2593604"/>
              <a:chExt cx="2951544" cy="581499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V="1">
                <a:off x="2927648" y="2593604"/>
                <a:ext cx="2772308" cy="51136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V="1">
                <a:off x="3106884" y="2663743"/>
                <a:ext cx="2772308" cy="51136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1181110" y="3136531"/>
              <a:ext cx="929235" cy="705472"/>
              <a:chOff x="1181110" y="3136531"/>
              <a:chExt cx="929235" cy="705472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3526" y="3136531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16" name="Group 215"/>
              <p:cNvGrpSpPr/>
              <p:nvPr/>
            </p:nvGrpSpPr>
            <p:grpSpPr>
              <a:xfrm>
                <a:off x="1181110" y="3507976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17" name="Straight Connector 216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/>
          <p:cNvGrpSpPr/>
          <p:nvPr/>
        </p:nvGrpSpPr>
        <p:grpSpPr>
          <a:xfrm>
            <a:off x="2710380" y="1916832"/>
            <a:ext cx="3050851" cy="1219699"/>
            <a:chOff x="2710380" y="1916832"/>
            <a:chExt cx="3050851" cy="1219699"/>
          </a:xfrm>
        </p:grpSpPr>
        <p:grpSp>
          <p:nvGrpSpPr>
            <p:cNvPr id="10" name="Group 9"/>
            <p:cNvGrpSpPr/>
            <p:nvPr/>
          </p:nvGrpSpPr>
          <p:grpSpPr>
            <a:xfrm>
              <a:off x="4829698" y="2431059"/>
              <a:ext cx="931533" cy="705472"/>
              <a:chOff x="4829698" y="2431059"/>
              <a:chExt cx="931533" cy="705472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9698" y="243105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12" name="Group 211"/>
              <p:cNvGrpSpPr/>
              <p:nvPr/>
            </p:nvGrpSpPr>
            <p:grpSpPr>
              <a:xfrm flipH="1">
                <a:off x="5429582" y="2573379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13" name="Straight Connector 212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20" name="Straight Arrow Connector 219"/>
            <p:cNvCxnSpPr>
              <a:stCxn id="223" idx="3"/>
            </p:cNvCxnSpPr>
            <p:nvPr/>
          </p:nvCxnSpPr>
          <p:spPr>
            <a:xfrm>
              <a:off x="3898512" y="2147665"/>
              <a:ext cx="859179" cy="47422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/>
                <p:cNvSpPr txBox="1"/>
                <p:nvPr/>
              </p:nvSpPr>
              <p:spPr>
                <a:xfrm>
                  <a:off x="2710380" y="1916832"/>
                  <a:ext cx="118813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𝑟𝑜𝑜𝑡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3" name="TextBox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380" y="1916832"/>
                  <a:ext cx="1188132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2" name="Group 241"/>
          <p:cNvGrpSpPr/>
          <p:nvPr/>
        </p:nvGrpSpPr>
        <p:grpSpPr>
          <a:xfrm>
            <a:off x="9239764" y="2005529"/>
            <a:ext cx="1766953" cy="1156468"/>
            <a:chOff x="539407" y="6188703"/>
            <a:chExt cx="1766953" cy="1156468"/>
          </a:xfrm>
        </p:grpSpPr>
        <p:sp>
          <p:nvSpPr>
            <p:cNvPr id="227" name="Rectangle 226"/>
            <p:cNvSpPr/>
            <p:nvPr/>
          </p:nvSpPr>
          <p:spPr>
            <a:xfrm>
              <a:off x="587388" y="6197617"/>
              <a:ext cx="1692188" cy="11198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9" name="Straight Connector 228"/>
            <p:cNvCxnSpPr/>
            <p:nvPr/>
          </p:nvCxnSpPr>
          <p:spPr>
            <a:xfrm>
              <a:off x="589774" y="6597352"/>
              <a:ext cx="16921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587388" y="6993396"/>
              <a:ext cx="16921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435868" y="6597352"/>
              <a:ext cx="0" cy="39604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/>
                <p:cNvSpPr txBox="1"/>
                <p:nvPr/>
              </p:nvSpPr>
              <p:spPr>
                <a:xfrm>
                  <a:off x="1391081" y="6582185"/>
                  <a:ext cx="9152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𝑝𝑜𝑖𝑛𝑡𝑒𝑟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2" name="TextBox 2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081" y="6582185"/>
                  <a:ext cx="91527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987" r="-596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6" name="Rectangle 235"/>
            <p:cNvSpPr/>
            <p:nvPr/>
          </p:nvSpPr>
          <p:spPr>
            <a:xfrm>
              <a:off x="586367" y="6592296"/>
              <a:ext cx="864096" cy="401099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1416673" y="6602409"/>
              <a:ext cx="864096" cy="40109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578720" y="6197617"/>
              <a:ext cx="1700855" cy="401099"/>
            </a:xfrm>
            <a:prstGeom prst="rect">
              <a:avLst/>
            </a:prstGeom>
            <a:solidFill>
              <a:schemeClr val="bg1">
                <a:lumMod val="5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/>
                <p:cNvSpPr txBox="1"/>
                <p:nvPr/>
              </p:nvSpPr>
              <p:spPr>
                <a:xfrm>
                  <a:off x="539407" y="6590768"/>
                  <a:ext cx="9152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𝑝𝑜𝑖𝑛𝑡𝑒𝑟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9" name="TextBox 2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07" y="6590768"/>
                  <a:ext cx="91527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00" r="-6667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/>
                <p:cNvSpPr txBox="1"/>
                <p:nvPr/>
              </p:nvSpPr>
              <p:spPr>
                <a:xfrm>
                  <a:off x="984387" y="6188703"/>
                  <a:ext cx="9152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𝑝𝑜𝑖𝑛𝑡𝑒𝑟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0" name="TextBox 2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387" y="6188703"/>
                  <a:ext cx="915279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000" r="-6667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240"/>
                <p:cNvSpPr txBox="1"/>
                <p:nvPr/>
              </p:nvSpPr>
              <p:spPr>
                <a:xfrm>
                  <a:off x="949740" y="6975839"/>
                  <a:ext cx="9152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1" name="TextBox 2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40" y="6975839"/>
                  <a:ext cx="91527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0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Straight Arrow Connector 219"/>
          <p:cNvCxnSpPr>
            <a:stCxn id="223" idx="3"/>
          </p:cNvCxnSpPr>
          <p:nvPr/>
        </p:nvCxnSpPr>
        <p:spPr>
          <a:xfrm>
            <a:off x="5170038" y="707505"/>
            <a:ext cx="859179" cy="47422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/>
              <p:cNvSpPr txBox="1"/>
              <p:nvPr/>
            </p:nvSpPr>
            <p:spPr>
              <a:xfrm>
                <a:off x="3981906" y="476672"/>
                <a:ext cx="1188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𝑟𝑜𝑜𝑡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3" name="TextBox 2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906" y="476672"/>
                <a:ext cx="118813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1227726" y="2385051"/>
            <a:ext cx="2552753" cy="2433497"/>
            <a:chOff x="1227726" y="2385051"/>
            <a:chExt cx="2552753" cy="2433497"/>
          </a:xfrm>
        </p:grpSpPr>
        <p:grpSp>
          <p:nvGrpSpPr>
            <p:cNvPr id="61" name="Group 60"/>
            <p:cNvGrpSpPr/>
            <p:nvPr/>
          </p:nvGrpSpPr>
          <p:grpSpPr>
            <a:xfrm>
              <a:off x="1743804" y="2385051"/>
              <a:ext cx="541190" cy="753993"/>
              <a:chOff x="5786576" y="2770960"/>
              <a:chExt cx="2969889" cy="576294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 flipV="1">
                <a:off x="6510909" y="3069003"/>
                <a:ext cx="1904677" cy="278251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 flipV="1">
                <a:off x="5786576" y="2770960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9" name="Straight Arrow Connector 118"/>
            <p:cNvCxnSpPr/>
            <p:nvPr/>
          </p:nvCxnSpPr>
          <p:spPr>
            <a:xfrm flipH="1" flipV="1">
              <a:off x="2731668" y="2774995"/>
              <a:ext cx="347081" cy="36404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 flipH="1" flipV="1">
              <a:off x="2080842" y="3443981"/>
              <a:ext cx="695830" cy="183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6" name="Group 145"/>
            <p:cNvGrpSpPr/>
            <p:nvPr/>
          </p:nvGrpSpPr>
          <p:grpSpPr>
            <a:xfrm>
              <a:off x="2988732" y="3450189"/>
              <a:ext cx="173005" cy="770896"/>
              <a:chOff x="5675239" y="2713580"/>
              <a:chExt cx="2740347" cy="589215"/>
            </a:xfrm>
          </p:grpSpPr>
          <p:cxnSp>
            <p:nvCxnSpPr>
              <p:cNvPr id="147" name="Straight Arrow Connector 146"/>
              <p:cNvCxnSpPr/>
              <p:nvPr/>
            </p:nvCxnSpPr>
            <p:spPr>
              <a:xfrm flipV="1">
                <a:off x="8415570" y="3019556"/>
                <a:ext cx="16" cy="283239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V="1">
                <a:off x="5675239" y="2713580"/>
                <a:ext cx="0" cy="44738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2549441" y="4113076"/>
              <a:ext cx="1219803" cy="705472"/>
              <a:chOff x="2549441" y="4113076"/>
              <a:chExt cx="1219803" cy="705472"/>
            </a:xfrm>
          </p:grpSpPr>
          <p:pic>
            <p:nvPicPr>
              <p:cNvPr id="145" name="Picture 1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0934" y="4113076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171" name="Group 170"/>
              <p:cNvGrpSpPr/>
              <p:nvPr/>
            </p:nvGrpSpPr>
            <p:grpSpPr>
              <a:xfrm>
                <a:off x="2549441" y="4481198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159" name="Group 158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0" name="Group 9"/>
            <p:cNvGrpSpPr/>
            <p:nvPr/>
          </p:nvGrpSpPr>
          <p:grpSpPr>
            <a:xfrm>
              <a:off x="2835537" y="3067479"/>
              <a:ext cx="944942" cy="705472"/>
              <a:chOff x="2835537" y="3067479"/>
              <a:chExt cx="944942" cy="705472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5537" y="306747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25" name="Group 224"/>
              <p:cNvGrpSpPr/>
              <p:nvPr/>
            </p:nvGrpSpPr>
            <p:grpSpPr>
              <a:xfrm flipH="1">
                <a:off x="3448830" y="3450679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35" name="Straight Connector 234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Group 8"/>
            <p:cNvGrpSpPr/>
            <p:nvPr/>
          </p:nvGrpSpPr>
          <p:grpSpPr>
            <a:xfrm>
              <a:off x="1227726" y="3073609"/>
              <a:ext cx="940916" cy="705472"/>
              <a:chOff x="1227726" y="3073609"/>
              <a:chExt cx="940916" cy="705472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1823" y="307360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26" name="Group 225"/>
              <p:cNvGrpSpPr/>
              <p:nvPr/>
            </p:nvGrpSpPr>
            <p:grpSpPr>
              <a:xfrm>
                <a:off x="1227726" y="3452327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28" name="Straight Connector 227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3" name="Group 22"/>
          <p:cNvGrpSpPr/>
          <p:nvPr/>
        </p:nvGrpSpPr>
        <p:grpSpPr>
          <a:xfrm>
            <a:off x="5811219" y="3431091"/>
            <a:ext cx="2533207" cy="1387457"/>
            <a:chOff x="5811219" y="3431091"/>
            <a:chExt cx="2533207" cy="1387457"/>
          </a:xfrm>
        </p:grpSpPr>
        <p:grpSp>
          <p:nvGrpSpPr>
            <p:cNvPr id="141" name="Group 140"/>
            <p:cNvGrpSpPr/>
            <p:nvPr/>
          </p:nvGrpSpPr>
          <p:grpSpPr>
            <a:xfrm>
              <a:off x="6323964" y="3431091"/>
              <a:ext cx="541190" cy="753993"/>
              <a:chOff x="5786576" y="2770960"/>
              <a:chExt cx="2969889" cy="576294"/>
            </a:xfrm>
          </p:grpSpPr>
          <p:cxnSp>
            <p:nvCxnSpPr>
              <p:cNvPr id="142" name="Straight Arrow Connector 141"/>
              <p:cNvCxnSpPr/>
              <p:nvPr/>
            </p:nvCxnSpPr>
            <p:spPr>
              <a:xfrm flipV="1">
                <a:off x="6510909" y="3069003"/>
                <a:ext cx="1904677" cy="278251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 flipV="1">
                <a:off x="5786576" y="2770960"/>
                <a:ext cx="2969889" cy="422517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4" name="Straight Arrow Connector 143"/>
            <p:cNvCxnSpPr/>
            <p:nvPr/>
          </p:nvCxnSpPr>
          <p:spPr>
            <a:xfrm flipH="1" flipV="1">
              <a:off x="7311828" y="3821035"/>
              <a:ext cx="347081" cy="36404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/>
            <p:cNvCxnSpPr/>
            <p:nvPr/>
          </p:nvCxnSpPr>
          <p:spPr>
            <a:xfrm flipH="1" flipV="1">
              <a:off x="6645658" y="4432435"/>
              <a:ext cx="712637" cy="11235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7124623" y="4113076"/>
              <a:ext cx="1219803" cy="705472"/>
              <a:chOff x="7124623" y="4113076"/>
              <a:chExt cx="1219803" cy="705472"/>
            </a:xfrm>
          </p:grpSpPr>
          <p:grpSp>
            <p:nvGrpSpPr>
              <p:cNvPr id="201" name="Group 200"/>
              <p:cNvGrpSpPr/>
              <p:nvPr/>
            </p:nvGrpSpPr>
            <p:grpSpPr>
              <a:xfrm>
                <a:off x="7417326" y="4473116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02" name="Straight Connector 201"/>
                <p:cNvCxnSpPr/>
                <p:nvPr/>
              </p:nvCxnSpPr>
              <p:spPr>
                <a:xfrm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6116" y="4113076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181" name="Group 180"/>
              <p:cNvGrpSpPr/>
              <p:nvPr/>
            </p:nvGrpSpPr>
            <p:grpSpPr>
              <a:xfrm>
                <a:off x="7124623" y="4500094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182" name="Group 181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87" name="Straight Connector 186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3" name="Group 182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184" name="Straight Connector 183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7" name="Group 16"/>
            <p:cNvGrpSpPr/>
            <p:nvPr/>
          </p:nvGrpSpPr>
          <p:grpSpPr>
            <a:xfrm>
              <a:off x="5811219" y="4113076"/>
              <a:ext cx="934941" cy="705472"/>
              <a:chOff x="5811219" y="4113076"/>
              <a:chExt cx="934941" cy="705472"/>
            </a:xfrm>
          </p:grpSpPr>
          <p:pic>
            <p:nvPicPr>
              <p:cNvPr id="139" name="Picture 1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9341" y="4113076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54" name="Group 253"/>
              <p:cNvGrpSpPr/>
              <p:nvPr/>
            </p:nvGrpSpPr>
            <p:grpSpPr>
              <a:xfrm>
                <a:off x="5811219" y="4497579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55" name="Straight Connector 254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1" name="Group 20"/>
          <p:cNvGrpSpPr/>
          <p:nvPr/>
        </p:nvGrpSpPr>
        <p:grpSpPr>
          <a:xfrm>
            <a:off x="3863774" y="2486032"/>
            <a:ext cx="5159954" cy="1286919"/>
            <a:chOff x="3863774" y="2486032"/>
            <a:chExt cx="5159954" cy="1286919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1606" y="3067479"/>
              <a:ext cx="656819" cy="705472"/>
            </a:xfrm>
            <a:prstGeom prst="rect">
              <a:avLst/>
            </a:prstGeom>
          </p:spPr>
        </p:pic>
        <p:cxnSp>
          <p:nvCxnSpPr>
            <p:cNvPr id="59" name="Straight Arrow Connector 58"/>
            <p:cNvCxnSpPr/>
            <p:nvPr/>
          </p:nvCxnSpPr>
          <p:spPr>
            <a:xfrm flipV="1">
              <a:off x="5981028" y="2794755"/>
              <a:ext cx="301407" cy="35377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4701442" y="3391158"/>
              <a:ext cx="695830" cy="183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flipH="1" flipV="1">
              <a:off x="6032886" y="3443748"/>
              <a:ext cx="695830" cy="183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 flipV="1">
              <a:off x="7359038" y="3391446"/>
              <a:ext cx="695830" cy="183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/>
            <p:cNvGrpSpPr/>
            <p:nvPr/>
          </p:nvGrpSpPr>
          <p:grpSpPr>
            <a:xfrm>
              <a:off x="4673369" y="2486032"/>
              <a:ext cx="1601285" cy="673874"/>
              <a:chOff x="3189581" y="2556389"/>
              <a:chExt cx="2968670" cy="584985"/>
            </a:xfrm>
          </p:grpSpPr>
          <p:cxnSp>
            <p:nvCxnSpPr>
              <p:cNvPr id="131" name="Straight Arrow Connector 130"/>
              <p:cNvCxnSpPr/>
              <p:nvPr/>
            </p:nvCxnSpPr>
            <p:spPr>
              <a:xfrm flipV="1">
                <a:off x="3189581" y="2563513"/>
                <a:ext cx="2528148" cy="567990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V="1">
                <a:off x="3566329" y="2556389"/>
                <a:ext cx="2591922" cy="584985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Arrow Connector 136"/>
            <p:cNvCxnSpPr/>
            <p:nvPr/>
          </p:nvCxnSpPr>
          <p:spPr>
            <a:xfrm flipH="1" flipV="1">
              <a:off x="6534300" y="2794755"/>
              <a:ext cx="301407" cy="35377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 flipH="1" flipV="1">
              <a:off x="6824974" y="2493582"/>
              <a:ext cx="1363670" cy="654296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/>
            <p:cNvGrpSpPr/>
            <p:nvPr/>
          </p:nvGrpSpPr>
          <p:grpSpPr>
            <a:xfrm>
              <a:off x="5167850" y="3067479"/>
              <a:ext cx="933800" cy="705472"/>
              <a:chOff x="5167850" y="3067479"/>
              <a:chExt cx="933800" cy="705472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4831" y="306747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46" name="Group 245"/>
              <p:cNvGrpSpPr/>
              <p:nvPr/>
            </p:nvGrpSpPr>
            <p:grpSpPr>
              <a:xfrm>
                <a:off x="5167850" y="3448048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47" name="Straight Connector 246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Group 10"/>
            <p:cNvGrpSpPr/>
            <p:nvPr/>
          </p:nvGrpSpPr>
          <p:grpSpPr>
            <a:xfrm>
              <a:off x="3863774" y="3060314"/>
              <a:ext cx="924089" cy="705472"/>
              <a:chOff x="3863774" y="3060314"/>
              <a:chExt cx="924089" cy="705472"/>
            </a:xfrm>
          </p:grpSpPr>
          <p:pic>
            <p:nvPicPr>
              <p:cNvPr id="117" name="Picture 11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1044" y="3060314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50" name="Group 249"/>
              <p:cNvGrpSpPr/>
              <p:nvPr/>
            </p:nvGrpSpPr>
            <p:grpSpPr>
              <a:xfrm>
                <a:off x="3863774" y="3449240"/>
                <a:ext cx="331649" cy="139898"/>
                <a:chOff x="560371" y="5370905"/>
                <a:chExt cx="351053" cy="159069"/>
              </a:xfrm>
            </p:grpSpPr>
            <p:cxnSp>
              <p:nvCxnSpPr>
                <p:cNvPr id="251" name="Straight Connector 250"/>
                <p:cNvCxnSpPr/>
                <p:nvPr/>
              </p:nvCxnSpPr>
              <p:spPr>
                <a:xfrm flipH="1">
                  <a:off x="560371" y="5450212"/>
                  <a:ext cx="152442" cy="797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/>
                <p:cNvCxnSpPr/>
                <p:nvPr/>
              </p:nvCxnSpPr>
              <p:spPr>
                <a:xfrm flipV="1">
                  <a:off x="636592" y="5370906"/>
                  <a:ext cx="0" cy="11032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/>
              </p:nvCxnSpPr>
              <p:spPr>
                <a:xfrm>
                  <a:off x="636592" y="5370905"/>
                  <a:ext cx="27483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" name="Group 12"/>
            <p:cNvGrpSpPr/>
            <p:nvPr/>
          </p:nvGrpSpPr>
          <p:grpSpPr>
            <a:xfrm>
              <a:off x="7803925" y="3067479"/>
              <a:ext cx="1219803" cy="705472"/>
              <a:chOff x="7803925" y="3067479"/>
              <a:chExt cx="1219803" cy="705472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1099" y="3067479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67" name="Group 266"/>
              <p:cNvGrpSpPr/>
              <p:nvPr/>
            </p:nvGrpSpPr>
            <p:grpSpPr>
              <a:xfrm>
                <a:off x="7803925" y="3452327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268" name="Group 267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273" name="Straight Connector 272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" name="Group 268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270" name="Straight Connector 269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5" name="Group 24"/>
          <p:cNvGrpSpPr/>
          <p:nvPr/>
        </p:nvGrpSpPr>
        <p:grpSpPr>
          <a:xfrm>
            <a:off x="9742311" y="2458931"/>
            <a:ext cx="1219803" cy="1324896"/>
            <a:chOff x="9742311" y="2458931"/>
            <a:chExt cx="1219803" cy="1324896"/>
          </a:xfrm>
        </p:grpSpPr>
        <p:grpSp>
          <p:nvGrpSpPr>
            <p:cNvPr id="14" name="Group 13"/>
            <p:cNvGrpSpPr/>
            <p:nvPr/>
          </p:nvGrpSpPr>
          <p:grpSpPr>
            <a:xfrm>
              <a:off x="9742311" y="3078355"/>
              <a:ext cx="1219803" cy="705472"/>
              <a:chOff x="9742311" y="3078355"/>
              <a:chExt cx="1219803" cy="705472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26286" y="3078355"/>
                <a:ext cx="656819" cy="705472"/>
              </a:xfrm>
              <a:prstGeom prst="rect">
                <a:avLst/>
              </a:prstGeom>
            </p:spPr>
          </p:pic>
          <p:grpSp>
            <p:nvGrpSpPr>
              <p:cNvPr id="258" name="Group 257"/>
              <p:cNvGrpSpPr/>
              <p:nvPr/>
            </p:nvGrpSpPr>
            <p:grpSpPr>
              <a:xfrm>
                <a:off x="9742311" y="3463065"/>
                <a:ext cx="1219803" cy="140098"/>
                <a:chOff x="1817780" y="4961463"/>
                <a:chExt cx="1219803" cy="140098"/>
              </a:xfrm>
            </p:grpSpPr>
            <p:grpSp>
              <p:nvGrpSpPr>
                <p:cNvPr id="259" name="Group 258"/>
                <p:cNvGrpSpPr/>
                <p:nvPr/>
              </p:nvGrpSpPr>
              <p:grpSpPr>
                <a:xfrm flipH="1">
                  <a:off x="2705934" y="49614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264" name="Straight Connector 263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0" name="Group 259"/>
                <p:cNvGrpSpPr/>
                <p:nvPr/>
              </p:nvGrpSpPr>
              <p:grpSpPr>
                <a:xfrm>
                  <a:off x="1817780" y="4961663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261" name="Straight Connector 260"/>
                  <p:cNvCxnSpPr/>
                  <p:nvPr/>
                </p:nvCxnSpPr>
                <p:spPr>
                  <a:xfrm flipH="1"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76" name="Group 275"/>
            <p:cNvGrpSpPr/>
            <p:nvPr/>
          </p:nvGrpSpPr>
          <p:grpSpPr>
            <a:xfrm>
              <a:off x="10173811" y="2458931"/>
              <a:ext cx="173005" cy="770896"/>
              <a:chOff x="5675239" y="2713580"/>
              <a:chExt cx="2740347" cy="589215"/>
            </a:xfrm>
          </p:grpSpPr>
          <p:cxnSp>
            <p:nvCxnSpPr>
              <p:cNvPr id="277" name="Straight Arrow Connector 276"/>
              <p:cNvCxnSpPr/>
              <p:nvPr/>
            </p:nvCxnSpPr>
            <p:spPr>
              <a:xfrm flipV="1">
                <a:off x="8415570" y="3019556"/>
                <a:ext cx="16" cy="283239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/>
              <p:cNvCxnSpPr/>
              <p:nvPr/>
            </p:nvCxnSpPr>
            <p:spPr>
              <a:xfrm flipV="1">
                <a:off x="5675239" y="2713580"/>
                <a:ext cx="0" cy="44738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/>
          <p:cNvGrpSpPr/>
          <p:nvPr/>
        </p:nvGrpSpPr>
        <p:grpSpPr>
          <a:xfrm>
            <a:off x="6101224" y="990899"/>
            <a:ext cx="931533" cy="705472"/>
            <a:chOff x="6101224" y="990899"/>
            <a:chExt cx="931533" cy="705472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1224" y="990899"/>
              <a:ext cx="656819" cy="705472"/>
            </a:xfrm>
            <a:prstGeom prst="rect">
              <a:avLst/>
            </a:prstGeom>
          </p:spPr>
        </p:pic>
        <p:grpSp>
          <p:nvGrpSpPr>
            <p:cNvPr id="212" name="Group 211"/>
            <p:cNvGrpSpPr/>
            <p:nvPr/>
          </p:nvGrpSpPr>
          <p:grpSpPr>
            <a:xfrm flipH="1">
              <a:off x="6701108" y="1133219"/>
              <a:ext cx="331649" cy="139898"/>
              <a:chOff x="560371" y="5370905"/>
              <a:chExt cx="351053" cy="159069"/>
            </a:xfrm>
          </p:grpSpPr>
          <p:cxnSp>
            <p:nvCxnSpPr>
              <p:cNvPr id="213" name="Straight Connector 212"/>
              <p:cNvCxnSpPr/>
              <p:nvPr/>
            </p:nvCxnSpPr>
            <p:spPr>
              <a:xfrm>
                <a:off x="560371" y="5450212"/>
                <a:ext cx="152442" cy="797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>
              <a:xfrm flipV="1">
                <a:off x="636592" y="5370906"/>
                <a:ext cx="0" cy="11032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/>
              <p:cNvCxnSpPr/>
              <p:nvPr/>
            </p:nvCxnSpPr>
            <p:spPr>
              <a:xfrm>
                <a:off x="636592" y="5370905"/>
                <a:ext cx="2748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1" name="Group 280"/>
            <p:cNvGrpSpPr/>
            <p:nvPr/>
          </p:nvGrpSpPr>
          <p:grpSpPr>
            <a:xfrm flipH="1">
              <a:off x="6685527" y="1415777"/>
              <a:ext cx="331649" cy="139898"/>
              <a:chOff x="560371" y="5370905"/>
              <a:chExt cx="351053" cy="159069"/>
            </a:xfrm>
          </p:grpSpPr>
          <p:cxnSp>
            <p:nvCxnSpPr>
              <p:cNvPr id="282" name="Straight Connector 281"/>
              <p:cNvCxnSpPr/>
              <p:nvPr/>
            </p:nvCxnSpPr>
            <p:spPr>
              <a:xfrm>
                <a:off x="560371" y="5450212"/>
                <a:ext cx="152442" cy="797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/>
              <p:cNvCxnSpPr/>
              <p:nvPr/>
            </p:nvCxnSpPr>
            <p:spPr>
              <a:xfrm flipV="1">
                <a:off x="636592" y="5370906"/>
                <a:ext cx="0" cy="11032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/>
              <p:cNvCxnSpPr/>
              <p:nvPr/>
            </p:nvCxnSpPr>
            <p:spPr>
              <a:xfrm>
                <a:off x="636592" y="5370905"/>
                <a:ext cx="2748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Rectangle 27"/>
          <p:cNvSpPr/>
          <p:nvPr/>
        </p:nvSpPr>
        <p:spPr>
          <a:xfrm>
            <a:off x="965430" y="5247201"/>
            <a:ext cx="10261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Three pointers at node are sufficient so all children can be reached in time linear in the number of children.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174473" y="1357926"/>
            <a:ext cx="8789801" cy="1409133"/>
            <a:chOff x="2174473" y="1357926"/>
            <a:chExt cx="8789801" cy="1409133"/>
          </a:xfrm>
        </p:grpSpPr>
        <p:grpSp>
          <p:nvGrpSpPr>
            <p:cNvPr id="20" name="Group 19"/>
            <p:cNvGrpSpPr/>
            <p:nvPr/>
          </p:nvGrpSpPr>
          <p:grpSpPr>
            <a:xfrm>
              <a:off x="2174473" y="1357926"/>
              <a:ext cx="8789801" cy="1409133"/>
              <a:chOff x="2174473" y="1357926"/>
              <a:chExt cx="8789801" cy="1409133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4473" y="2051805"/>
                <a:ext cx="656819" cy="677357"/>
              </a:xfrm>
              <a:prstGeom prst="rect">
                <a:avLst/>
              </a:prstGeom>
            </p:spPr>
          </p:pic>
          <p:grpSp>
            <p:nvGrpSpPr>
              <p:cNvPr id="6" name="Group 5"/>
              <p:cNvGrpSpPr/>
              <p:nvPr/>
            </p:nvGrpSpPr>
            <p:grpSpPr>
              <a:xfrm>
                <a:off x="2731668" y="1357926"/>
                <a:ext cx="3436729" cy="904459"/>
                <a:chOff x="2927648" y="2593604"/>
                <a:chExt cx="2891445" cy="548435"/>
              </a:xfrm>
            </p:grpSpPr>
            <p:cxnSp>
              <p:nvCxnSpPr>
                <p:cNvPr id="4" name="Straight Arrow Connector 3"/>
                <p:cNvCxnSpPr/>
                <p:nvPr/>
              </p:nvCxnSpPr>
              <p:spPr>
                <a:xfrm flipV="1">
                  <a:off x="2927648" y="2593604"/>
                  <a:ext cx="2772308" cy="51136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 flipV="1">
                  <a:off x="3046785" y="2630679"/>
                  <a:ext cx="2772308" cy="511360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Arrow Connector 47"/>
              <p:cNvCxnSpPr/>
              <p:nvPr/>
            </p:nvCxnSpPr>
            <p:spPr>
              <a:xfrm flipH="1">
                <a:off x="2776672" y="2401843"/>
                <a:ext cx="3260367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/>
              <p:cNvGrpSpPr/>
              <p:nvPr/>
            </p:nvGrpSpPr>
            <p:grpSpPr>
              <a:xfrm>
                <a:off x="10026287" y="2055958"/>
                <a:ext cx="937987" cy="705472"/>
                <a:chOff x="10026287" y="2055958"/>
                <a:chExt cx="937987" cy="705472"/>
              </a:xfrm>
            </p:grpSpPr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26287" y="2055958"/>
                  <a:ext cx="656819" cy="705472"/>
                </a:xfrm>
                <a:prstGeom prst="rect">
                  <a:avLst/>
                </a:prstGeom>
              </p:spPr>
            </p:pic>
            <p:grpSp>
              <p:nvGrpSpPr>
                <p:cNvPr id="208" name="Group 207"/>
                <p:cNvGrpSpPr/>
                <p:nvPr/>
              </p:nvGrpSpPr>
              <p:grpSpPr>
                <a:xfrm flipH="1">
                  <a:off x="10632625" y="2425492"/>
                  <a:ext cx="331649" cy="139898"/>
                  <a:chOff x="560371" y="5370905"/>
                  <a:chExt cx="351053" cy="159069"/>
                </a:xfrm>
              </p:grpSpPr>
              <p:cxnSp>
                <p:nvCxnSpPr>
                  <p:cNvPr id="209" name="Straight Connector 208"/>
                  <p:cNvCxnSpPr/>
                  <p:nvPr/>
                </p:nvCxnSpPr>
                <p:spPr>
                  <a:xfrm>
                    <a:off x="560371" y="5450212"/>
                    <a:ext cx="152442" cy="7976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/>
                  <p:cNvCxnSpPr/>
                  <p:nvPr/>
                </p:nvCxnSpPr>
                <p:spPr>
                  <a:xfrm flipV="1">
                    <a:off x="636592" y="5370906"/>
                    <a:ext cx="0" cy="110322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/>
                  <p:cNvCxnSpPr/>
                  <p:nvPr/>
                </p:nvCxnSpPr>
                <p:spPr>
                  <a:xfrm>
                    <a:off x="636592" y="5370905"/>
                    <a:ext cx="27483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16" name="Picture 1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1224" y="2061587"/>
                <a:ext cx="656819" cy="705472"/>
              </a:xfrm>
              <a:prstGeom prst="rect">
                <a:avLst/>
              </a:prstGeom>
            </p:spPr>
          </p:pic>
          <p:cxnSp>
            <p:nvCxnSpPr>
              <p:cNvPr id="279" name="Straight Arrow Connector 278"/>
              <p:cNvCxnSpPr/>
              <p:nvPr/>
            </p:nvCxnSpPr>
            <p:spPr>
              <a:xfrm flipH="1">
                <a:off x="6693911" y="2435282"/>
                <a:ext cx="3260367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/>
              <p:cNvCxnSpPr/>
              <p:nvPr/>
            </p:nvCxnSpPr>
            <p:spPr>
              <a:xfrm flipH="1" flipV="1">
                <a:off x="6822228" y="1360318"/>
                <a:ext cx="3295125" cy="843316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9" name="Straight Arrow Connector 148"/>
            <p:cNvCxnSpPr>
              <a:stCxn id="116" idx="0"/>
              <a:endCxn id="35" idx="2"/>
            </p:cNvCxnSpPr>
            <p:nvPr/>
          </p:nvCxnSpPr>
          <p:spPr>
            <a:xfrm flipV="1">
              <a:off x="6429634" y="1696371"/>
              <a:ext cx="0" cy="365216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70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32" y="2888704"/>
            <a:ext cx="5095875" cy="327660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2605944" y="3557252"/>
            <a:ext cx="1980220" cy="540060"/>
            <a:chOff x="2603612" y="3104964"/>
            <a:chExt cx="1980220" cy="540060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2603612" y="3104964"/>
              <a:ext cx="782525" cy="54006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791744" y="3104964"/>
              <a:ext cx="792088" cy="54006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4190120" y="4421348"/>
            <a:ext cx="1224136" cy="432048"/>
            <a:chOff x="4187788" y="3969060"/>
            <a:chExt cx="1224136" cy="432048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4979876" y="3969060"/>
              <a:ext cx="432048" cy="43204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187788" y="3969060"/>
              <a:ext cx="432048" cy="43204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1759900" y="4427022"/>
            <a:ext cx="1224136" cy="432048"/>
            <a:chOff x="1757568" y="3974734"/>
            <a:chExt cx="1224136" cy="43204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549656" y="3974734"/>
              <a:ext cx="432048" cy="43204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1757568" y="3974734"/>
              <a:ext cx="432048" cy="43204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1273796" y="5277363"/>
            <a:ext cx="576064" cy="338063"/>
            <a:chOff x="2603612" y="3306961"/>
            <a:chExt cx="576064" cy="338063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603612" y="3306961"/>
              <a:ext cx="180020" cy="338063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018265" y="3315042"/>
              <a:ext cx="161411" cy="329982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/>
          <p:cNvCxnSpPr/>
          <p:nvPr/>
        </p:nvCxnSpPr>
        <p:spPr>
          <a:xfrm flipH="1">
            <a:off x="2905395" y="5285444"/>
            <a:ext cx="168601" cy="32998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869808" y="3733283"/>
                <a:ext cx="5120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:</a:t>
                </a: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08" y="3733283"/>
                <a:ext cx="512000" cy="523220"/>
              </a:xfrm>
              <a:prstGeom prst="rect">
                <a:avLst/>
              </a:prstGeom>
              <a:blipFill>
                <a:blip r:embed="rId4"/>
                <a:stretch>
                  <a:fillRect t="-10465" r="-21429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048345" y="440668"/>
            <a:ext cx="609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Heaps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838200" y="1124744"/>
                <a:ext cx="105156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A heap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keys is an array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equivalent to balanced binary tree (leaves’ depth differs by at moat 1). Depth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24744"/>
                <a:ext cx="10515600" cy="954107"/>
              </a:xfrm>
              <a:prstGeom prst="rect">
                <a:avLst/>
              </a:prstGeom>
              <a:blipFill>
                <a:blip r:embed="rId5"/>
                <a:stretch>
                  <a:fillRect l="-1217" t="-6410" r="-1159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36984" y="2221704"/>
                <a:ext cx="10515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Parent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Left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Right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, hardware efficient.  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84" y="2221704"/>
                <a:ext cx="10515600" cy="523220"/>
              </a:xfrm>
              <a:prstGeom prst="rect">
                <a:avLst/>
              </a:prstGeom>
              <a:blipFill>
                <a:blip r:embed="rId6"/>
                <a:stretch>
                  <a:fillRect t="-10465" r="-272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491684" y="4589541"/>
                <a:ext cx="4860900" cy="1184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800" b="1" i="1" dirty="0"/>
                  <a:t>Max-heap</a:t>
                </a:r>
                <a:r>
                  <a:rPr lang="en-US" sz="2800" b="0" dirty="0"/>
                  <a:t>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Parent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sz="2800" dirty="0"/>
              </a:p>
              <a:p>
                <a:pPr>
                  <a:spcAft>
                    <a:spcPts val="1800"/>
                  </a:spcAft>
                </a:pPr>
                <a:r>
                  <a:rPr lang="en-US" sz="2800" b="1" i="1" dirty="0"/>
                  <a:t>Min-heap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Parent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684" y="4589541"/>
                <a:ext cx="4860900" cy="1184940"/>
              </a:xfrm>
              <a:prstGeom prst="rect">
                <a:avLst/>
              </a:prstGeom>
              <a:blipFill>
                <a:blip r:embed="rId7"/>
                <a:stretch>
                  <a:fillRect l="-2635" t="-5155" b="-13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8454" y="3092946"/>
            <a:ext cx="4248150" cy="1200150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7394164" y="3380978"/>
            <a:ext cx="828876" cy="432048"/>
            <a:chOff x="7391360" y="4113076"/>
            <a:chExt cx="828876" cy="432048"/>
          </a:xfrm>
        </p:grpSpPr>
        <p:sp>
          <p:nvSpPr>
            <p:cNvPr id="10" name="Arc 9"/>
            <p:cNvSpPr/>
            <p:nvPr/>
          </p:nvSpPr>
          <p:spPr>
            <a:xfrm>
              <a:off x="7392144" y="4113076"/>
              <a:ext cx="828092" cy="432048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/>
            <p:cNvSpPr/>
            <p:nvPr/>
          </p:nvSpPr>
          <p:spPr>
            <a:xfrm>
              <a:off x="7391360" y="4185084"/>
              <a:ext cx="432832" cy="252028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223040" y="3380978"/>
            <a:ext cx="1620180" cy="396044"/>
            <a:chOff x="8220236" y="4113076"/>
            <a:chExt cx="1620180" cy="396044"/>
          </a:xfrm>
        </p:grpSpPr>
        <p:sp>
          <p:nvSpPr>
            <p:cNvPr id="23" name="Arc 22"/>
            <p:cNvSpPr/>
            <p:nvPr/>
          </p:nvSpPr>
          <p:spPr>
            <a:xfrm>
              <a:off x="8225794" y="4113076"/>
              <a:ext cx="1614622" cy="396044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>
              <a:off x="8220236" y="4203768"/>
              <a:ext cx="1224136" cy="216024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 flipV="1">
            <a:off x="7826996" y="3787626"/>
            <a:ext cx="1224136" cy="385440"/>
            <a:chOff x="8220236" y="4123680"/>
            <a:chExt cx="1224136" cy="385440"/>
          </a:xfrm>
        </p:grpSpPr>
        <p:sp>
          <p:nvSpPr>
            <p:cNvPr id="33" name="Arc 32"/>
            <p:cNvSpPr/>
            <p:nvPr/>
          </p:nvSpPr>
          <p:spPr>
            <a:xfrm>
              <a:off x="8220236" y="4123680"/>
              <a:ext cx="1224136" cy="385440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/>
            <p:cNvSpPr/>
            <p:nvPr/>
          </p:nvSpPr>
          <p:spPr>
            <a:xfrm>
              <a:off x="8220236" y="4203768"/>
              <a:ext cx="786408" cy="243948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 flipV="1">
            <a:off x="8619084" y="3741016"/>
            <a:ext cx="2052228" cy="432049"/>
            <a:chOff x="8196475" y="4107612"/>
            <a:chExt cx="2052228" cy="432049"/>
          </a:xfrm>
        </p:grpSpPr>
        <p:sp>
          <p:nvSpPr>
            <p:cNvPr id="39" name="Arc 38"/>
            <p:cNvSpPr/>
            <p:nvPr/>
          </p:nvSpPr>
          <p:spPr>
            <a:xfrm>
              <a:off x="8196475" y="4107612"/>
              <a:ext cx="2052228" cy="432049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c 39"/>
            <p:cNvSpPr/>
            <p:nvPr/>
          </p:nvSpPr>
          <p:spPr>
            <a:xfrm>
              <a:off x="8220235" y="4187700"/>
              <a:ext cx="1632423" cy="260017"/>
            </a:xfrm>
            <a:prstGeom prst="arc">
              <a:avLst>
                <a:gd name="adj1" fmla="val 10790057"/>
                <a:gd name="adj2" fmla="val 0"/>
              </a:avLst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Arc 40"/>
          <p:cNvSpPr/>
          <p:nvPr/>
        </p:nvSpPr>
        <p:spPr>
          <a:xfrm>
            <a:off x="9051132" y="3471668"/>
            <a:ext cx="2016224" cy="214663"/>
          </a:xfrm>
          <a:prstGeom prst="arc">
            <a:avLst>
              <a:gd name="adj1" fmla="val 10790057"/>
              <a:gd name="adj2" fmla="val 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639344" y="3503489"/>
                <a:ext cx="5120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:</a:t>
                </a: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344" y="3503489"/>
                <a:ext cx="512000" cy="523220"/>
              </a:xfrm>
              <a:prstGeom prst="rect">
                <a:avLst/>
              </a:prstGeom>
              <a:blipFill>
                <a:blip r:embed="rId9"/>
                <a:stretch>
                  <a:fillRect t="-11628" r="-2500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54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88" y="2852292"/>
            <a:ext cx="5040560" cy="322219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838200" y="3048286"/>
            <a:ext cx="1765412" cy="873678"/>
            <a:chOff x="803412" y="3167390"/>
            <a:chExt cx="1765412" cy="873678"/>
          </a:xfrm>
        </p:grpSpPr>
        <p:sp>
          <p:nvSpPr>
            <p:cNvPr id="11" name="TextBox 10"/>
            <p:cNvSpPr txBox="1"/>
            <p:nvPr/>
          </p:nvSpPr>
          <p:spPr>
            <a:xfrm>
              <a:off x="803412" y="3167390"/>
              <a:ext cx="17654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violation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703512" y="3717032"/>
              <a:ext cx="432048" cy="32403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693726" y="4288664"/>
            <a:ext cx="1521487" cy="655783"/>
            <a:chOff x="1658938" y="4406979"/>
            <a:chExt cx="1521487" cy="655783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2676836" y="4406979"/>
              <a:ext cx="361256" cy="373960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H="1">
              <a:off x="1658938" y="4447609"/>
              <a:ext cx="334076" cy="340656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658938" y="4539542"/>
              <a:ext cx="15214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FF"/>
                  </a:solidFill>
                </a:rPr>
                <a:t>compete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47928" y="2816932"/>
            <a:ext cx="5891216" cy="3257550"/>
            <a:chOff x="5447928" y="2953716"/>
            <a:chExt cx="5891216" cy="32575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2794" y="2953716"/>
              <a:ext cx="5086350" cy="3257550"/>
            </a:xfrm>
            <a:prstGeom prst="rect">
              <a:avLst/>
            </a:prstGeom>
          </p:spPr>
        </p:pic>
        <p:grpSp>
          <p:nvGrpSpPr>
            <p:cNvPr id="70" name="Group 69"/>
            <p:cNvGrpSpPr/>
            <p:nvPr/>
          </p:nvGrpSpPr>
          <p:grpSpPr>
            <a:xfrm>
              <a:off x="5447928" y="3933056"/>
              <a:ext cx="1765412" cy="873678"/>
              <a:chOff x="803412" y="3167390"/>
              <a:chExt cx="1765412" cy="873678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803412" y="3167390"/>
                <a:ext cx="17654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violation</a:t>
                </a:r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>
                <a:off x="1703512" y="3717032"/>
                <a:ext cx="432048" cy="32403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oup 70"/>
          <p:cNvGrpSpPr/>
          <p:nvPr/>
        </p:nvGrpSpPr>
        <p:grpSpPr>
          <a:xfrm>
            <a:off x="6252794" y="5194604"/>
            <a:ext cx="1476164" cy="705744"/>
            <a:chOff x="1608278" y="4565722"/>
            <a:chExt cx="1476164" cy="705744"/>
          </a:xfrm>
        </p:grpSpPr>
        <p:cxnSp>
          <p:nvCxnSpPr>
            <p:cNvPr id="72" name="Straight Arrow Connector 71"/>
            <p:cNvCxnSpPr/>
            <p:nvPr/>
          </p:nvCxnSpPr>
          <p:spPr>
            <a:xfrm>
              <a:off x="2645063" y="4568863"/>
              <a:ext cx="166468" cy="300059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H="1">
              <a:off x="1842887" y="4565722"/>
              <a:ext cx="153297" cy="303200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1608278" y="4748246"/>
              <a:ext cx="14761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FF"/>
                  </a:solidFill>
                </a:rPr>
                <a:t>compete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838200" y="726549"/>
                <a:ext cx="1051560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How to maintain the heap property?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Let rooted subtrees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Left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Right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 satisfy max-heap property, but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 not, i.e.,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Left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Right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726549"/>
                <a:ext cx="10515600" cy="1874359"/>
              </a:xfrm>
              <a:prstGeom prst="rect">
                <a:avLst/>
              </a:prstGeom>
              <a:blipFill>
                <a:blip r:embed="rId5"/>
                <a:stretch>
                  <a:fillRect l="-1217" t="-325" r="-1159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95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64441" y="873646"/>
            <a:ext cx="10063118" cy="5110708"/>
            <a:chOff x="623392" y="728700"/>
            <a:chExt cx="10063118" cy="5110708"/>
          </a:xfrm>
        </p:grpSpPr>
        <p:grpSp>
          <p:nvGrpSpPr>
            <p:cNvPr id="27" name="Group 26"/>
            <p:cNvGrpSpPr/>
            <p:nvPr/>
          </p:nvGrpSpPr>
          <p:grpSpPr>
            <a:xfrm>
              <a:off x="653734" y="764704"/>
              <a:ext cx="10032776" cy="5074704"/>
              <a:chOff x="1307468" y="838572"/>
              <a:chExt cx="10032776" cy="5074704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7468" y="838572"/>
                <a:ext cx="7104586" cy="5074704"/>
              </a:xfrm>
              <a:prstGeom prst="rect">
                <a:avLst/>
              </a:prstGeom>
            </p:spPr>
          </p:pic>
          <p:sp>
            <p:nvSpPr>
              <p:cNvPr id="23" name="TextBox 22"/>
              <p:cNvSpPr txBox="1"/>
              <p:nvPr/>
            </p:nvSpPr>
            <p:spPr>
              <a:xfrm>
                <a:off x="4727848" y="2636912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left son beats parent 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392144" y="2240868"/>
                <a:ext cx="27959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left son exists</a:t>
                </a:r>
                <a:r>
                  <a:rPr lang="he-IL" sz="2800" dirty="0">
                    <a:solidFill>
                      <a:srgbClr val="009900"/>
                    </a:solidFill>
                  </a:rPr>
                  <a:t>?</a:t>
                </a:r>
                <a:endParaRPr lang="en-US" sz="2800" dirty="0">
                  <a:solidFill>
                    <a:srgbClr val="009900"/>
                  </a:solidFill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613395" y="4017329"/>
                <a:ext cx="49356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right son beats parent and left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292244" y="3595515"/>
                <a:ext cx="3048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right son exists</a:t>
                </a:r>
                <a:r>
                  <a:rPr lang="he-IL" sz="2800" dirty="0">
                    <a:solidFill>
                      <a:srgbClr val="009900"/>
                    </a:solidFill>
                  </a:rPr>
                  <a:t>?</a:t>
                </a:r>
                <a:endParaRPr lang="en-US" sz="2800" dirty="0">
                  <a:solidFill>
                    <a:srgbClr val="009900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284132" y="4925229"/>
                <a:ext cx="31683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downshift parent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924092" y="5309909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proceed recursively </a:t>
                </a: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623392" y="728700"/>
              <a:ext cx="9991110" cy="5110708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3880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38200" y="1124744"/>
                <a:ext cx="10515600" cy="4635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HEAPIFY</m:t>
                    </m:r>
                  </m:oMath>
                </a14:m>
                <a:r>
                  <a:rPr lang="en-US" sz="2800" dirty="0"/>
                  <a:t> works top-down to maintain the heap property.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Runtime satisfies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  <a:endParaRPr lang="en-US" sz="2800" i="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HEAPIFY</m:t>
                    </m:r>
                  </m:oMath>
                </a14:m>
                <a:r>
                  <a:rPr lang="en-US" sz="2800" dirty="0"/>
                  <a:t> can be employed bottom-up to make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 heap.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Heap embodiment dictates that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’s leaves (1-element heap) reside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Modification of array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to heap is done by first populating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and then  applying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HEAPIFY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24744"/>
                <a:ext cx="10515600" cy="4635115"/>
              </a:xfrm>
              <a:prstGeom prst="rect">
                <a:avLst/>
              </a:prstGeom>
              <a:blipFill>
                <a:blip r:embed="rId3"/>
                <a:stretch>
                  <a:fillRect l="-1217" t="-263" r="-1159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026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029" y="764704"/>
            <a:ext cx="5793942" cy="2007703"/>
          </a:xfrm>
          <a:prstGeom prst="rect">
            <a:avLst/>
          </a:prstGeom>
          <a:ln w="28575">
            <a:solidFill>
              <a:schemeClr val="bg1">
                <a:lumMod val="75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3074" y="3104964"/>
                <a:ext cx="105156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HEAPIFY</m:t>
                    </m:r>
                  </m:oMath>
                </a14:m>
                <a:r>
                  <a:rPr lang="en-US" sz="2800" dirty="0"/>
                  <a:t> assumed the invariance that the subtrees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Left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Right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 are already heaps.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Need to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BUILD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HEAP</m:t>
                    </m:r>
                  </m:oMath>
                </a14:m>
                <a:r>
                  <a:rPr lang="en-US" sz="2800" dirty="0"/>
                  <a:t> maintains the invariance.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Prior to first iteration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+1..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are leaves, hence invariance is trivially satisfied.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74" y="3104964"/>
                <a:ext cx="10515600" cy="3139321"/>
              </a:xfrm>
              <a:prstGeom prst="rect">
                <a:avLst/>
              </a:prstGeom>
              <a:blipFill>
                <a:blip r:embed="rId3"/>
                <a:stretch>
                  <a:fillRect l="-1217" t="-194" r="-1159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17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836712"/>
                <a:ext cx="1051560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loop index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is decreasing, it is encountered after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 are done. Hence the corresponding subtrees are heaps.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last iteration processes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, which is the root of the entire tree.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BUILD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HEAP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runtime stems from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iterations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HEAPIFY</m:t>
                    </m:r>
                  </m:oMath>
                </a14:m>
                <a:r>
                  <a:rPr lang="en-US" sz="2800" dirty="0"/>
                  <a:t>, each bounded by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Better bound is possible. </a:t>
                </a:r>
                <a:endParaRPr lang="en-US" sz="28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HEAPIFY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runtime is actually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,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’s height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(distance to leaf).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36712"/>
                <a:ext cx="10515600" cy="5152180"/>
              </a:xfrm>
              <a:prstGeom prst="rect">
                <a:avLst/>
              </a:prstGeom>
              <a:blipFill>
                <a:blip r:embed="rId2"/>
                <a:stretch>
                  <a:fillRect l="-1217" t="-118" r="-1159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73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836712"/>
                <a:ext cx="10515600" cy="395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-node binary balanced tree, the number of nodes at height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 (root height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) is at most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Summing up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HEAPIFY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over all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’s levels yields: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d>
                          <m:dPr>
                            <m:begChr m:val="⌊"/>
                            <m:endChr m:val="⌋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sup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d>
                          </m:sup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nary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nary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36712"/>
                <a:ext cx="10515600" cy="3950184"/>
              </a:xfrm>
              <a:prstGeom prst="rect">
                <a:avLst/>
              </a:prstGeom>
              <a:blipFill>
                <a:blip r:embed="rId2"/>
                <a:stretch>
                  <a:fillRect l="-1217" t="-154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38200" y="5085184"/>
            <a:ext cx="10515600" cy="1008112"/>
            <a:chOff x="262703" y="4653136"/>
            <a:chExt cx="10405805" cy="1008112"/>
          </a:xfrm>
        </p:grpSpPr>
        <p:sp>
          <p:nvSpPr>
            <p:cNvPr id="7" name="Rectangular Callout 6"/>
            <p:cNvSpPr/>
            <p:nvPr/>
          </p:nvSpPr>
          <p:spPr>
            <a:xfrm>
              <a:off x="262703" y="4653136"/>
              <a:ext cx="10405805" cy="1008112"/>
            </a:xfrm>
            <a:prstGeom prst="wedgeRectCallout">
              <a:avLst>
                <a:gd name="adj1" fmla="val -30407"/>
                <a:gd name="adj2" fmla="val -87378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62703" y="4698549"/>
                  <a:ext cx="10369801" cy="9626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&lt;1, 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p>
                          </m:e>
                        </m:nary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drivate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nary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703" y="4698549"/>
                  <a:ext cx="10369801" cy="9626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130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309750" y="361400"/>
            <a:ext cx="754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Heap Sort</a:t>
            </a:r>
            <a:endParaRPr lang="en-US" sz="3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Elementary DS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38200" y="944724"/>
                <a:ext cx="10515600" cy="112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Some applications require to remove the largest (smallest) key from the heap and then recover the heap property of the reminder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keys.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44724"/>
                <a:ext cx="10515600" cy="1126462"/>
              </a:xfrm>
              <a:prstGeom prst="rect">
                <a:avLst/>
              </a:prstGeom>
              <a:blipFill>
                <a:blip r:embed="rId3"/>
                <a:stretch>
                  <a:fillRect l="-1217" t="-1081" r="-1159" b="-1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38200" y="4689140"/>
                <a:ext cx="10515600" cy="1643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Heap Sort </a:t>
                </a:r>
                <a:r>
                  <a:rPr lang="en-US" sz="2800" dirty="0"/>
                  <a:t>(J.W.J. Williams 1964) applies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HEAP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EXTRACT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 sz="2800" dirty="0"/>
                  <a:t>) repetitions to sort an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-array in decreasing (increasing) order.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HW: </a:t>
                </a:r>
                <a:r>
                  <a:rPr lang="en-US" sz="2800" dirty="0">
                    <a:solidFill>
                      <a:schemeClr val="tx1"/>
                    </a:solidFill>
                  </a:rPr>
                  <a:t>write code and prove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runtime.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89140"/>
                <a:ext cx="10515600" cy="1643527"/>
              </a:xfrm>
              <a:prstGeom prst="rect">
                <a:avLst/>
              </a:prstGeom>
              <a:blipFill>
                <a:blip r:embed="rId4"/>
                <a:stretch>
                  <a:fillRect l="-1217" t="-370" r="-1159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919536" y="2096852"/>
            <a:ext cx="8316924" cy="2551763"/>
            <a:chOff x="1919536" y="2173381"/>
            <a:chExt cx="8316924" cy="2551763"/>
          </a:xfrm>
        </p:grpSpPr>
        <p:grpSp>
          <p:nvGrpSpPr>
            <p:cNvPr id="9" name="Group 8"/>
            <p:cNvGrpSpPr/>
            <p:nvPr/>
          </p:nvGrpSpPr>
          <p:grpSpPr>
            <a:xfrm>
              <a:off x="1979884" y="2204864"/>
              <a:ext cx="8232232" cy="2484276"/>
              <a:chOff x="911423" y="2240868"/>
              <a:chExt cx="8232232" cy="2484276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1423" y="2240868"/>
                <a:ext cx="4977317" cy="2484276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3251684" y="2564904"/>
                <a:ext cx="352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largest key is the 1</a:t>
                </a:r>
                <a:r>
                  <a:rPr lang="en-US" sz="2800" baseline="30000" dirty="0">
                    <a:solidFill>
                      <a:srgbClr val="009900"/>
                    </a:solidFill>
                  </a:rPr>
                  <a:t>st</a:t>
                </a:r>
                <a:r>
                  <a:rPr lang="en-US" sz="2800" dirty="0">
                    <a:solidFill>
                      <a:srgbClr val="009900"/>
                    </a:solidFill>
                  </a:rPr>
                  <a:t>  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687620" y="2967035"/>
                <a:ext cx="40726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fill in the vacant location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867702" y="3351761"/>
                <a:ext cx="32759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decrease heap size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458023" y="3786254"/>
                <a:ext cx="37982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9900"/>
                    </a:solidFill>
                  </a:rPr>
                  <a:t>// recover heap property</a:t>
                </a: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1919536" y="2173381"/>
              <a:ext cx="8316924" cy="2551763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59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11423</TotalTime>
  <Words>1497</Words>
  <Application>Microsoft Office PowerPoint</Application>
  <PresentationFormat>Widescreen</PresentationFormat>
  <Paragraphs>361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Elementary Data Structures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406</cp:revision>
  <dcterms:created xsi:type="dcterms:W3CDTF">2021-10-08T01:25:47Z</dcterms:created>
  <dcterms:modified xsi:type="dcterms:W3CDTF">2026-03-10T15:32:37Z</dcterms:modified>
</cp:coreProperties>
</file>