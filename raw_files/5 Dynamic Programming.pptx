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82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83" r:id="rId14"/>
    <p:sldId id="284" r:id="rId15"/>
    <p:sldId id="269" r:id="rId16"/>
    <p:sldId id="272" r:id="rId17"/>
    <p:sldId id="273" r:id="rId18"/>
    <p:sldId id="286" r:id="rId19"/>
    <p:sldId id="285" r:id="rId20"/>
    <p:sldId id="275" r:id="rId21"/>
    <p:sldId id="287" r:id="rId22"/>
    <p:sldId id="276" r:id="rId23"/>
    <p:sldId id="277" r:id="rId24"/>
    <p:sldId id="279" r:id="rId25"/>
    <p:sldId id="288" r:id="rId26"/>
    <p:sldId id="280" r:id="rId27"/>
    <p:sldId id="281" r:id="rId28"/>
    <p:sldId id="28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160" userDrawn="1">
          <p15:clr>
            <a:srgbClr val="A4A3A4"/>
          </p15:clr>
        </p15:guide>
        <p15:guide id="4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FF"/>
    <a:srgbClr val="0099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94A5C8-3141-4056-BC22-AFCBBB3ACAB7}" v="1" dt="2026-03-10T15:35:57.5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232" autoAdjust="0"/>
    <p:restoredTop sz="94660"/>
  </p:normalViewPr>
  <p:slideViewPr>
    <p:cSldViewPr>
      <p:cViewPr varScale="1">
        <p:scale>
          <a:sx n="78" d="100"/>
          <a:sy n="78" d="100"/>
        </p:scale>
        <p:origin x="1301" y="6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muel Wimer" userId="8ef14acc-0d94-4859-bee1-3b6488f0f102" providerId="ADAL" clId="{2891196E-E581-47E3-AAD7-5B981CEF6CD4}"/>
    <pc:docChg chg="custSel modSld">
      <pc:chgData name="Shmuel Wimer" userId="8ef14acc-0d94-4859-bee1-3b6488f0f102" providerId="ADAL" clId="{2891196E-E581-47E3-AAD7-5B981CEF6CD4}" dt="2026-03-10T15:35:57.599" v="1" actId="27636"/>
      <pc:docMkLst>
        <pc:docMk/>
      </pc:docMkLst>
      <pc:sldChg chg="modSp mod">
        <pc:chgData name="Shmuel Wimer" userId="8ef14acc-0d94-4859-bee1-3b6488f0f102" providerId="ADAL" clId="{2891196E-E581-47E3-AAD7-5B981CEF6CD4}" dt="2026-03-10T15:35:57.599" v="1" actId="27636"/>
        <pc:sldMkLst>
          <pc:docMk/>
          <pc:sldMk cId="4163084423" sldId="256"/>
        </pc:sldMkLst>
        <pc:spChg chg="mod">
          <ac:chgData name="Shmuel Wimer" userId="8ef14acc-0d94-4859-bee1-3b6488f0f102" providerId="ADAL" clId="{2891196E-E581-47E3-AAD7-5B981CEF6CD4}" dt="2026-03-10T15:35:57.599" v="1" actId="27636"/>
          <ac:spMkLst>
            <pc:docMk/>
            <pc:sldMk cId="4163084423" sldId="256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EF9FEB-9CFE-496E-93BE-D56B6107DD7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33D3-E1A2-4212-A489-A5CBFD00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85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94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556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584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053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890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41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16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686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201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67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80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656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74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263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76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762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L"/>
              <a:t>April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Algorithms and DS I: Dynamic Programming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156EA-883B-491A-9A56-90F6CDBF6EC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940" y="0"/>
            <a:ext cx="705060" cy="68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8955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2483" y="628895"/>
            <a:ext cx="6107033" cy="791587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+mn-lt"/>
              </a:rPr>
              <a:t>Dynamic Programming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968" y="2955177"/>
            <a:ext cx="2869418" cy="321670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</a:t>
            </a:fld>
            <a:endParaRPr lang="en-US"/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3166008" y="1771071"/>
            <a:ext cx="5859982" cy="8650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Prepared by Shmuel Wimer</a:t>
            </a:r>
          </a:p>
          <a:p>
            <a:r>
              <a:rPr lang="en-US" dirty="0"/>
              <a:t>Instructed </a:t>
            </a:r>
            <a:r>
              <a:rPr lang="en-US"/>
              <a:t>by Deganit Armon </a:t>
            </a:r>
            <a:r>
              <a:rPr lang="en-US" dirty="0"/>
              <a:t>and Shmuel Wimer </a:t>
            </a:r>
          </a:p>
        </p:txBody>
      </p:sp>
    </p:spTree>
    <p:extLst>
      <p:ext uri="{BB962C8B-B14F-4D97-AF65-F5344CB8AC3E}">
        <p14:creationId xmlns:p14="http://schemas.microsoft.com/office/powerpoint/2010/main" val="4163084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5792348"/>
                  </p:ext>
                </p:extLst>
              </p:nvPr>
            </p:nvGraphicFramePr>
            <p:xfrm>
              <a:off x="5524771" y="1294448"/>
              <a:ext cx="4820541" cy="105722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62379">
                      <a:extLst>
                        <a:ext uri="{9D8B030D-6E8A-4147-A177-3AD203B41FA5}">
                          <a16:colId xmlns:a16="http://schemas.microsoft.com/office/drawing/2014/main" val="4257051545"/>
                        </a:ext>
                      </a:extLst>
                    </a:gridCol>
                    <a:gridCol w="612183">
                      <a:extLst>
                        <a:ext uri="{9D8B030D-6E8A-4147-A177-3AD203B41FA5}">
                          <a16:colId xmlns:a16="http://schemas.microsoft.com/office/drawing/2014/main" val="3612276132"/>
                        </a:ext>
                      </a:extLst>
                    </a:gridCol>
                    <a:gridCol w="584291">
                      <a:extLst>
                        <a:ext uri="{9D8B030D-6E8A-4147-A177-3AD203B41FA5}">
                          <a16:colId xmlns:a16="http://schemas.microsoft.com/office/drawing/2014/main" val="2378185763"/>
                        </a:ext>
                      </a:extLst>
                    </a:gridCol>
                    <a:gridCol w="549479">
                      <a:extLst>
                        <a:ext uri="{9D8B030D-6E8A-4147-A177-3AD203B41FA5}">
                          <a16:colId xmlns:a16="http://schemas.microsoft.com/office/drawing/2014/main" val="350593201"/>
                        </a:ext>
                      </a:extLst>
                    </a:gridCol>
                    <a:gridCol w="587229">
                      <a:extLst>
                        <a:ext uri="{9D8B030D-6E8A-4147-A177-3AD203B41FA5}">
                          <a16:colId xmlns:a16="http://schemas.microsoft.com/office/drawing/2014/main" val="2476863291"/>
                        </a:ext>
                      </a:extLst>
                    </a:gridCol>
                    <a:gridCol w="624980">
                      <a:extLst>
                        <a:ext uri="{9D8B030D-6E8A-4147-A177-3AD203B41FA5}">
                          <a16:colId xmlns:a16="http://schemas.microsoft.com/office/drawing/2014/main" val="2662235636"/>
                        </a:ext>
                      </a:extLst>
                    </a:gridCol>
                  </a:tblGrid>
                  <a:tr h="5286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sz="2800" i="0" dirty="0" smtClean="0">
                                  <a:latin typeface="Cambria Math" panose="02040503050406030204" pitchFamily="18" charset="0"/>
                                </a:rPr>
                                <m:t>Length</m:t>
                              </m:r>
                            </m:oMath>
                          </a14:m>
                          <a:r>
                            <a:rPr lang="en-US" sz="2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oMath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7255189"/>
                      </a:ext>
                    </a:extLst>
                  </a:tr>
                  <a:tr h="5286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sz="2800" i="0" dirty="0" smtClean="0">
                                  <a:latin typeface="Cambria Math" panose="02040503050406030204" pitchFamily="18" charset="0"/>
                                </a:rPr>
                                <m:t>Price</m:t>
                              </m:r>
                            </m:oMath>
                          </a14:m>
                          <a:r>
                            <a:rPr lang="en-US" sz="280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36568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5792348"/>
                  </p:ext>
                </p:extLst>
              </p:nvPr>
            </p:nvGraphicFramePr>
            <p:xfrm>
              <a:off x="5524771" y="1294448"/>
              <a:ext cx="4820541" cy="105722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62379">
                      <a:extLst>
                        <a:ext uri="{9D8B030D-6E8A-4147-A177-3AD203B41FA5}">
                          <a16:colId xmlns:a16="http://schemas.microsoft.com/office/drawing/2014/main" val="4257051545"/>
                        </a:ext>
                      </a:extLst>
                    </a:gridCol>
                    <a:gridCol w="612183">
                      <a:extLst>
                        <a:ext uri="{9D8B030D-6E8A-4147-A177-3AD203B41FA5}">
                          <a16:colId xmlns:a16="http://schemas.microsoft.com/office/drawing/2014/main" val="3612276132"/>
                        </a:ext>
                      </a:extLst>
                    </a:gridCol>
                    <a:gridCol w="584291">
                      <a:extLst>
                        <a:ext uri="{9D8B030D-6E8A-4147-A177-3AD203B41FA5}">
                          <a16:colId xmlns:a16="http://schemas.microsoft.com/office/drawing/2014/main" val="2378185763"/>
                        </a:ext>
                      </a:extLst>
                    </a:gridCol>
                    <a:gridCol w="549479">
                      <a:extLst>
                        <a:ext uri="{9D8B030D-6E8A-4147-A177-3AD203B41FA5}">
                          <a16:colId xmlns:a16="http://schemas.microsoft.com/office/drawing/2014/main" val="350593201"/>
                        </a:ext>
                      </a:extLst>
                    </a:gridCol>
                    <a:gridCol w="587229">
                      <a:extLst>
                        <a:ext uri="{9D8B030D-6E8A-4147-A177-3AD203B41FA5}">
                          <a16:colId xmlns:a16="http://schemas.microsoft.com/office/drawing/2014/main" val="2476863291"/>
                        </a:ext>
                      </a:extLst>
                    </a:gridCol>
                    <a:gridCol w="624980">
                      <a:extLst>
                        <a:ext uri="{9D8B030D-6E8A-4147-A177-3AD203B41FA5}">
                          <a16:colId xmlns:a16="http://schemas.microsoft.com/office/drawing/2014/main" val="2662235636"/>
                        </a:ext>
                      </a:extLst>
                    </a:gridCol>
                  </a:tblGrid>
                  <a:tr h="5286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7" t="-1149" r="-159477" b="-10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3960" t="-1149" r="-383168" b="-10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5000" t="-1149" r="-303125" b="-10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60000" t="-1149" r="-223333" b="-10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18750" t="-1149" r="-109375" b="-10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69903" t="-1149" r="-1942" b="-102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7255189"/>
                      </a:ext>
                    </a:extLst>
                  </a:tr>
                  <a:tr h="5286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7" t="-101149" r="-159477" b="-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3960" t="-101149" r="-383168" b="-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5000" t="-101149" r="-303125" b="-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60000" t="-101149" r="-223333" b="-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18750" t="-101149" r="-109375" b="-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69903" t="-101149" r="-1942" b="-2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365685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6" name="Group 15"/>
          <p:cNvGrpSpPr/>
          <p:nvPr/>
        </p:nvGrpSpPr>
        <p:grpSpPr>
          <a:xfrm>
            <a:off x="1545812" y="1344188"/>
            <a:ext cx="2985459" cy="1011326"/>
            <a:chOff x="2474259" y="3707781"/>
            <a:chExt cx="2985459" cy="1011326"/>
          </a:xfrm>
        </p:grpSpPr>
        <p:sp>
          <p:nvSpPr>
            <p:cNvPr id="3" name="Oval 2"/>
            <p:cNvSpPr/>
            <p:nvPr/>
          </p:nvSpPr>
          <p:spPr>
            <a:xfrm>
              <a:off x="2474259" y="3707781"/>
              <a:ext cx="610783" cy="100792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Arc 4"/>
            <p:cNvSpPr/>
            <p:nvPr/>
          </p:nvSpPr>
          <p:spPr>
            <a:xfrm>
              <a:off x="3093321" y="3707781"/>
              <a:ext cx="469547" cy="1007923"/>
            </a:xfrm>
            <a:prstGeom prst="arc">
              <a:avLst>
                <a:gd name="adj1" fmla="val 16200000"/>
                <a:gd name="adj2" fmla="val 5467071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Arc 5"/>
            <p:cNvSpPr/>
            <p:nvPr/>
          </p:nvSpPr>
          <p:spPr>
            <a:xfrm>
              <a:off x="3576785" y="3711184"/>
              <a:ext cx="463787" cy="1007923"/>
            </a:xfrm>
            <a:prstGeom prst="arc">
              <a:avLst>
                <a:gd name="adj1" fmla="val 16200000"/>
                <a:gd name="adj2" fmla="val 5467071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Arc 6"/>
            <p:cNvSpPr/>
            <p:nvPr/>
          </p:nvSpPr>
          <p:spPr>
            <a:xfrm>
              <a:off x="4042920" y="3707781"/>
              <a:ext cx="469547" cy="1007923"/>
            </a:xfrm>
            <a:prstGeom prst="arc">
              <a:avLst>
                <a:gd name="adj1" fmla="val 16200000"/>
                <a:gd name="adj2" fmla="val 5467071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Arc 7"/>
            <p:cNvSpPr/>
            <p:nvPr/>
          </p:nvSpPr>
          <p:spPr>
            <a:xfrm>
              <a:off x="4520624" y="3707781"/>
              <a:ext cx="469547" cy="1007923"/>
            </a:xfrm>
            <a:prstGeom prst="arc">
              <a:avLst>
                <a:gd name="adj1" fmla="val 16200000"/>
                <a:gd name="adj2" fmla="val 5467071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/>
            <p:cNvCxnSpPr>
              <a:stCxn id="3" idx="0"/>
              <a:endCxn id="13" idx="0"/>
            </p:cNvCxnSpPr>
            <p:nvPr/>
          </p:nvCxnSpPr>
          <p:spPr>
            <a:xfrm>
              <a:off x="2779651" y="3707781"/>
              <a:ext cx="244529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>
              <a:endCxn id="13" idx="2"/>
            </p:cNvCxnSpPr>
            <p:nvPr/>
          </p:nvCxnSpPr>
          <p:spPr>
            <a:xfrm flipV="1">
              <a:off x="2820806" y="4715263"/>
              <a:ext cx="2394313" cy="44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Arc 12"/>
            <p:cNvSpPr/>
            <p:nvPr/>
          </p:nvSpPr>
          <p:spPr>
            <a:xfrm>
              <a:off x="4990171" y="3707781"/>
              <a:ext cx="469547" cy="1007923"/>
            </a:xfrm>
            <a:prstGeom prst="arc">
              <a:avLst>
                <a:gd name="adj1" fmla="val 16200000"/>
                <a:gd name="adj2" fmla="val 5467071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3457074" y="277608"/>
            <a:ext cx="5277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Rod Cutting Optimization</a:t>
            </a:r>
          </a:p>
        </p:txBody>
      </p:sp>
      <p:grpSp>
        <p:nvGrpSpPr>
          <p:cNvPr id="92" name="Group 91"/>
          <p:cNvGrpSpPr/>
          <p:nvPr/>
        </p:nvGrpSpPr>
        <p:grpSpPr>
          <a:xfrm>
            <a:off x="1360774" y="2905853"/>
            <a:ext cx="9744448" cy="1520159"/>
            <a:chOff x="1360774" y="2648070"/>
            <a:chExt cx="9744448" cy="1520159"/>
          </a:xfrm>
        </p:grpSpPr>
        <p:grpSp>
          <p:nvGrpSpPr>
            <p:cNvPr id="86" name="Group 85"/>
            <p:cNvGrpSpPr/>
            <p:nvPr/>
          </p:nvGrpSpPr>
          <p:grpSpPr>
            <a:xfrm>
              <a:off x="7821598" y="2648070"/>
              <a:ext cx="3283624" cy="1494028"/>
              <a:chOff x="1178830" y="3429000"/>
              <a:chExt cx="3283624" cy="1494028"/>
            </a:xfrm>
          </p:grpSpPr>
          <p:grpSp>
            <p:nvGrpSpPr>
              <p:cNvPr id="79" name="Group 78"/>
              <p:cNvGrpSpPr/>
              <p:nvPr/>
            </p:nvGrpSpPr>
            <p:grpSpPr>
              <a:xfrm>
                <a:off x="1280161" y="3429000"/>
                <a:ext cx="3084022" cy="970808"/>
                <a:chOff x="1280161" y="3429000"/>
                <a:chExt cx="3084022" cy="970808"/>
              </a:xfrm>
            </p:grpSpPr>
            <p:sp>
              <p:nvSpPr>
                <p:cNvPr id="77" name="Rectangle 76"/>
                <p:cNvSpPr/>
                <p:nvPr/>
              </p:nvSpPr>
              <p:spPr>
                <a:xfrm>
                  <a:off x="1280161" y="3429000"/>
                  <a:ext cx="3084022" cy="97080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36" name="Group 35"/>
                <p:cNvGrpSpPr/>
                <p:nvPr/>
              </p:nvGrpSpPr>
              <p:grpSpPr>
                <a:xfrm>
                  <a:off x="1402000" y="3648855"/>
                  <a:ext cx="666750" cy="564507"/>
                  <a:chOff x="2474259" y="3707781"/>
                  <a:chExt cx="1088609" cy="1007924"/>
                </a:xfrm>
              </p:grpSpPr>
              <p:sp>
                <p:nvSpPr>
                  <p:cNvPr id="37" name="Oval 36"/>
                  <p:cNvSpPr/>
                  <p:nvPr/>
                </p:nvSpPr>
                <p:spPr>
                  <a:xfrm>
                    <a:off x="2474259" y="3707781"/>
                    <a:ext cx="610783" cy="1007923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8" name="Arc 37"/>
                  <p:cNvSpPr/>
                  <p:nvPr/>
                </p:nvSpPr>
                <p:spPr>
                  <a:xfrm>
                    <a:off x="3093321" y="3707781"/>
                    <a:ext cx="469547" cy="1007923"/>
                  </a:xfrm>
                  <a:prstGeom prst="arc">
                    <a:avLst>
                      <a:gd name="adj1" fmla="val 16200000"/>
                      <a:gd name="adj2" fmla="val 5467071"/>
                    </a:avLst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0" name="Straight Connector 39"/>
                  <p:cNvCxnSpPr>
                    <a:stCxn id="37" idx="0"/>
                    <a:endCxn id="38" idx="0"/>
                  </p:cNvCxnSpPr>
                  <p:nvPr/>
                </p:nvCxnSpPr>
                <p:spPr>
                  <a:xfrm>
                    <a:off x="2779651" y="3707781"/>
                    <a:ext cx="548443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/>
                  <p:cNvCxnSpPr>
                    <a:endCxn id="38" idx="2"/>
                  </p:cNvCxnSpPr>
                  <p:nvPr/>
                </p:nvCxnSpPr>
                <p:spPr>
                  <a:xfrm flipV="1">
                    <a:off x="2820806" y="4715263"/>
                    <a:ext cx="497463" cy="44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4" name="Group 63"/>
                <p:cNvGrpSpPr/>
                <p:nvPr/>
              </p:nvGrpSpPr>
              <p:grpSpPr>
                <a:xfrm>
                  <a:off x="2159067" y="3655523"/>
                  <a:ext cx="979894" cy="564258"/>
                  <a:chOff x="2474259" y="3707781"/>
                  <a:chExt cx="1566313" cy="1011326"/>
                </a:xfrm>
              </p:grpSpPr>
              <p:sp>
                <p:nvSpPr>
                  <p:cNvPr id="65" name="Oval 64"/>
                  <p:cNvSpPr/>
                  <p:nvPr/>
                </p:nvSpPr>
                <p:spPr>
                  <a:xfrm>
                    <a:off x="2474259" y="3707781"/>
                    <a:ext cx="610783" cy="1007923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6" name="Arc 65"/>
                  <p:cNvSpPr/>
                  <p:nvPr/>
                </p:nvSpPr>
                <p:spPr>
                  <a:xfrm>
                    <a:off x="3093321" y="3707781"/>
                    <a:ext cx="469547" cy="1007923"/>
                  </a:xfrm>
                  <a:prstGeom prst="arc">
                    <a:avLst>
                      <a:gd name="adj1" fmla="val 16200000"/>
                      <a:gd name="adj2" fmla="val 5467071"/>
                    </a:avLst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7" name="Arc 66"/>
                  <p:cNvSpPr/>
                  <p:nvPr/>
                </p:nvSpPr>
                <p:spPr>
                  <a:xfrm>
                    <a:off x="3576785" y="3711184"/>
                    <a:ext cx="463787" cy="1007923"/>
                  </a:xfrm>
                  <a:prstGeom prst="arc">
                    <a:avLst>
                      <a:gd name="adj1" fmla="val 16200000"/>
                      <a:gd name="adj2" fmla="val 5467071"/>
                    </a:avLst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68" name="Straight Connector 67"/>
                  <p:cNvCxnSpPr>
                    <a:stCxn id="65" idx="0"/>
                    <a:endCxn id="67" idx="0"/>
                  </p:cNvCxnSpPr>
                  <p:nvPr/>
                </p:nvCxnSpPr>
                <p:spPr>
                  <a:xfrm>
                    <a:off x="2779651" y="3707781"/>
                    <a:ext cx="1029027" cy="3403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Straight Connector 68"/>
                  <p:cNvCxnSpPr>
                    <a:endCxn id="67" idx="2"/>
                  </p:cNvCxnSpPr>
                  <p:nvPr/>
                </p:nvCxnSpPr>
                <p:spPr>
                  <a:xfrm>
                    <a:off x="2820806" y="4715705"/>
                    <a:ext cx="978048" cy="2949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0" name="Group 69"/>
                <p:cNvGrpSpPr/>
                <p:nvPr/>
              </p:nvGrpSpPr>
              <p:grpSpPr>
                <a:xfrm>
                  <a:off x="3250935" y="3659052"/>
                  <a:ext cx="979894" cy="564258"/>
                  <a:chOff x="2474259" y="3707781"/>
                  <a:chExt cx="1566313" cy="1011326"/>
                </a:xfrm>
              </p:grpSpPr>
              <p:sp>
                <p:nvSpPr>
                  <p:cNvPr id="71" name="Oval 70"/>
                  <p:cNvSpPr/>
                  <p:nvPr/>
                </p:nvSpPr>
                <p:spPr>
                  <a:xfrm>
                    <a:off x="2474259" y="3707781"/>
                    <a:ext cx="610783" cy="1007923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2" name="Arc 71"/>
                  <p:cNvSpPr/>
                  <p:nvPr/>
                </p:nvSpPr>
                <p:spPr>
                  <a:xfrm>
                    <a:off x="3093321" y="3707781"/>
                    <a:ext cx="469547" cy="1007923"/>
                  </a:xfrm>
                  <a:prstGeom prst="arc">
                    <a:avLst>
                      <a:gd name="adj1" fmla="val 16200000"/>
                      <a:gd name="adj2" fmla="val 5467071"/>
                    </a:avLst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3" name="Arc 72"/>
                  <p:cNvSpPr/>
                  <p:nvPr/>
                </p:nvSpPr>
                <p:spPr>
                  <a:xfrm>
                    <a:off x="3576785" y="3711184"/>
                    <a:ext cx="463787" cy="1007923"/>
                  </a:xfrm>
                  <a:prstGeom prst="arc">
                    <a:avLst>
                      <a:gd name="adj1" fmla="val 16200000"/>
                      <a:gd name="adj2" fmla="val 5467071"/>
                    </a:avLst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74" name="Straight Connector 73"/>
                  <p:cNvCxnSpPr>
                    <a:stCxn id="71" idx="0"/>
                    <a:endCxn id="73" idx="0"/>
                  </p:cNvCxnSpPr>
                  <p:nvPr/>
                </p:nvCxnSpPr>
                <p:spPr>
                  <a:xfrm>
                    <a:off x="2779651" y="3707781"/>
                    <a:ext cx="1029027" cy="3403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Straight Connector 74"/>
                  <p:cNvCxnSpPr>
                    <a:endCxn id="73" idx="2"/>
                  </p:cNvCxnSpPr>
                  <p:nvPr/>
                </p:nvCxnSpPr>
                <p:spPr>
                  <a:xfrm>
                    <a:off x="2820806" y="4715705"/>
                    <a:ext cx="978048" cy="2949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82"/>
                  <p:cNvSpPr txBox="1"/>
                  <p:nvPr/>
                </p:nvSpPr>
                <p:spPr>
                  <a:xfrm>
                    <a:off x="1178830" y="4399808"/>
                    <a:ext cx="328362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=3+6+6=15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83" name="TextBox 8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78830" y="4399808"/>
                    <a:ext cx="3283624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7" name="Group 86"/>
            <p:cNvGrpSpPr/>
            <p:nvPr/>
          </p:nvGrpSpPr>
          <p:grpSpPr>
            <a:xfrm>
              <a:off x="4729273" y="2674201"/>
              <a:ext cx="2691412" cy="1494028"/>
              <a:chOff x="4627374" y="3429000"/>
              <a:chExt cx="2691412" cy="1494028"/>
            </a:xfrm>
          </p:grpSpPr>
          <p:grpSp>
            <p:nvGrpSpPr>
              <p:cNvPr id="80" name="Group 79"/>
              <p:cNvGrpSpPr/>
              <p:nvPr/>
            </p:nvGrpSpPr>
            <p:grpSpPr>
              <a:xfrm>
                <a:off x="4627375" y="3429000"/>
                <a:ext cx="2691411" cy="970808"/>
                <a:chOff x="4627375" y="3429000"/>
                <a:chExt cx="2691411" cy="970808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4627375" y="3429000"/>
                  <a:ext cx="2691411" cy="97080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8" name="Group 17"/>
                <p:cNvGrpSpPr/>
                <p:nvPr/>
              </p:nvGrpSpPr>
              <p:grpSpPr>
                <a:xfrm>
                  <a:off x="4761877" y="3651003"/>
                  <a:ext cx="979894" cy="564258"/>
                  <a:chOff x="2474259" y="3707781"/>
                  <a:chExt cx="1566313" cy="1011326"/>
                </a:xfrm>
              </p:grpSpPr>
              <p:sp>
                <p:nvSpPr>
                  <p:cNvPr id="19" name="Oval 18"/>
                  <p:cNvSpPr/>
                  <p:nvPr/>
                </p:nvSpPr>
                <p:spPr>
                  <a:xfrm>
                    <a:off x="2474259" y="3707781"/>
                    <a:ext cx="610783" cy="1007923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Arc 19"/>
                  <p:cNvSpPr/>
                  <p:nvPr/>
                </p:nvSpPr>
                <p:spPr>
                  <a:xfrm>
                    <a:off x="3093321" y="3707781"/>
                    <a:ext cx="469547" cy="1007923"/>
                  </a:xfrm>
                  <a:prstGeom prst="arc">
                    <a:avLst>
                      <a:gd name="adj1" fmla="val 16200000"/>
                      <a:gd name="adj2" fmla="val 5467071"/>
                    </a:avLst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Arc 20"/>
                  <p:cNvSpPr/>
                  <p:nvPr/>
                </p:nvSpPr>
                <p:spPr>
                  <a:xfrm>
                    <a:off x="3576785" y="3711184"/>
                    <a:ext cx="463787" cy="1007923"/>
                  </a:xfrm>
                  <a:prstGeom prst="arc">
                    <a:avLst>
                      <a:gd name="adj1" fmla="val 16200000"/>
                      <a:gd name="adj2" fmla="val 5467071"/>
                    </a:avLst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4" name="Straight Connector 23"/>
                  <p:cNvCxnSpPr>
                    <a:stCxn id="19" idx="0"/>
                    <a:endCxn id="21" idx="0"/>
                  </p:cNvCxnSpPr>
                  <p:nvPr/>
                </p:nvCxnSpPr>
                <p:spPr>
                  <a:xfrm>
                    <a:off x="2779651" y="3707781"/>
                    <a:ext cx="1029027" cy="3403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/>
                  <p:cNvCxnSpPr>
                    <a:endCxn id="21" idx="2"/>
                  </p:cNvCxnSpPr>
                  <p:nvPr/>
                </p:nvCxnSpPr>
                <p:spPr>
                  <a:xfrm>
                    <a:off x="2820806" y="4715705"/>
                    <a:ext cx="978048" cy="2949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" name="Group 26"/>
                <p:cNvGrpSpPr/>
                <p:nvPr/>
              </p:nvGrpSpPr>
              <p:grpSpPr>
                <a:xfrm>
                  <a:off x="5890059" y="3659312"/>
                  <a:ext cx="1316651" cy="562361"/>
                  <a:chOff x="2474259" y="3707781"/>
                  <a:chExt cx="2038208" cy="1011326"/>
                </a:xfrm>
              </p:grpSpPr>
              <p:sp>
                <p:nvSpPr>
                  <p:cNvPr id="28" name="Oval 27"/>
                  <p:cNvSpPr/>
                  <p:nvPr/>
                </p:nvSpPr>
                <p:spPr>
                  <a:xfrm>
                    <a:off x="2474259" y="3707781"/>
                    <a:ext cx="610783" cy="1007923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Arc 28"/>
                  <p:cNvSpPr/>
                  <p:nvPr/>
                </p:nvSpPr>
                <p:spPr>
                  <a:xfrm>
                    <a:off x="3093321" y="3707781"/>
                    <a:ext cx="469547" cy="1007923"/>
                  </a:xfrm>
                  <a:prstGeom prst="arc">
                    <a:avLst>
                      <a:gd name="adj1" fmla="val 16200000"/>
                      <a:gd name="adj2" fmla="val 5467071"/>
                    </a:avLst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Arc 29"/>
                  <p:cNvSpPr/>
                  <p:nvPr/>
                </p:nvSpPr>
                <p:spPr>
                  <a:xfrm>
                    <a:off x="3576785" y="3711184"/>
                    <a:ext cx="463787" cy="1007923"/>
                  </a:xfrm>
                  <a:prstGeom prst="arc">
                    <a:avLst>
                      <a:gd name="adj1" fmla="val 16200000"/>
                      <a:gd name="adj2" fmla="val 5467071"/>
                    </a:avLst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Arc 30"/>
                  <p:cNvSpPr/>
                  <p:nvPr/>
                </p:nvSpPr>
                <p:spPr>
                  <a:xfrm>
                    <a:off x="4042920" y="3707781"/>
                    <a:ext cx="469547" cy="1007923"/>
                  </a:xfrm>
                  <a:prstGeom prst="arc">
                    <a:avLst>
                      <a:gd name="adj1" fmla="val 16200000"/>
                      <a:gd name="adj2" fmla="val 5467071"/>
                    </a:avLst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3" name="Straight Connector 32"/>
                  <p:cNvCxnSpPr>
                    <a:stCxn id="28" idx="0"/>
                    <a:endCxn id="31" idx="0"/>
                  </p:cNvCxnSpPr>
                  <p:nvPr/>
                </p:nvCxnSpPr>
                <p:spPr>
                  <a:xfrm>
                    <a:off x="2779651" y="3707781"/>
                    <a:ext cx="1498042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Connector 33"/>
                  <p:cNvCxnSpPr>
                    <a:endCxn id="31" idx="2"/>
                  </p:cNvCxnSpPr>
                  <p:nvPr/>
                </p:nvCxnSpPr>
                <p:spPr>
                  <a:xfrm flipV="1">
                    <a:off x="2820806" y="4715263"/>
                    <a:ext cx="1447062" cy="44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TextBox 83"/>
                  <p:cNvSpPr txBox="1"/>
                  <p:nvPr/>
                </p:nvSpPr>
                <p:spPr>
                  <a:xfrm>
                    <a:off x="4627374" y="4399808"/>
                    <a:ext cx="2691411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=6+8=14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84" name="TextBox 8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27374" y="4399808"/>
                    <a:ext cx="2691411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8" name="Group 87"/>
            <p:cNvGrpSpPr/>
            <p:nvPr/>
          </p:nvGrpSpPr>
          <p:grpSpPr>
            <a:xfrm>
              <a:off x="1360774" y="2674201"/>
              <a:ext cx="2832296" cy="1469716"/>
              <a:chOff x="7977649" y="3429000"/>
              <a:chExt cx="2832296" cy="1469716"/>
            </a:xfrm>
          </p:grpSpPr>
          <p:grpSp>
            <p:nvGrpSpPr>
              <p:cNvPr id="82" name="Group 81"/>
              <p:cNvGrpSpPr/>
              <p:nvPr/>
            </p:nvGrpSpPr>
            <p:grpSpPr>
              <a:xfrm>
                <a:off x="8060427" y="3429000"/>
                <a:ext cx="2666740" cy="970808"/>
                <a:chOff x="8060427" y="3429000"/>
                <a:chExt cx="2666740" cy="970808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8060427" y="3429000"/>
                  <a:ext cx="2666740" cy="97080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2" name="Group 41"/>
                <p:cNvGrpSpPr/>
                <p:nvPr/>
              </p:nvGrpSpPr>
              <p:grpSpPr>
                <a:xfrm>
                  <a:off x="9024746" y="3657167"/>
                  <a:ext cx="1596194" cy="560223"/>
                  <a:chOff x="2474259" y="3707781"/>
                  <a:chExt cx="2515912" cy="1011326"/>
                </a:xfrm>
              </p:grpSpPr>
              <p:sp>
                <p:nvSpPr>
                  <p:cNvPr id="43" name="Oval 42"/>
                  <p:cNvSpPr/>
                  <p:nvPr/>
                </p:nvSpPr>
                <p:spPr>
                  <a:xfrm>
                    <a:off x="2474259" y="3707781"/>
                    <a:ext cx="610783" cy="1007923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4" name="Arc 43"/>
                  <p:cNvSpPr/>
                  <p:nvPr/>
                </p:nvSpPr>
                <p:spPr>
                  <a:xfrm>
                    <a:off x="3093321" y="3707781"/>
                    <a:ext cx="469547" cy="1007923"/>
                  </a:xfrm>
                  <a:prstGeom prst="arc">
                    <a:avLst>
                      <a:gd name="adj1" fmla="val 16200000"/>
                      <a:gd name="adj2" fmla="val 5467071"/>
                    </a:avLst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5" name="Arc 44"/>
                  <p:cNvSpPr/>
                  <p:nvPr/>
                </p:nvSpPr>
                <p:spPr>
                  <a:xfrm>
                    <a:off x="3576785" y="3711184"/>
                    <a:ext cx="463787" cy="1007923"/>
                  </a:xfrm>
                  <a:prstGeom prst="arc">
                    <a:avLst>
                      <a:gd name="adj1" fmla="val 16200000"/>
                      <a:gd name="adj2" fmla="val 5467071"/>
                    </a:avLst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6" name="Arc 45"/>
                  <p:cNvSpPr/>
                  <p:nvPr/>
                </p:nvSpPr>
                <p:spPr>
                  <a:xfrm>
                    <a:off x="4042920" y="3707781"/>
                    <a:ext cx="469547" cy="1007923"/>
                  </a:xfrm>
                  <a:prstGeom prst="arc">
                    <a:avLst>
                      <a:gd name="adj1" fmla="val 16200000"/>
                      <a:gd name="adj2" fmla="val 5467071"/>
                    </a:avLst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7" name="Arc 46"/>
                  <p:cNvSpPr/>
                  <p:nvPr/>
                </p:nvSpPr>
                <p:spPr>
                  <a:xfrm>
                    <a:off x="4520624" y="3707781"/>
                    <a:ext cx="469547" cy="1007923"/>
                  </a:xfrm>
                  <a:prstGeom prst="arc">
                    <a:avLst>
                      <a:gd name="adj1" fmla="val 16200000"/>
                      <a:gd name="adj2" fmla="val 5467071"/>
                    </a:avLst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8" name="Straight Connector 47"/>
                  <p:cNvCxnSpPr>
                    <a:stCxn id="43" idx="0"/>
                    <a:endCxn id="47" idx="0"/>
                  </p:cNvCxnSpPr>
                  <p:nvPr/>
                </p:nvCxnSpPr>
                <p:spPr>
                  <a:xfrm>
                    <a:off x="2779651" y="3707781"/>
                    <a:ext cx="197574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Connector 48"/>
                  <p:cNvCxnSpPr>
                    <a:endCxn id="47" idx="2"/>
                  </p:cNvCxnSpPr>
                  <p:nvPr/>
                </p:nvCxnSpPr>
                <p:spPr>
                  <a:xfrm flipV="1">
                    <a:off x="2820806" y="4715263"/>
                    <a:ext cx="1924766" cy="44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9" name="Group 58"/>
                <p:cNvGrpSpPr/>
                <p:nvPr/>
              </p:nvGrpSpPr>
              <p:grpSpPr>
                <a:xfrm>
                  <a:off x="8177567" y="3657167"/>
                  <a:ext cx="666750" cy="564507"/>
                  <a:chOff x="2474259" y="3707781"/>
                  <a:chExt cx="1088609" cy="1007924"/>
                </a:xfrm>
              </p:grpSpPr>
              <p:sp>
                <p:nvSpPr>
                  <p:cNvPr id="60" name="Oval 59"/>
                  <p:cNvSpPr/>
                  <p:nvPr/>
                </p:nvSpPr>
                <p:spPr>
                  <a:xfrm>
                    <a:off x="2474259" y="3707781"/>
                    <a:ext cx="610783" cy="1007923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1" name="Arc 60"/>
                  <p:cNvSpPr/>
                  <p:nvPr/>
                </p:nvSpPr>
                <p:spPr>
                  <a:xfrm>
                    <a:off x="3093321" y="3707781"/>
                    <a:ext cx="469547" cy="1007923"/>
                  </a:xfrm>
                  <a:prstGeom prst="arc">
                    <a:avLst>
                      <a:gd name="adj1" fmla="val 16200000"/>
                      <a:gd name="adj2" fmla="val 5467071"/>
                    </a:avLst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62" name="Straight Connector 61"/>
                  <p:cNvCxnSpPr>
                    <a:stCxn id="60" idx="0"/>
                    <a:endCxn id="61" idx="0"/>
                  </p:cNvCxnSpPr>
                  <p:nvPr/>
                </p:nvCxnSpPr>
                <p:spPr>
                  <a:xfrm>
                    <a:off x="2779651" y="3707781"/>
                    <a:ext cx="548443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/>
                  <p:cNvCxnSpPr>
                    <a:endCxn id="61" idx="2"/>
                  </p:cNvCxnSpPr>
                  <p:nvPr/>
                </p:nvCxnSpPr>
                <p:spPr>
                  <a:xfrm flipV="1">
                    <a:off x="2820806" y="4715263"/>
                    <a:ext cx="497463" cy="44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5" name="TextBox 84"/>
                  <p:cNvSpPr txBox="1"/>
                  <p:nvPr/>
                </p:nvSpPr>
                <p:spPr>
                  <a:xfrm>
                    <a:off x="7977649" y="4375496"/>
                    <a:ext cx="2832296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=3+10=13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85" name="TextBox 8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77649" y="4375496"/>
                    <a:ext cx="2832296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965430" y="4669976"/>
                <a:ext cx="1026113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What cut maximizes revenue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?</a:t>
                </a:r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4669976"/>
                <a:ext cx="10261139" cy="523220"/>
              </a:xfrm>
              <a:prstGeom prst="rect">
                <a:avLst/>
              </a:prstGeom>
              <a:blipFill>
                <a:blip r:embed="rId6"/>
                <a:stretch>
                  <a:fillRect l="-1188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5310122"/>
                <a:ext cx="1026113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-length rod has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800" dirty="0"/>
                  <a:t> possible cuts (less have distinct revenues, but still non-polynomial in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) 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5310122"/>
                <a:ext cx="10261139" cy="954107"/>
              </a:xfrm>
              <a:prstGeom prst="rect">
                <a:avLst/>
              </a:prstGeom>
              <a:blipFill>
                <a:blip r:embed="rId7"/>
                <a:stretch>
                  <a:fillRect l="-1188" t="-5732" r="-1188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0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  <p:bldP spid="9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65430" y="584684"/>
                <a:ext cx="10261139" cy="1322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Recursive top-down solution: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he-IL" sz="2800" dirty="0"/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We examine few implementations.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584684"/>
                <a:ext cx="10261139" cy="1322798"/>
              </a:xfrm>
              <a:prstGeom prst="rect">
                <a:avLst/>
              </a:prstGeom>
              <a:blipFill>
                <a:blip r:embed="rId2"/>
                <a:stretch>
                  <a:fillRect l="-1188" t="-922" b="-1244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965430" y="5289362"/>
            <a:ext cx="10261139" cy="1091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2800" dirty="0"/>
              <a:t>Very inefficient! CUT-ROD calls itself recursively again and again with same parameter values.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B607935-D951-C06E-41BB-CC27CCE647C2}"/>
              </a:ext>
            </a:extLst>
          </p:cNvPr>
          <p:cNvGrpSpPr/>
          <p:nvPr/>
        </p:nvGrpSpPr>
        <p:grpSpPr>
          <a:xfrm>
            <a:off x="2434297" y="1988840"/>
            <a:ext cx="7565252" cy="3197886"/>
            <a:chOff x="2434297" y="1988840"/>
            <a:chExt cx="7565252" cy="3197886"/>
          </a:xfrm>
        </p:grpSpPr>
        <p:grpSp>
          <p:nvGrpSpPr>
            <p:cNvPr id="3" name="Group 2"/>
            <p:cNvGrpSpPr/>
            <p:nvPr/>
          </p:nvGrpSpPr>
          <p:grpSpPr>
            <a:xfrm>
              <a:off x="2434297" y="1988840"/>
              <a:ext cx="7323403" cy="3197886"/>
              <a:chOff x="2434297" y="1628800"/>
              <a:chExt cx="7323403" cy="3197886"/>
            </a:xfrm>
          </p:grpSpPr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34297" y="1628800"/>
                <a:ext cx="7323403" cy="3197886"/>
              </a:xfrm>
              <a:prstGeom prst="rect">
                <a:avLst/>
              </a:prstGeom>
            </p:spPr>
          </p:pic>
          <p:sp>
            <p:nvSpPr>
              <p:cNvPr id="8" name="Rectangle 7"/>
              <p:cNvSpPr/>
              <p:nvPr/>
            </p:nvSpPr>
            <p:spPr>
              <a:xfrm>
                <a:off x="2434297" y="1628800"/>
                <a:ext cx="7323403" cy="3197886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5924116" y="3399671"/>
              <a:ext cx="4075433" cy="497381"/>
              <a:chOff x="7392144" y="6279144"/>
              <a:chExt cx="4075433" cy="497381"/>
            </a:xfrm>
          </p:grpSpPr>
          <p:sp>
            <p:nvSpPr>
              <p:cNvPr id="11" name="Rectangular Callout 10"/>
              <p:cNvSpPr/>
              <p:nvPr/>
            </p:nvSpPr>
            <p:spPr>
              <a:xfrm>
                <a:off x="7394376" y="6356350"/>
                <a:ext cx="4073201" cy="420175"/>
              </a:xfrm>
              <a:prstGeom prst="wedgeRectCallout">
                <a:avLst>
                  <a:gd name="adj1" fmla="val 25995"/>
                  <a:gd name="adj2" fmla="val 144053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7392144" y="6279144"/>
                    <a:ext cx="4073201" cy="49738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800" dirty="0">
                        <a:solidFill>
                          <a:schemeClr val="tx1"/>
                        </a:solidFill>
                      </a:rPr>
                      <a:t>top-down: from </a:t>
                    </a:r>
                    <a14:m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a14:m>
                    <a:r>
                      <a:rPr lang="en-US" sz="2800" dirty="0">
                        <a:solidFill>
                          <a:schemeClr val="tx1"/>
                        </a:solidFill>
                      </a:rPr>
                      <a:t> to </a:t>
                    </a:r>
                    <a14:m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TextBox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92144" y="6279144"/>
                    <a:ext cx="4073201" cy="49738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844" t="-10976" b="-3902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038180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858348" y="1598357"/>
            <a:ext cx="9246817" cy="4082793"/>
            <a:chOff x="1858348" y="1598357"/>
            <a:chExt cx="9246817" cy="4082793"/>
          </a:xfrm>
        </p:grpSpPr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8348" y="2074075"/>
              <a:ext cx="8475303" cy="3607075"/>
            </a:xfrm>
            <a:prstGeom prst="rect">
              <a:avLst/>
            </a:prstGeom>
          </p:spPr>
        </p:pic>
        <p:grpSp>
          <p:nvGrpSpPr>
            <p:cNvPr id="22" name="Group 21"/>
            <p:cNvGrpSpPr/>
            <p:nvPr/>
          </p:nvGrpSpPr>
          <p:grpSpPr>
            <a:xfrm>
              <a:off x="6888088" y="1598357"/>
              <a:ext cx="4217077" cy="1866647"/>
              <a:chOff x="6888088" y="1598357"/>
              <a:chExt cx="4217077" cy="1866647"/>
            </a:xfrm>
          </p:grpSpPr>
          <p:sp>
            <p:nvSpPr>
              <p:cNvPr id="2" name="Rectangle 1"/>
              <p:cNvSpPr/>
              <p:nvPr/>
            </p:nvSpPr>
            <p:spPr>
              <a:xfrm>
                <a:off x="8509262" y="1598357"/>
                <a:ext cx="259590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/>
                  <a:t>left over rod size</a:t>
                </a:r>
              </a:p>
            </p:txBody>
          </p:sp>
          <p:grpSp>
            <p:nvGrpSpPr>
              <p:cNvPr id="17" name="Group 16"/>
              <p:cNvGrpSpPr/>
              <p:nvPr/>
            </p:nvGrpSpPr>
            <p:grpSpPr>
              <a:xfrm>
                <a:off x="6888088" y="2125224"/>
                <a:ext cx="1755158" cy="1339780"/>
                <a:chOff x="7557950" y="1987943"/>
                <a:chExt cx="1755158" cy="1339780"/>
              </a:xfrm>
            </p:grpSpPr>
            <p:cxnSp>
              <p:nvCxnSpPr>
                <p:cNvPr id="28" name="Straight Arrow Connector 27"/>
                <p:cNvCxnSpPr/>
                <p:nvPr/>
              </p:nvCxnSpPr>
              <p:spPr>
                <a:xfrm flipH="1">
                  <a:off x="8170018" y="1987943"/>
                  <a:ext cx="1105886" cy="133978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prstDash val="sysDot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/>
                <p:cNvCxnSpPr/>
                <p:nvPr/>
              </p:nvCxnSpPr>
              <p:spPr>
                <a:xfrm>
                  <a:off x="9275904" y="2006270"/>
                  <a:ext cx="37204" cy="73387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prstDash val="sysDot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Arrow Connector 34"/>
                <p:cNvCxnSpPr/>
                <p:nvPr/>
              </p:nvCxnSpPr>
              <p:spPr>
                <a:xfrm flipH="1">
                  <a:off x="7557950" y="2002964"/>
                  <a:ext cx="1717956" cy="737184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prstDash val="sysDot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/>
              <p:cNvSpPr txBox="1"/>
              <p:nvPr/>
            </p:nvSpPr>
            <p:spPr>
              <a:xfrm>
                <a:off x="630487" y="690567"/>
                <a:ext cx="10974125" cy="573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dirty="0"/>
                  <a:t>Recursion tree nodes: sub-problem size resulting from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CUT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ROD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,5)</m:t>
                    </m:r>
                  </m:oMath>
                </a14:m>
                <a:r>
                  <a:rPr lang="en-US" sz="2800" dirty="0"/>
                  <a:t>. </a:t>
                </a:r>
              </a:p>
            </p:txBody>
          </p:sp>
        </mc:Choice>
        <mc:Fallback xmlns="">
          <p:sp>
            <p:nvSpPr>
              <p:cNvPr id="163" name="TextBox 1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87" y="690567"/>
                <a:ext cx="10974125" cy="573811"/>
              </a:xfrm>
              <a:prstGeom prst="rect">
                <a:avLst/>
              </a:prstGeom>
              <a:blipFill>
                <a:blip r:embed="rId4"/>
                <a:stretch>
                  <a:fillRect l="-1110" t="-1064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" name="TextBox 163"/>
          <p:cNvSpPr txBox="1"/>
          <p:nvPr/>
        </p:nvSpPr>
        <p:spPr>
          <a:xfrm>
            <a:off x="630486" y="1307434"/>
            <a:ext cx="10974126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Aft>
                <a:spcPts val="600"/>
              </a:spcAft>
            </a:pPr>
            <a:r>
              <a:rPr lang="en-US" sz="2800" dirty="0"/>
              <a:t>Same sub-problems solved many times! </a:t>
            </a:r>
          </a:p>
        </p:txBody>
      </p:sp>
      <p:grpSp>
        <p:nvGrpSpPr>
          <p:cNvPr id="260" name="Group 259"/>
          <p:cNvGrpSpPr/>
          <p:nvPr/>
        </p:nvGrpSpPr>
        <p:grpSpPr>
          <a:xfrm>
            <a:off x="1821144" y="2796777"/>
            <a:ext cx="8067553" cy="2869935"/>
            <a:chOff x="1821144" y="2115540"/>
            <a:chExt cx="8067553" cy="2869935"/>
          </a:xfrm>
        </p:grpSpPr>
        <p:sp>
          <p:nvSpPr>
            <p:cNvPr id="174" name="Flowchart: Connector 173"/>
            <p:cNvSpPr/>
            <p:nvPr/>
          </p:nvSpPr>
          <p:spPr>
            <a:xfrm>
              <a:off x="2883375" y="3284984"/>
              <a:ext cx="660350" cy="1109534"/>
            </a:xfrm>
            <a:prstGeom prst="flowChartConnector">
              <a:avLst/>
            </a:prstGeom>
            <a:solidFill>
              <a:srgbClr val="0000FF">
                <a:alpha val="30196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Flowchart: Connector 178"/>
            <p:cNvSpPr/>
            <p:nvPr/>
          </p:nvSpPr>
          <p:spPr>
            <a:xfrm>
              <a:off x="1821144" y="3875941"/>
              <a:ext cx="660350" cy="1109534"/>
            </a:xfrm>
            <a:prstGeom prst="flowChartConnector">
              <a:avLst/>
            </a:prstGeom>
            <a:solidFill>
              <a:srgbClr val="0000FF">
                <a:alpha val="30196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Flowchart: Connector 180"/>
            <p:cNvSpPr/>
            <p:nvPr/>
          </p:nvSpPr>
          <p:spPr>
            <a:xfrm>
              <a:off x="4014100" y="3277336"/>
              <a:ext cx="660350" cy="1109534"/>
            </a:xfrm>
            <a:prstGeom prst="flowChartConnector">
              <a:avLst/>
            </a:prstGeom>
            <a:solidFill>
              <a:srgbClr val="0000FF">
                <a:alpha val="30196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Flowchart: Connector 182"/>
            <p:cNvSpPr/>
            <p:nvPr/>
          </p:nvSpPr>
          <p:spPr>
            <a:xfrm>
              <a:off x="5990553" y="3292646"/>
              <a:ext cx="660350" cy="1109534"/>
            </a:xfrm>
            <a:prstGeom prst="flowChartConnector">
              <a:avLst/>
            </a:prstGeom>
            <a:solidFill>
              <a:srgbClr val="0000FF">
                <a:alpha val="30196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Flowchart: Connector 184"/>
            <p:cNvSpPr/>
            <p:nvPr/>
          </p:nvSpPr>
          <p:spPr>
            <a:xfrm>
              <a:off x="8179087" y="2687845"/>
              <a:ext cx="660350" cy="1109534"/>
            </a:xfrm>
            <a:prstGeom prst="flowChartConnector">
              <a:avLst/>
            </a:prstGeom>
            <a:solidFill>
              <a:srgbClr val="0000FF">
                <a:alpha val="30196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Flowchart: Connector 185"/>
            <p:cNvSpPr/>
            <p:nvPr/>
          </p:nvSpPr>
          <p:spPr>
            <a:xfrm>
              <a:off x="5067512" y="2685014"/>
              <a:ext cx="660350" cy="1109534"/>
            </a:xfrm>
            <a:prstGeom prst="flowChartConnector">
              <a:avLst/>
            </a:prstGeom>
            <a:solidFill>
              <a:srgbClr val="0000FF">
                <a:alpha val="30196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Flowchart: Connector 186"/>
            <p:cNvSpPr/>
            <p:nvPr/>
          </p:nvSpPr>
          <p:spPr>
            <a:xfrm>
              <a:off x="7032104" y="2715510"/>
              <a:ext cx="660350" cy="1109534"/>
            </a:xfrm>
            <a:prstGeom prst="flowChartConnector">
              <a:avLst/>
            </a:prstGeom>
            <a:solidFill>
              <a:srgbClr val="0000FF">
                <a:alpha val="30196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Flowchart: Connector 187"/>
            <p:cNvSpPr/>
            <p:nvPr/>
          </p:nvSpPr>
          <p:spPr>
            <a:xfrm>
              <a:off x="9228347" y="2115540"/>
              <a:ext cx="660350" cy="1109534"/>
            </a:xfrm>
            <a:prstGeom prst="flowChartConnector">
              <a:avLst/>
            </a:prstGeom>
            <a:solidFill>
              <a:srgbClr val="0000FF">
                <a:alpha val="30196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8" name="Group 257"/>
          <p:cNvGrpSpPr/>
          <p:nvPr/>
        </p:nvGrpSpPr>
        <p:grpSpPr>
          <a:xfrm>
            <a:off x="1751622" y="2814129"/>
            <a:ext cx="7582079" cy="3027139"/>
            <a:chOff x="1739516" y="2132892"/>
            <a:chExt cx="7582079" cy="3027139"/>
          </a:xfrm>
        </p:grpSpPr>
        <p:sp>
          <p:nvSpPr>
            <p:cNvPr id="257" name="Flowchart: Connector 256"/>
            <p:cNvSpPr/>
            <p:nvPr/>
          </p:nvSpPr>
          <p:spPr>
            <a:xfrm>
              <a:off x="1739516" y="3320988"/>
              <a:ext cx="1224136" cy="1839043"/>
            </a:xfrm>
            <a:prstGeom prst="flowChartConnector">
              <a:avLst/>
            </a:prstGeom>
            <a:solidFill>
              <a:srgbClr val="FF0000">
                <a:alpha val="30196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Flowchart: Connector 179"/>
            <p:cNvSpPr/>
            <p:nvPr/>
          </p:nvSpPr>
          <p:spPr>
            <a:xfrm>
              <a:off x="3932472" y="2722383"/>
              <a:ext cx="1224136" cy="1839043"/>
            </a:xfrm>
            <a:prstGeom prst="flowChartConnector">
              <a:avLst/>
            </a:prstGeom>
            <a:solidFill>
              <a:srgbClr val="FF0000">
                <a:alpha val="30196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Flowchart: Connector 181"/>
            <p:cNvSpPr/>
            <p:nvPr/>
          </p:nvSpPr>
          <p:spPr>
            <a:xfrm>
              <a:off x="5908925" y="2737693"/>
              <a:ext cx="1224136" cy="1839043"/>
            </a:xfrm>
            <a:prstGeom prst="flowChartConnector">
              <a:avLst/>
            </a:prstGeom>
            <a:solidFill>
              <a:srgbClr val="FF0000">
                <a:alpha val="30196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Flowchart: Connector 183"/>
            <p:cNvSpPr/>
            <p:nvPr/>
          </p:nvSpPr>
          <p:spPr>
            <a:xfrm>
              <a:off x="8097459" y="2132892"/>
              <a:ext cx="1224136" cy="1839043"/>
            </a:xfrm>
            <a:prstGeom prst="flowChartConnector">
              <a:avLst/>
            </a:prstGeom>
            <a:solidFill>
              <a:srgbClr val="FF0000">
                <a:alpha val="30196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81530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965430" y="716893"/>
                <a:ext cx="10261140" cy="1126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3000"/>
                  </a:spcAft>
                </a:pPr>
                <a:r>
                  <a:rPr lang="en-US" sz="2800" b="0" dirty="0"/>
                  <a:t>Let 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2800" dirty="0"/>
                  <a:t> be the </a:t>
                </a:r>
                <a:r>
                  <a:rPr lang="en-US" sz="2800" b="1" dirty="0"/>
                  <a:t>total</a:t>
                </a:r>
                <a:r>
                  <a:rPr lang="en-US" sz="2800" dirty="0"/>
                  <a:t> number of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CUT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ROD</m:t>
                    </m:r>
                  </m:oMath>
                </a14:m>
                <a:r>
                  <a:rPr lang="en-US" sz="2800" dirty="0"/>
                  <a:t> calls initiated by calling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CUT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ROD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716893"/>
                <a:ext cx="10261140" cy="1126462"/>
              </a:xfrm>
              <a:prstGeom prst="rect">
                <a:avLst/>
              </a:prstGeom>
              <a:blipFill>
                <a:blip r:embed="rId3"/>
                <a:stretch>
                  <a:fillRect l="-1188" t="-1087" r="-1188" b="-11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965430" y="1609636"/>
            <a:ext cx="10261140" cy="2076692"/>
            <a:chOff x="965430" y="1609636"/>
            <a:chExt cx="10261140" cy="2076692"/>
          </a:xfrm>
        </p:grpSpPr>
        <p:grpSp>
          <p:nvGrpSpPr>
            <p:cNvPr id="4" name="Group 3"/>
            <p:cNvGrpSpPr/>
            <p:nvPr/>
          </p:nvGrpSpPr>
          <p:grpSpPr>
            <a:xfrm>
              <a:off x="5123892" y="1609636"/>
              <a:ext cx="1770747" cy="523220"/>
              <a:chOff x="1372925" y="5180770"/>
              <a:chExt cx="1770747" cy="523220"/>
            </a:xfrm>
          </p:grpSpPr>
          <p:sp>
            <p:nvSpPr>
              <p:cNvPr id="3" name="Rectangular Callout 2"/>
              <p:cNvSpPr/>
              <p:nvPr/>
            </p:nvSpPr>
            <p:spPr>
              <a:xfrm>
                <a:off x="1379476" y="5193196"/>
                <a:ext cx="1764196" cy="510794"/>
              </a:xfrm>
              <a:prstGeom prst="wedgeRectCallout">
                <a:avLst>
                  <a:gd name="adj1" fmla="val -23775"/>
                  <a:gd name="adj2" fmla="val 9889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" name="TextBox 1"/>
              <p:cNvSpPr txBox="1"/>
              <p:nvPr/>
            </p:nvSpPr>
            <p:spPr>
              <a:xfrm>
                <a:off x="1372925" y="5180770"/>
                <a:ext cx="176419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call at root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965430" y="2240868"/>
                  <a:ext cx="10261140" cy="14454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:r>
                    <a:rPr lang="en-US" sz="2800" dirty="0"/>
                    <a:t>There is </a:t>
                  </a:r>
                  <a14:m>
                    <m:oMath xmlns:m="http://schemas.openxmlformats.org/officeDocument/2006/math"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=1</m:t>
                      </m:r>
                    </m:oMath>
                  </a14:m>
                  <a:r>
                    <a:rPr lang="en-US" sz="2800" dirty="0"/>
                    <a:t> and </a:t>
                  </a:r>
                  <a14:m>
                    <m:oMath xmlns:m="http://schemas.openxmlformats.org/officeDocument/2006/math"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=1+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8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e>
                      </m:nary>
                    </m:oMath>
                  </a14:m>
                  <a:r>
                    <a:rPr lang="en-US" sz="2800" dirty="0"/>
                    <a:t>, solved to </a:t>
                  </a:r>
                </a:p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14:m>
                    <m:oMath xmlns:m="http://schemas.openxmlformats.org/officeDocument/2006/math"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800" i="1" dirty="0" smtClean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a14:m>
                  <a:r>
                    <a:rPr lang="en-US" sz="2800" dirty="0"/>
                    <a:t> (</a:t>
                  </a:r>
                  <a:r>
                    <a:rPr lang="en-US" sz="2800" dirty="0">
                      <a:solidFill>
                        <a:srgbClr val="FF0000"/>
                      </a:solidFill>
                    </a:rPr>
                    <a:t>HW</a:t>
                  </a:r>
                  <a:r>
                    <a:rPr lang="en-US" sz="2800" dirty="0"/>
                    <a:t>: prove)</a:t>
                  </a:r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430" y="2240868"/>
                  <a:ext cx="10261140" cy="1445460"/>
                </a:xfrm>
                <a:prstGeom prst="rect">
                  <a:avLst/>
                </a:prstGeom>
                <a:blipFill>
                  <a:blip r:embed="rId4"/>
                  <a:stretch>
                    <a:fillRect l="-1188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TextBox 29"/>
          <p:cNvSpPr txBox="1"/>
          <p:nvPr/>
        </p:nvSpPr>
        <p:spPr>
          <a:xfrm>
            <a:off x="965430" y="4083841"/>
            <a:ext cx="10261140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Aft>
                <a:spcPts val="1800"/>
              </a:spcAft>
            </a:pPr>
            <a:r>
              <a:rPr lang="en-US" sz="2800" dirty="0"/>
              <a:t>Repetitions of same sub-problems can be avoided by </a:t>
            </a:r>
            <a:r>
              <a:rPr lang="en-US" sz="2800" b="1" i="1" dirty="0"/>
              <a:t>memoization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4017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86914" y="586425"/>
            <a:ext cx="882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Top-down Solution by Dynamic Programming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6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2016694" y="3104964"/>
            <a:ext cx="8158612" cy="2664296"/>
            <a:chOff x="2016694" y="2204864"/>
            <a:chExt cx="8158612" cy="2664296"/>
          </a:xfrm>
        </p:grpSpPr>
        <p:grpSp>
          <p:nvGrpSpPr>
            <p:cNvPr id="13" name="Group 12"/>
            <p:cNvGrpSpPr/>
            <p:nvPr/>
          </p:nvGrpSpPr>
          <p:grpSpPr>
            <a:xfrm>
              <a:off x="2016694" y="2204864"/>
              <a:ext cx="8158612" cy="2664296"/>
              <a:chOff x="1788990" y="1880828"/>
              <a:chExt cx="8158612" cy="2664296"/>
            </a:xfrm>
          </p:grpSpPr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788990" y="1880828"/>
                <a:ext cx="8158612" cy="2664296"/>
              </a:xfrm>
              <a:prstGeom prst="rect">
                <a:avLst/>
              </a:prstGeom>
            </p:spPr>
          </p:pic>
          <p:sp>
            <p:nvSpPr>
              <p:cNvPr id="10" name="TextBox 9"/>
              <p:cNvSpPr txBox="1"/>
              <p:nvPr/>
            </p:nvSpPr>
            <p:spPr>
              <a:xfrm>
                <a:off x="4901714" y="3043891"/>
                <a:ext cx="492044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init revenues of sub-problems</a:t>
                </a:r>
              </a:p>
            </p:txBody>
          </p:sp>
        </p:grpSp>
        <p:sp>
          <p:nvSpPr>
            <p:cNvPr id="14" name="Rectangle 13"/>
            <p:cNvSpPr/>
            <p:nvPr/>
          </p:nvSpPr>
          <p:spPr>
            <a:xfrm>
              <a:off x="2016694" y="2204864"/>
              <a:ext cx="8158612" cy="2664296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965429" y="1607019"/>
                <a:ext cx="10261141" cy="10919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Idea: memoize max revenue for rod of size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 and reuse it rather than re-compute. 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29" y="1607019"/>
                <a:ext cx="10261141" cy="1091966"/>
              </a:xfrm>
              <a:prstGeom prst="rect">
                <a:avLst/>
              </a:prstGeom>
              <a:blipFill>
                <a:blip r:embed="rId3"/>
                <a:stretch>
                  <a:fillRect l="-1188" t="-1117" r="-1188" b="-15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2276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965430" y="5265204"/>
                <a:ext cx="10261140" cy="10890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Solving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 sub-problems, each </a:t>
                </a:r>
                <a14:m>
                  <m:oMath xmlns:m="http://schemas.openxmlformats.org/officeDocument/2006/math">
                    <m:r>
                      <a:rPr lang="en-US" sz="28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 calls memoized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−1</m:t>
                    </m:r>
                  </m:oMath>
                </a14:m>
                <a:r>
                  <a:rPr lang="en-US" sz="2800" dirty="0"/>
                  <a:t> times returning immediately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800" dirty="0"/>
                  <a:t>. 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5265204"/>
                <a:ext cx="10261140" cy="1089016"/>
              </a:xfrm>
              <a:prstGeom prst="rect">
                <a:avLst/>
              </a:prstGeom>
              <a:blipFill>
                <a:blip r:embed="rId2"/>
                <a:stretch>
                  <a:fillRect l="-1188" t="-1124" r="-1188" b="-1573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517" y="440668"/>
            <a:ext cx="8684939" cy="483159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692517" y="440668"/>
            <a:ext cx="8806966" cy="4831594"/>
            <a:chOff x="1692517" y="606955"/>
            <a:chExt cx="8806966" cy="4831594"/>
          </a:xfrm>
        </p:grpSpPr>
        <p:sp>
          <p:nvSpPr>
            <p:cNvPr id="20" name="Rectangle 19"/>
            <p:cNvSpPr/>
            <p:nvPr/>
          </p:nvSpPr>
          <p:spPr>
            <a:xfrm>
              <a:off x="1692517" y="606955"/>
              <a:ext cx="8806966" cy="4831594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3658723" y="1063786"/>
              <a:ext cx="6718733" cy="3990825"/>
              <a:chOff x="3658723" y="1063786"/>
              <a:chExt cx="6718733" cy="3990825"/>
            </a:xfrm>
          </p:grpSpPr>
          <p:sp>
            <p:nvSpPr>
              <p:cNvPr id="3" name="TextBox 2"/>
              <p:cNvSpPr txBox="1"/>
              <p:nvPr/>
            </p:nvSpPr>
            <p:spPr>
              <a:xfrm>
                <a:off x="3852757" y="1063786"/>
                <a:ext cx="5335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009900"/>
                    </a:solidFill>
                  </a:rPr>
                  <a:t>// avoid repetition of sub-problems</a:t>
                </a:r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4399956" y="2816932"/>
                <a:ext cx="493640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009900"/>
                    </a:solidFill>
                  </a:rPr>
                  <a:t>// solve all 1 to n sub-problems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4639621" y="1526384"/>
                <a:ext cx="4104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009900"/>
                    </a:solidFill>
                  </a:rPr>
                  <a:t>// use memoized solution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3658723" y="4531391"/>
                <a:ext cx="33123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009900"/>
                    </a:solidFill>
                  </a:rPr>
                  <a:t>// memoize solution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3935760" y="2318966"/>
                <a:ext cx="58250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009900"/>
                    </a:solidFill>
                  </a:rPr>
                  <a:t>// empty problem yields zero revenue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6304255" y="3629774"/>
                <a:ext cx="407320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009900"/>
                    </a:solidFill>
                  </a:rPr>
                  <a:t>// choose the best of two</a:t>
                </a:r>
              </a:p>
            </p:txBody>
          </p:sp>
        </p:grpSp>
      </p:grpSp>
      <p:grpSp>
        <p:nvGrpSpPr>
          <p:cNvPr id="11" name="Group 10"/>
          <p:cNvGrpSpPr/>
          <p:nvPr/>
        </p:nvGrpSpPr>
        <p:grpSpPr>
          <a:xfrm>
            <a:off x="6301731" y="4774879"/>
            <a:ext cx="4073201" cy="497381"/>
            <a:chOff x="-816770" y="6277302"/>
            <a:chExt cx="4073201" cy="523220"/>
          </a:xfrm>
        </p:grpSpPr>
        <p:sp>
          <p:nvSpPr>
            <p:cNvPr id="8" name="Rectangular Callout 7"/>
            <p:cNvSpPr/>
            <p:nvPr/>
          </p:nvSpPr>
          <p:spPr>
            <a:xfrm>
              <a:off x="-816770" y="6375149"/>
              <a:ext cx="4073201" cy="360788"/>
            </a:xfrm>
            <a:prstGeom prst="wedgeRectCallout">
              <a:avLst>
                <a:gd name="adj1" fmla="val 24515"/>
                <a:gd name="adj2" fmla="val -229232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-816770" y="6277302"/>
                  <a:ext cx="407320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top-down: from </a:t>
                  </a:r>
                  <a14:m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a14:m>
                  <a:r>
                    <a:rPr lang="en-US" sz="2800" dirty="0">
                      <a:solidFill>
                        <a:schemeClr val="tx1"/>
                      </a:solidFill>
                    </a:rPr>
                    <a:t> to </a:t>
                  </a:r>
                  <a14:m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16770" y="6277302"/>
                  <a:ext cx="4073201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2844" t="-12346" b="-407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88631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1600" y="368660"/>
            <a:ext cx="9024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Bottom-up Solution by Dynamic Programming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965430" y="5301208"/>
                <a:ext cx="10261140" cy="1126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800" dirty="0"/>
                  <a:t>. Sub-problems solution in ascending size avoids repetitive solution of same size by using memoization.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5301208"/>
                <a:ext cx="10261140" cy="1126462"/>
              </a:xfrm>
              <a:prstGeom prst="rect">
                <a:avLst/>
              </a:prstGeom>
              <a:blipFill>
                <a:blip r:embed="rId2"/>
                <a:stretch>
                  <a:fillRect l="-1188" t="-1087" r="-1188" b="-1195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/>
          <p:cNvGrpSpPr/>
          <p:nvPr/>
        </p:nvGrpSpPr>
        <p:grpSpPr>
          <a:xfrm>
            <a:off x="1212840" y="1095430"/>
            <a:ext cx="9762076" cy="4205778"/>
            <a:chOff x="1158460" y="1232755"/>
            <a:chExt cx="9762076" cy="4205778"/>
          </a:xfrm>
        </p:grpSpPr>
        <p:grpSp>
          <p:nvGrpSpPr>
            <p:cNvPr id="15" name="Group 14"/>
            <p:cNvGrpSpPr/>
            <p:nvPr/>
          </p:nvGrpSpPr>
          <p:grpSpPr>
            <a:xfrm>
              <a:off x="1158460" y="1232756"/>
              <a:ext cx="9762076" cy="4205777"/>
              <a:chOff x="2125363" y="1253683"/>
              <a:chExt cx="9762076" cy="4205777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25363" y="1253683"/>
                <a:ext cx="6483404" cy="4205777"/>
              </a:xfrm>
              <a:prstGeom prst="rect">
                <a:avLst/>
              </a:prstGeom>
            </p:spPr>
          </p:pic>
          <p:grpSp>
            <p:nvGrpSpPr>
              <p:cNvPr id="13" name="Group 12"/>
              <p:cNvGrpSpPr/>
              <p:nvPr/>
            </p:nvGrpSpPr>
            <p:grpSpPr>
              <a:xfrm>
                <a:off x="4907868" y="1801188"/>
                <a:ext cx="6979571" cy="3259220"/>
                <a:chOff x="4201826" y="1770963"/>
                <a:chExt cx="6979571" cy="3259220"/>
              </a:xfrm>
            </p:grpSpPr>
            <p:sp>
              <p:nvSpPr>
                <p:cNvPr id="5" name="TextBox 4"/>
                <p:cNvSpPr txBox="1"/>
                <p:nvPr/>
              </p:nvSpPr>
              <p:spPr>
                <a:xfrm>
                  <a:off x="4201826" y="4506963"/>
                  <a:ext cx="394617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>
                      <a:solidFill>
                        <a:srgbClr val="009900"/>
                      </a:solidFill>
                    </a:rPr>
                    <a:t>// memoize max revenue</a:t>
                  </a:r>
                </a:p>
              </p:txBody>
            </p:sp>
            <p:sp>
              <p:nvSpPr>
                <p:cNvPr id="6" name="TextBox 5"/>
                <p:cNvSpPr txBox="1"/>
                <p:nvPr/>
              </p:nvSpPr>
              <p:spPr>
                <a:xfrm>
                  <a:off x="5911826" y="1770963"/>
                  <a:ext cx="526957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>
                      <a:solidFill>
                        <a:srgbClr val="009900"/>
                      </a:solidFill>
                    </a:rPr>
                    <a:t>// max revenue memoization array</a:t>
                  </a:r>
                </a:p>
              </p:txBody>
            </p:sp>
            <p:sp>
              <p:nvSpPr>
                <p:cNvPr id="8" name="TextBox 7"/>
                <p:cNvSpPr txBox="1"/>
                <p:nvPr/>
              </p:nvSpPr>
              <p:spPr>
                <a:xfrm>
                  <a:off x="7758627" y="3983743"/>
                  <a:ext cx="30096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>
                      <a:solidFill>
                        <a:srgbClr val="009900"/>
                      </a:solidFill>
                    </a:rPr>
                    <a:t>// update max cost</a:t>
                  </a:r>
                </a:p>
              </p:txBody>
            </p:sp>
          </p:grpSp>
        </p:grpSp>
        <p:sp>
          <p:nvSpPr>
            <p:cNvPr id="17" name="Rectangle 16"/>
            <p:cNvSpPr/>
            <p:nvPr/>
          </p:nvSpPr>
          <p:spPr>
            <a:xfrm>
              <a:off x="1158460" y="1232755"/>
              <a:ext cx="9762076" cy="420577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059240" y="2822656"/>
            <a:ext cx="4276340" cy="523220"/>
            <a:chOff x="7392144" y="6279144"/>
            <a:chExt cx="4276340" cy="523220"/>
          </a:xfrm>
        </p:grpSpPr>
        <p:sp>
          <p:nvSpPr>
            <p:cNvPr id="20" name="Rectangular Callout 19"/>
            <p:cNvSpPr/>
            <p:nvPr/>
          </p:nvSpPr>
          <p:spPr>
            <a:xfrm>
              <a:off x="7394376" y="6356350"/>
              <a:ext cx="4274108" cy="420175"/>
            </a:xfrm>
            <a:prstGeom prst="wedgeRectCallout">
              <a:avLst>
                <a:gd name="adj1" fmla="val -8094"/>
                <a:gd name="adj2" fmla="val 184708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7392144" y="6279144"/>
                  <a:ext cx="42763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Bottom-up: from </a:t>
                  </a:r>
                  <a14:m>
                    <m:oMath xmlns:m="http://schemas.openxmlformats.org/officeDocument/2006/math"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US" sz="2800" dirty="0">
                      <a:solidFill>
                        <a:schemeClr val="tx1"/>
                      </a:solidFill>
                    </a:rPr>
                    <a:t> to </a:t>
                  </a:r>
                  <a14:m>
                    <m:oMath xmlns:m="http://schemas.openxmlformats.org/officeDocument/2006/math"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−1</m:t>
                      </m:r>
                    </m:oMath>
                  </a14:m>
                  <a:r>
                    <a:rPr lang="en-US" sz="2800" dirty="0"/>
                    <a:t> </a:t>
                  </a:r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2144" y="6279144"/>
                  <a:ext cx="4276340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997" t="-10465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97621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1444" y="407879"/>
            <a:ext cx="7803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Cut Retrieval of Optimal Solution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9</a:t>
            </a:fld>
            <a:endParaRPr lang="en-US"/>
          </a:p>
        </p:txBody>
      </p:sp>
      <p:grpSp>
        <p:nvGrpSpPr>
          <p:cNvPr id="24" name="Group 23"/>
          <p:cNvGrpSpPr/>
          <p:nvPr/>
        </p:nvGrpSpPr>
        <p:grpSpPr>
          <a:xfrm>
            <a:off x="1072454" y="1223067"/>
            <a:ext cx="10061886" cy="4964426"/>
            <a:chOff x="1019437" y="1219486"/>
            <a:chExt cx="10061886" cy="4964426"/>
          </a:xfrm>
        </p:grpSpPr>
        <p:grpSp>
          <p:nvGrpSpPr>
            <p:cNvPr id="23" name="Group 22"/>
            <p:cNvGrpSpPr/>
            <p:nvPr/>
          </p:nvGrpSpPr>
          <p:grpSpPr>
            <a:xfrm>
              <a:off x="1134987" y="1226648"/>
              <a:ext cx="9821621" cy="4957263"/>
              <a:chOff x="2228003" y="1196875"/>
              <a:chExt cx="9821621" cy="4957263"/>
            </a:xfrm>
          </p:grpSpPr>
          <p:pic>
            <p:nvPicPr>
              <p:cNvPr id="22" name="Picture 2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228003" y="1196875"/>
                <a:ext cx="6587504" cy="4957263"/>
              </a:xfrm>
              <a:prstGeom prst="rect">
                <a:avLst/>
              </a:prstGeom>
            </p:spPr>
          </p:pic>
          <p:grpSp>
            <p:nvGrpSpPr>
              <p:cNvPr id="19" name="Group 18"/>
              <p:cNvGrpSpPr/>
              <p:nvPr/>
            </p:nvGrpSpPr>
            <p:grpSpPr>
              <a:xfrm>
                <a:off x="5021051" y="1710931"/>
                <a:ext cx="7028573" cy="4061312"/>
                <a:chOff x="3791744" y="1707948"/>
                <a:chExt cx="7028573" cy="4061312"/>
              </a:xfrm>
            </p:grpSpPr>
            <p:sp>
              <p:nvSpPr>
                <p:cNvPr id="4" name="TextBox 3"/>
                <p:cNvSpPr txBox="1"/>
                <p:nvPr/>
              </p:nvSpPr>
              <p:spPr>
                <a:xfrm>
                  <a:off x="5015880" y="4761148"/>
                  <a:ext cx="580443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>
                      <a:solidFill>
                        <a:srgbClr val="009900"/>
                      </a:solidFill>
                    </a:rPr>
                    <a:t>// record where optimal 1</a:t>
                  </a:r>
                  <a:r>
                    <a:rPr lang="en-US" sz="2800" baseline="30000" dirty="0">
                      <a:solidFill>
                        <a:srgbClr val="009900"/>
                      </a:solidFill>
                    </a:rPr>
                    <a:t>st</a:t>
                  </a:r>
                  <a:r>
                    <a:rPr lang="en-US" sz="2800" dirty="0">
                      <a:solidFill>
                        <a:srgbClr val="009900"/>
                      </a:solidFill>
                    </a:rPr>
                    <a:t> cut occurs</a:t>
                  </a:r>
                </a:p>
              </p:txBody>
            </p:sp>
            <p:sp>
              <p:nvSpPr>
                <p:cNvPr id="6" name="TextBox 5"/>
                <p:cNvSpPr txBox="1"/>
                <p:nvPr/>
              </p:nvSpPr>
              <p:spPr>
                <a:xfrm>
                  <a:off x="6415699" y="3870818"/>
                  <a:ext cx="33516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>
                      <a:solidFill>
                        <a:srgbClr val="009900"/>
                      </a:solidFill>
                    </a:rPr>
                    <a:t>// is better cut found</a:t>
                  </a:r>
                </a:p>
              </p:txBody>
            </p:sp>
            <p:sp>
              <p:nvSpPr>
                <p:cNvPr id="7" name="TextBox 6"/>
                <p:cNvSpPr txBox="1"/>
                <p:nvPr/>
              </p:nvSpPr>
              <p:spPr>
                <a:xfrm>
                  <a:off x="6757699" y="4328383"/>
                  <a:ext cx="370353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>
                      <a:solidFill>
                        <a:srgbClr val="009900"/>
                      </a:solidFill>
                    </a:rPr>
                    <a:t>// update max revenue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" name="TextBox 7"/>
                    <p:cNvSpPr txBox="1"/>
                    <p:nvPr/>
                  </p:nvSpPr>
                  <p:spPr>
                    <a:xfrm>
                      <a:off x="7441699" y="1707948"/>
                      <a:ext cx="3285162" cy="13849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just"/>
                      <a:r>
                        <a:rPr lang="en-US" sz="2800" dirty="0">
                          <a:solidFill>
                            <a:srgbClr val="009900"/>
                          </a:solidFill>
                        </a:rPr>
                        <a:t>// </a:t>
                      </a:r>
                      <a14:m>
                        <m:oMath xmlns:m="http://schemas.openxmlformats.org/officeDocument/2006/math">
                          <m:r>
                            <a:rPr lang="en-US" sz="2800" i="1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800" i="1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a14:m>
                      <a:r>
                        <a:rPr lang="en-US" sz="2800" dirty="0">
                          <a:solidFill>
                            <a:srgbClr val="009900"/>
                          </a:solidFill>
                        </a:rPr>
                        <a:t>max revenue, s optimal 1</a:t>
                      </a:r>
                      <a:r>
                        <a:rPr lang="en-US" sz="2800" baseline="30000" dirty="0">
                          <a:solidFill>
                            <a:srgbClr val="009900"/>
                          </a:solidFill>
                        </a:rPr>
                        <a:t>st</a:t>
                      </a:r>
                      <a:r>
                        <a:rPr lang="en-US" sz="2800" dirty="0">
                          <a:solidFill>
                            <a:srgbClr val="009900"/>
                          </a:solidFill>
                        </a:rPr>
                        <a:t> cut memo array</a:t>
                      </a:r>
                    </a:p>
                  </p:txBody>
                </p:sp>
              </mc:Choice>
              <mc:Fallback xmlns="">
                <p:sp>
                  <p:nvSpPr>
                    <p:cNvPr id="8" name="TextBox 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41699" y="1707948"/>
                      <a:ext cx="3285162" cy="1384995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3896" t="-3965" r="-3711" b="-1189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0" name="TextBox 9"/>
                <p:cNvSpPr txBox="1"/>
                <p:nvPr/>
              </p:nvSpPr>
              <p:spPr>
                <a:xfrm>
                  <a:off x="3791744" y="5246040"/>
                  <a:ext cx="394617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>
                      <a:solidFill>
                        <a:srgbClr val="009900"/>
                      </a:solidFill>
                    </a:rPr>
                    <a:t>// memoize max revenue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TextBox 11"/>
                    <p:cNvSpPr txBox="1"/>
                    <p:nvPr/>
                  </p:nvSpPr>
                  <p:spPr>
                    <a:xfrm>
                      <a:off x="4583832" y="3430913"/>
                      <a:ext cx="5877403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9900"/>
                          </a:solidFill>
                        </a:rPr>
                        <a:t>// find 1</a:t>
                      </a:r>
                      <a:r>
                        <a:rPr lang="en-US" sz="2800" baseline="30000" dirty="0">
                          <a:solidFill>
                            <a:srgbClr val="009900"/>
                          </a:solidFill>
                        </a:rPr>
                        <a:t>st</a:t>
                      </a:r>
                      <a:r>
                        <a:rPr lang="en-US" sz="2800" dirty="0">
                          <a:solidFill>
                            <a:srgbClr val="009900"/>
                          </a:solidFill>
                        </a:rPr>
                        <a:t> cut maximizing revenue for </a:t>
                      </a:r>
                      <a14:m>
                        <m:oMath xmlns:m="http://schemas.openxmlformats.org/officeDocument/2006/math">
                          <m:r>
                            <a:rPr lang="en-US" sz="2800" i="1" dirty="0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oMath>
                      </a14:m>
                      <a:r>
                        <a:rPr lang="en-US" sz="2800" dirty="0">
                          <a:solidFill>
                            <a:srgbClr val="009900"/>
                          </a:solidFill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12" name="TextBox 1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83832" y="3430913"/>
                      <a:ext cx="5877403" cy="52322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934" t="-11628" b="-3255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" name="TextBox 17"/>
                <p:cNvSpPr txBox="1"/>
                <p:nvPr/>
              </p:nvSpPr>
              <p:spPr>
                <a:xfrm>
                  <a:off x="3809592" y="2991008"/>
                  <a:ext cx="306920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>
                      <a:solidFill>
                        <a:srgbClr val="009900"/>
                      </a:solidFill>
                    </a:rPr>
                    <a:t>// init max revenue</a:t>
                  </a:r>
                </a:p>
              </p:txBody>
            </p:sp>
          </p:grpSp>
        </p:grpSp>
        <p:sp>
          <p:nvSpPr>
            <p:cNvPr id="21" name="Rectangle 20"/>
            <p:cNvSpPr/>
            <p:nvPr/>
          </p:nvSpPr>
          <p:spPr>
            <a:xfrm>
              <a:off x="1019437" y="1219486"/>
              <a:ext cx="10061886" cy="4964426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1484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65430" y="961564"/>
            <a:ext cx="10261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Max revenue cuts is retrieved by backward traversal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10</a:t>
            </a:fld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1725848" y="2384884"/>
            <a:ext cx="8798644" cy="2349596"/>
            <a:chOff x="1725848" y="1988840"/>
            <a:chExt cx="8798644" cy="2349596"/>
          </a:xfrm>
        </p:grpSpPr>
        <p:grpSp>
          <p:nvGrpSpPr>
            <p:cNvPr id="13" name="Group 12"/>
            <p:cNvGrpSpPr/>
            <p:nvPr/>
          </p:nvGrpSpPr>
          <p:grpSpPr>
            <a:xfrm>
              <a:off x="1725849" y="1988840"/>
              <a:ext cx="8798643" cy="2349595"/>
              <a:chOff x="992103" y="1928363"/>
              <a:chExt cx="8798643" cy="2349595"/>
            </a:xfrm>
          </p:grpSpPr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92103" y="1928363"/>
                <a:ext cx="8370432" cy="2349595"/>
              </a:xfrm>
              <a:prstGeom prst="rect">
                <a:avLst/>
              </a:prstGeom>
            </p:spPr>
          </p:pic>
          <p:grpSp>
            <p:nvGrpSpPr>
              <p:cNvPr id="5" name="Group 4"/>
              <p:cNvGrpSpPr/>
              <p:nvPr/>
            </p:nvGrpSpPr>
            <p:grpSpPr>
              <a:xfrm>
                <a:off x="3719736" y="3311508"/>
                <a:ext cx="6071010" cy="949554"/>
                <a:chOff x="4547828" y="2869776"/>
                <a:chExt cx="6071010" cy="949554"/>
              </a:xfrm>
            </p:grpSpPr>
            <p:sp>
              <p:nvSpPr>
                <p:cNvPr id="8" name="TextBox 7"/>
                <p:cNvSpPr txBox="1"/>
                <p:nvPr/>
              </p:nvSpPr>
              <p:spPr>
                <a:xfrm>
                  <a:off x="4547828" y="2869776"/>
                  <a:ext cx="579664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en-US" sz="2800" dirty="0">
                      <a:solidFill>
                        <a:srgbClr val="009900"/>
                      </a:solidFill>
                    </a:rPr>
                    <a:t>// get first cut of max revenue solution</a:t>
                  </a:r>
                </a:p>
              </p:txBody>
            </p:sp>
            <p:sp>
              <p:nvSpPr>
                <p:cNvPr id="9" name="TextBox 8"/>
                <p:cNvSpPr txBox="1"/>
                <p:nvPr/>
              </p:nvSpPr>
              <p:spPr>
                <a:xfrm>
                  <a:off x="5159896" y="3296110"/>
                  <a:ext cx="545894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en-US" sz="2800" dirty="0">
                      <a:solidFill>
                        <a:srgbClr val="009900"/>
                      </a:solidFill>
                    </a:rPr>
                    <a:t>// size of next (smaller) sub-problem</a:t>
                  </a:r>
                </a:p>
              </p:txBody>
            </p:sp>
          </p:grpSp>
        </p:grpSp>
        <p:sp>
          <p:nvSpPr>
            <p:cNvPr id="15" name="Rectangle 14"/>
            <p:cNvSpPr/>
            <p:nvPr/>
          </p:nvSpPr>
          <p:spPr>
            <a:xfrm>
              <a:off x="1725848" y="1988840"/>
              <a:ext cx="8798643" cy="2349596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30115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89400" y="351000"/>
            <a:ext cx="841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Optimal Matrix-Chain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65430" y="1240200"/>
                <a:ext cx="10261140" cy="1126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Given matrix multiplication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#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col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#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row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, what multiplication order yields smallest number of scalar products?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240200"/>
                <a:ext cx="10261140" cy="1126462"/>
              </a:xfrm>
              <a:prstGeom prst="rect">
                <a:avLst/>
              </a:prstGeom>
              <a:blipFill>
                <a:blip r:embed="rId2"/>
                <a:stretch>
                  <a:fillRect l="-1188" t="-541" r="-1188" b="-1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65430" y="2471400"/>
                <a:ext cx="10261140" cy="18743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800" dirty="0"/>
                  <a:t> can be parenthesize as follows (multiplication associative):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))) 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))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)(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))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((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))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2471400"/>
                <a:ext cx="10261140" cy="1874359"/>
              </a:xfrm>
              <a:prstGeom prst="rect">
                <a:avLst/>
              </a:prstGeom>
              <a:blipFill>
                <a:blip r:embed="rId3"/>
                <a:stretch>
                  <a:fillRect t="-325" r="-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65429" y="4401108"/>
                <a:ext cx="10261141" cy="189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</m:oMath>
                </a14:m>
                <a:r>
                  <a:rPr lang="en-US" sz="2800" dirty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2800" dirty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800" dirty="0"/>
              </a:p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800" i="1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×100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+(10×5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50)=7500</m:t>
                    </m:r>
                  </m:oMath>
                </a14:m>
                <a:r>
                  <a:rPr lang="en-US" sz="2800" dirty="0"/>
                  <a:t>  products</a:t>
                </a:r>
              </a:p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𝐵𝐶</m:t>
                            </m:r>
                          </m:e>
                        </m:d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×100×50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+(100×5×50)=75000</m:t>
                    </m:r>
                  </m:oMath>
                </a14:m>
                <a:r>
                  <a:rPr lang="en-US" sz="2800" dirty="0"/>
                  <a:t>  products!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29" y="4401108"/>
                <a:ext cx="10261141" cy="1898981"/>
              </a:xfrm>
              <a:prstGeom prst="rect">
                <a:avLst/>
              </a:prstGeom>
              <a:blipFill>
                <a:blip r:embed="rId4"/>
                <a:stretch>
                  <a:fillRect l="-1188" t="-643" r="-653" b="-7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263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65430" y="512676"/>
                <a:ext cx="10261140" cy="1993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0" dirty="0"/>
                  <a:t># parenthesization: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mr>
                          <m:mr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5"/>
                                    </m:r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e>
                              </m:nary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/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grows non-polynomial, at least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l-G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l-GR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800" dirty="0"/>
                  <a:t> 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: use substitution)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512676"/>
                <a:ext cx="10261140" cy="1993623"/>
              </a:xfrm>
              <a:prstGeom prst="rect">
                <a:avLst/>
              </a:prstGeom>
              <a:blipFill>
                <a:blip r:embed="rId2"/>
                <a:stretch>
                  <a:fillRect l="-1188" b="-6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65429" y="2708920"/>
                <a:ext cx="10261141" cy="3531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What is the structure of an optimal solution?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Notation: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</a:rPr>
                      <m:t>≜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2800" dirty="0"/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800" dirty="0"/>
                  <a:t>, parenthesization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800" dirty="0"/>
                  <a:t>  s.t.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+1⋯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sz="2800" dirty="0"/>
                  <a:t>Multiplication cost (# scalar products):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cost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cost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cost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+1⋯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cost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+1⋯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29" y="2708920"/>
                <a:ext cx="10261141" cy="3531993"/>
              </a:xfrm>
              <a:prstGeom prst="rect">
                <a:avLst/>
              </a:prstGeom>
              <a:blipFill>
                <a:blip r:embed="rId3"/>
                <a:stretch>
                  <a:fillRect l="-1188" t="-172" b="-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5968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65429" y="836712"/>
                <a:ext cx="10261141" cy="1133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Optimal solution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parenthesization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+1⋯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 must minimize # scalar products of each, suggesting </a:t>
                </a:r>
                <a:r>
                  <a:rPr lang="en-US" sz="2800" b="1" dirty="0"/>
                  <a:t>recursive</a:t>
                </a:r>
                <a:r>
                  <a:rPr lang="en-US" sz="2800" dirty="0"/>
                  <a:t> solution</a:t>
                </a:r>
                <a:r>
                  <a:rPr lang="en-US" sz="2800" b="1" dirty="0"/>
                  <a:t>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29" y="836712"/>
                <a:ext cx="10261141" cy="1133580"/>
              </a:xfrm>
              <a:prstGeom prst="rect">
                <a:avLst/>
              </a:prstGeom>
              <a:blipFill>
                <a:blip r:embed="rId2"/>
                <a:stretch>
                  <a:fillRect l="-1188" r="-1188" b="-14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65429" y="2168860"/>
                <a:ext cx="10261141" cy="3054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Notation: 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≜</m:t>
                    </m:r>
                    <m:func>
                      <m:func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m:rPr>
                                <m:nor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all</m:t>
                            </m:r>
                            <m:r>
                              <m:rPr>
                                <m:nor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parenthesizations</m:t>
                            </m:r>
                          </m:lim>
                        </m:limLow>
                      </m:fName>
                      <m:e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cost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sz="2800" b="0" i="1" dirty="0">
                    <a:latin typeface="Cambria Math" panose="02040503050406030204" pitchFamily="18" charset="0"/>
                  </a:rPr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+1⋯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 multiplication takes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 scalar products. Hence,</a:t>
                </a:r>
              </a:p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+1,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29" y="2168860"/>
                <a:ext cx="10261141" cy="3054426"/>
              </a:xfrm>
              <a:prstGeom prst="rect">
                <a:avLst/>
              </a:prstGeom>
              <a:blipFill>
                <a:blip r:embed="rId3"/>
                <a:stretch>
                  <a:fillRect l="-1188" r="-1188" b="-299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4727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65429" y="683471"/>
                <a:ext cx="10261141" cy="22601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 can be any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endParaRPr lang="en-US" sz="2800" dirty="0"/>
              </a:p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dirty="0"/>
                  <a:t> (1)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                           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 b="0" i="0" smtClean="0"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≤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&lt;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lim>
                                  </m:limLow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+1,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</m:d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800" dirty="0"/>
                  <a:t>  .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29" y="683471"/>
                <a:ext cx="10261141" cy="2260171"/>
              </a:xfrm>
              <a:prstGeom prst="rect">
                <a:avLst/>
              </a:prstGeom>
              <a:blipFill>
                <a:blip r:embed="rId2"/>
                <a:stretch>
                  <a:fillRect l="-416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65429" y="3176972"/>
                <a:ext cx="10261141" cy="2622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Straight-forward recursions</a:t>
                </a:r>
                <a:r>
                  <a:rPr lang="he-IL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 dirty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800" dirty="0"/>
                  <a:t> (as rod cutting).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(Similar to rod cutting, memoization suggests efficient top-down solution, see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CLRS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 15.3</m:t>
                    </m:r>
                  </m:oMath>
                </a14:m>
                <a:r>
                  <a:rPr lang="en-US" sz="2800" dirty="0"/>
                  <a:t>.)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Avoid repetitive solutions of same problems by memoizing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800" dirty="0"/>
                  <a:t>.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29" y="3176972"/>
                <a:ext cx="10261141" cy="2622256"/>
              </a:xfrm>
              <a:prstGeom prst="rect">
                <a:avLst/>
              </a:prstGeom>
              <a:blipFill>
                <a:blip r:embed="rId3"/>
                <a:stretch>
                  <a:fillRect l="-1188" t="-930" r="-1188" b="-4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0035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65430" y="1376772"/>
                <a:ext cx="10261140" cy="4118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(1)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800" dirty="0"/>
                  <a:t> of length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800" dirty="0"/>
                  <a:t> depends only on shorter sub-chains yielding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+1,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b="0" dirty="0"/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/>
                  <a:t>This suggests bottom-up solution.</a:t>
                </a:r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/>
                  <a:t>Subsequent algorithm runs in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l-GR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l-GR" sz="28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800" dirty="0"/>
                  <a:t> and uses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l-GR" sz="2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800" dirty="0"/>
                  <a:t> memory space.</a:t>
                </a:r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/>
                  <a:t>It supports the optimal parenthesis retrieval, using table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800" dirty="0"/>
                  <a:t> which stores the optimal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.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376772"/>
                <a:ext cx="10261140" cy="4118050"/>
              </a:xfrm>
              <a:prstGeom prst="rect">
                <a:avLst/>
              </a:prstGeom>
              <a:blipFill>
                <a:blip r:embed="rId2"/>
                <a:stretch>
                  <a:fillRect l="-1188" t="-741" r="-1188" b="-2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786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343600" y="480891"/>
                <a:ext cx="109440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3600" y="480891"/>
                <a:ext cx="10944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16</a:t>
            </a:fld>
            <a:endParaRPr lang="en-US" dirty="0"/>
          </a:p>
        </p:txBody>
      </p:sp>
      <p:grpSp>
        <p:nvGrpSpPr>
          <p:cNvPr id="22" name="Group 21"/>
          <p:cNvGrpSpPr/>
          <p:nvPr/>
        </p:nvGrpSpPr>
        <p:grpSpPr>
          <a:xfrm>
            <a:off x="1199456" y="480891"/>
            <a:ext cx="9793088" cy="5814287"/>
            <a:chOff x="1847528" y="480891"/>
            <a:chExt cx="9793088" cy="5814287"/>
          </a:xfrm>
        </p:grpSpPr>
        <p:grpSp>
          <p:nvGrpSpPr>
            <p:cNvPr id="21" name="Group 20"/>
            <p:cNvGrpSpPr/>
            <p:nvPr/>
          </p:nvGrpSpPr>
          <p:grpSpPr>
            <a:xfrm>
              <a:off x="1919536" y="513097"/>
              <a:ext cx="9696133" cy="5732357"/>
              <a:chOff x="1919536" y="513097"/>
              <a:chExt cx="9696133" cy="5732357"/>
            </a:xfrm>
          </p:grpSpPr>
          <p:pic>
            <p:nvPicPr>
              <p:cNvPr id="2" name="Picture 1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19536" y="513097"/>
                <a:ext cx="8519058" cy="5732357"/>
              </a:xfrm>
              <a:prstGeom prst="rect">
                <a:avLst/>
              </a:prstGeom>
            </p:spPr>
          </p:pic>
          <p:grpSp>
            <p:nvGrpSpPr>
              <p:cNvPr id="20" name="Group 19"/>
              <p:cNvGrpSpPr/>
              <p:nvPr/>
            </p:nvGrpSpPr>
            <p:grpSpPr>
              <a:xfrm>
                <a:off x="4782511" y="1430777"/>
                <a:ext cx="6833158" cy="3879854"/>
                <a:chOff x="4782511" y="1430777"/>
                <a:chExt cx="6833158" cy="3879854"/>
              </a:xfrm>
            </p:grpSpPr>
            <p:sp>
              <p:nvSpPr>
                <p:cNvPr id="5" name="TextBox 4"/>
                <p:cNvSpPr txBox="1"/>
                <p:nvPr/>
              </p:nvSpPr>
              <p:spPr>
                <a:xfrm>
                  <a:off x="4782511" y="1430777"/>
                  <a:ext cx="4514400" cy="95410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solidFill>
                        <a:srgbClr val="009900"/>
                      </a:solidFill>
                    </a:rPr>
                    <a:t>// no multiplication in length 1 chain, zero cost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" name="TextBox 5"/>
                    <p:cNvSpPr txBox="1"/>
                    <p:nvPr/>
                  </p:nvSpPr>
                  <p:spPr>
                    <a:xfrm>
                      <a:off x="6424112" y="2671838"/>
                      <a:ext cx="3762000" cy="95410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800" dirty="0">
                          <a:solidFill>
                            <a:srgbClr val="009900"/>
                          </a:solidFill>
                        </a:rPr>
                        <a:t>// compute min cost for all chains of length </a:t>
                      </a:r>
                      <a14:m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oMath>
                      </a14:m>
                      <a:endParaRPr lang="en-US" sz="2800" i="1" dirty="0">
                        <a:solidFill>
                          <a:srgbClr val="0099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" name="TextBox 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24112" y="2671838"/>
                      <a:ext cx="3762000" cy="95410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3404" t="-5732" r="-1783" b="-1719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" name="TextBox 6"/>
                <p:cNvSpPr txBox="1"/>
                <p:nvPr/>
              </p:nvSpPr>
              <p:spPr>
                <a:xfrm>
                  <a:off x="6445905" y="3915028"/>
                  <a:ext cx="365759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solidFill>
                        <a:srgbClr val="009900"/>
                      </a:solidFill>
                    </a:rPr>
                    <a:t>// set chain split border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/>
                    <p:cNvSpPr txBox="1"/>
                    <p:nvPr/>
                  </p:nvSpPr>
                  <p:spPr>
                    <a:xfrm>
                      <a:off x="4791876" y="2265687"/>
                      <a:ext cx="2971365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800" dirty="0">
                          <a:solidFill>
                            <a:srgbClr val="009900"/>
                          </a:solidFill>
                        </a:rPr>
                        <a:t>// </a:t>
                      </a:r>
                      <a14:m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oMath>
                      </a14:m>
                      <a:r>
                        <a:rPr lang="en-US" sz="2800" dirty="0">
                          <a:solidFill>
                            <a:srgbClr val="009900"/>
                          </a:solidFill>
                        </a:rPr>
                        <a:t> – chain length</a:t>
                      </a:r>
                    </a:p>
                  </p:txBody>
                </p:sp>
              </mc:Choice>
              <mc:Fallback xmlns="">
                <p:sp>
                  <p:nvSpPr>
                    <p:cNvPr id="15" name="TextBox 1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91876" y="2265687"/>
                      <a:ext cx="2971365" cy="52322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4312" t="-11765" b="-3411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6" name="TextBox 15"/>
                <p:cNvSpPr txBox="1"/>
                <p:nvPr/>
              </p:nvSpPr>
              <p:spPr>
                <a:xfrm>
                  <a:off x="5619968" y="3511844"/>
                  <a:ext cx="472167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solidFill>
                        <a:srgbClr val="009900"/>
                      </a:solidFill>
                    </a:rPr>
                    <a:t>//  init chain min cost</a:t>
                  </a:r>
                </a:p>
              </p:txBody>
            </p:sp>
            <p:sp>
              <p:nvSpPr>
                <p:cNvPr id="17" name="TextBox 16"/>
                <p:cNvSpPr txBox="1"/>
                <p:nvPr/>
              </p:nvSpPr>
              <p:spPr>
                <a:xfrm>
                  <a:off x="6323081" y="4787411"/>
                  <a:ext cx="529258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solidFill>
                        <a:srgbClr val="009900"/>
                      </a:solidFill>
                    </a:rPr>
                    <a:t>// update chain’s min cost and split </a:t>
                  </a:r>
                </a:p>
              </p:txBody>
            </p:sp>
          </p:grpSp>
        </p:grpSp>
        <p:sp>
          <p:nvSpPr>
            <p:cNvPr id="12" name="Rectangle 11"/>
            <p:cNvSpPr/>
            <p:nvPr/>
          </p:nvSpPr>
          <p:spPr>
            <a:xfrm>
              <a:off x="1847528" y="480891"/>
              <a:ext cx="9793088" cy="581428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8320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1444" y="407879"/>
            <a:ext cx="7803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Retrieval of Optimal Parenthesization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65430" y="1124744"/>
                <a:ext cx="10261139" cy="1168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1..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−1,2..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records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splitting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800" dirty="0"/>
                  <a:t> in the optimal parenthesization.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124744"/>
                <a:ext cx="10261139" cy="1168077"/>
              </a:xfrm>
              <a:prstGeom prst="rect">
                <a:avLst/>
              </a:prstGeom>
              <a:blipFill>
                <a:blip r:embed="rId2"/>
                <a:stretch>
                  <a:fillRect l="-1188" b="-115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17</a:t>
            </a:fld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2615807" y="2348880"/>
            <a:ext cx="6960386" cy="2894182"/>
            <a:chOff x="2623204" y="3462168"/>
            <a:chExt cx="6960386" cy="2894182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23204" y="3462169"/>
              <a:ext cx="6960386" cy="2894181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>
            <a:xfrm>
              <a:off x="2623204" y="3462168"/>
              <a:ext cx="6960386" cy="2894181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965430" y="5229200"/>
                <a:ext cx="10261140" cy="1166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Parenthesization starts with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1..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b>
                        </m:sSub>
                      </m:e>
                    </m:d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+1..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, proceeding recursively.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5229200"/>
                <a:ext cx="10261140" cy="1166153"/>
              </a:xfrm>
              <a:prstGeom prst="rect">
                <a:avLst/>
              </a:prstGeom>
              <a:blipFill>
                <a:blip r:embed="rId4"/>
                <a:stretch>
                  <a:fillRect l="-1188" r="-1188" b="-14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4699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510" y="1970397"/>
            <a:ext cx="5674980" cy="3439382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65430" y="740680"/>
                <a:ext cx="10388370" cy="1090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sz="2800" b="1" dirty="0"/>
                  <a:t>Example</a:t>
                </a:r>
                <a:r>
                  <a:rPr lang="en-US" sz="2800" dirty="0"/>
                  <a:t>: Split table obtained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sz="2800" dirty="0"/>
                  <a:t> optimal parenthesization.</a:t>
                </a:r>
              </a:p>
              <a:p>
                <a:pPr algn="just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PRINT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OPTIMAL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PARENS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,1,6</m:t>
                        </m:r>
                      </m:e>
                    </m:d>
                  </m:oMath>
                </a14:m>
                <a:r>
                  <a:rPr lang="en-US" sz="2800" dirty="0"/>
                  <a:t> recursion calls: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740680"/>
                <a:ext cx="10388370" cy="1090876"/>
              </a:xfrm>
              <a:prstGeom prst="rect">
                <a:avLst/>
              </a:prstGeom>
              <a:blipFill>
                <a:blip r:embed="rId3"/>
                <a:stretch>
                  <a:fillRect l="-1173" t="-1124" b="-1573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470023" y="5488165"/>
                <a:ext cx="5251951" cy="7114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</a:rPr>
                      <m:t>((</m:t>
                    </m:r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3600" i="1">
                        <a:latin typeface="Cambria Math" panose="02040503050406030204" pitchFamily="18" charset="0"/>
                      </a:rPr>
                      <m:t>)((</m:t>
                    </m:r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3600" dirty="0"/>
                  <a:t>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023" y="5488165"/>
                <a:ext cx="5251951" cy="711413"/>
              </a:xfrm>
              <a:prstGeom prst="rect">
                <a:avLst/>
              </a:prstGeom>
              <a:blipFill>
                <a:blip r:embed="rId4"/>
                <a:stretch>
                  <a:fillRect t="-3419" r="-2552" b="-316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3581400" y="2057938"/>
            <a:ext cx="3105082" cy="4237957"/>
            <a:chOff x="3581400" y="2057938"/>
            <a:chExt cx="3105082" cy="4237957"/>
          </a:xfrm>
        </p:grpSpPr>
        <p:grpSp>
          <p:nvGrpSpPr>
            <p:cNvPr id="13" name="Group 12"/>
            <p:cNvGrpSpPr/>
            <p:nvPr/>
          </p:nvGrpSpPr>
          <p:grpSpPr>
            <a:xfrm>
              <a:off x="5571057" y="2057938"/>
              <a:ext cx="1115425" cy="1116124"/>
              <a:chOff x="5571057" y="2021934"/>
              <a:chExt cx="1115425" cy="1116124"/>
            </a:xfrm>
          </p:grpSpPr>
          <p:sp>
            <p:nvSpPr>
              <p:cNvPr id="6" name="Diamond 5"/>
              <p:cNvSpPr/>
              <p:nvPr/>
            </p:nvSpPr>
            <p:spPr>
              <a:xfrm>
                <a:off x="5571057" y="2021934"/>
                <a:ext cx="1115425" cy="1116124"/>
              </a:xfrm>
              <a:prstGeom prst="diamond">
                <a:avLst/>
              </a:prstGeom>
              <a:solidFill>
                <a:srgbClr val="FF0000">
                  <a:alpha val="30196"/>
                </a:srgb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/>
                  <p:cNvSpPr/>
                  <p:nvPr/>
                </p:nvSpPr>
                <p:spPr>
                  <a:xfrm>
                    <a:off x="5734562" y="2579996"/>
                    <a:ext cx="793486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1,6</m:t>
                              </m:r>
                            </m:e>
                          </m:d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1" name="Rectangle 1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34562" y="2579996"/>
                    <a:ext cx="793486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" name="Rectangle 13"/>
            <p:cNvSpPr/>
            <p:nvPr/>
          </p:nvSpPr>
          <p:spPr>
            <a:xfrm>
              <a:off x="3581400" y="5566551"/>
              <a:ext cx="210343" cy="729344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791743" y="3682426"/>
            <a:ext cx="1266579" cy="2613469"/>
            <a:chOff x="3489434" y="3682426"/>
            <a:chExt cx="1266579" cy="2613469"/>
          </a:xfrm>
        </p:grpSpPr>
        <p:grpSp>
          <p:nvGrpSpPr>
            <p:cNvPr id="19" name="Group 18"/>
            <p:cNvGrpSpPr/>
            <p:nvPr/>
          </p:nvGrpSpPr>
          <p:grpSpPr>
            <a:xfrm>
              <a:off x="3640588" y="3682426"/>
              <a:ext cx="1115425" cy="1116124"/>
              <a:chOff x="3640588" y="3646422"/>
              <a:chExt cx="1115425" cy="1116124"/>
            </a:xfrm>
          </p:grpSpPr>
          <p:sp>
            <p:nvSpPr>
              <p:cNvPr id="21" name="Diamond 20"/>
              <p:cNvSpPr/>
              <p:nvPr/>
            </p:nvSpPr>
            <p:spPr>
              <a:xfrm>
                <a:off x="3640588" y="3646422"/>
                <a:ext cx="1115425" cy="1116124"/>
              </a:xfrm>
              <a:prstGeom prst="diamond">
                <a:avLst/>
              </a:prstGeom>
              <a:solidFill>
                <a:srgbClr val="FF0000">
                  <a:alpha val="30196"/>
                </a:srgb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/>
                  <p:cNvSpPr/>
                  <p:nvPr/>
                </p:nvSpPr>
                <p:spPr>
                  <a:xfrm>
                    <a:off x="3801557" y="4185084"/>
                    <a:ext cx="793486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2" name="Rectangle 2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01557" y="4185084"/>
                    <a:ext cx="793486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0" name="Rectangle 19"/>
            <p:cNvSpPr/>
            <p:nvPr/>
          </p:nvSpPr>
          <p:spPr>
            <a:xfrm>
              <a:off x="3489434" y="5566551"/>
              <a:ext cx="246857" cy="729344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759553" y="5306041"/>
            <a:ext cx="793486" cy="991274"/>
            <a:chOff x="3210387" y="5303148"/>
            <a:chExt cx="793486" cy="9912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/>
                <p:cNvSpPr/>
                <p:nvPr/>
              </p:nvSpPr>
              <p:spPr>
                <a:xfrm>
                  <a:off x="3210387" y="5303148"/>
                  <a:ext cx="793486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0387" y="5303148"/>
                  <a:ext cx="793486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Rectangle 24"/>
            <p:cNvSpPr/>
            <p:nvPr/>
          </p:nvSpPr>
          <p:spPr>
            <a:xfrm>
              <a:off x="3488826" y="5565078"/>
              <a:ext cx="401216" cy="729344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4437830" y="4217072"/>
            <a:ext cx="1147246" cy="2080243"/>
            <a:chOff x="3871350" y="3638507"/>
            <a:chExt cx="1147246" cy="2080243"/>
          </a:xfrm>
        </p:grpSpPr>
        <p:grpSp>
          <p:nvGrpSpPr>
            <p:cNvPr id="29" name="Group 28"/>
            <p:cNvGrpSpPr/>
            <p:nvPr/>
          </p:nvGrpSpPr>
          <p:grpSpPr>
            <a:xfrm>
              <a:off x="3903171" y="3638507"/>
              <a:ext cx="1115425" cy="1116124"/>
              <a:chOff x="3903171" y="3602503"/>
              <a:chExt cx="1115425" cy="1116124"/>
            </a:xfrm>
          </p:grpSpPr>
          <p:sp>
            <p:nvSpPr>
              <p:cNvPr id="31" name="Diamond 30"/>
              <p:cNvSpPr/>
              <p:nvPr/>
            </p:nvSpPr>
            <p:spPr>
              <a:xfrm>
                <a:off x="3903171" y="3602503"/>
                <a:ext cx="1115425" cy="1116124"/>
              </a:xfrm>
              <a:prstGeom prst="diamond">
                <a:avLst/>
              </a:prstGeom>
              <a:solidFill>
                <a:srgbClr val="FF0000">
                  <a:alpha val="30196"/>
                </a:srgb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Rectangle 31"/>
                  <p:cNvSpPr/>
                  <p:nvPr/>
                </p:nvSpPr>
                <p:spPr>
                  <a:xfrm>
                    <a:off x="4064141" y="4177606"/>
                    <a:ext cx="793486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2" name="Rectangle 3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64141" y="4177606"/>
                    <a:ext cx="793486" cy="40011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0" name="Rectangle 29"/>
            <p:cNvSpPr/>
            <p:nvPr/>
          </p:nvSpPr>
          <p:spPr>
            <a:xfrm>
              <a:off x="3871350" y="4989406"/>
              <a:ext cx="210343" cy="729344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4443483" y="5326504"/>
            <a:ext cx="793486" cy="969391"/>
            <a:chOff x="3287231" y="5326504"/>
            <a:chExt cx="793486" cy="9693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/>
                <p:cNvSpPr/>
                <p:nvPr/>
              </p:nvSpPr>
              <p:spPr>
                <a:xfrm>
                  <a:off x="3287231" y="5326504"/>
                  <a:ext cx="793486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4" name="Rectangle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231" y="5326504"/>
                  <a:ext cx="793486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Rectangle 34"/>
            <p:cNvSpPr/>
            <p:nvPr/>
          </p:nvSpPr>
          <p:spPr>
            <a:xfrm>
              <a:off x="3489434" y="5566551"/>
              <a:ext cx="468466" cy="729344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4952019" y="5344435"/>
            <a:ext cx="793486" cy="951460"/>
            <a:chOff x="3263222" y="5344435"/>
            <a:chExt cx="793486" cy="9514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/>
                <p:cNvSpPr/>
                <p:nvPr/>
              </p:nvSpPr>
              <p:spPr>
                <a:xfrm>
                  <a:off x="3263222" y="5344435"/>
                  <a:ext cx="793486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7" name="Rectangle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3222" y="5344435"/>
                  <a:ext cx="793486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Rectangle 37"/>
            <p:cNvSpPr/>
            <p:nvPr/>
          </p:nvSpPr>
          <p:spPr>
            <a:xfrm>
              <a:off x="3420311" y="5566551"/>
              <a:ext cx="470339" cy="729344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5579079" y="5566551"/>
            <a:ext cx="210343" cy="729344"/>
          </a:xfrm>
          <a:prstGeom prst="rect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5790253" y="5566551"/>
            <a:ext cx="210343" cy="729344"/>
          </a:xfrm>
          <a:prstGeom prst="rect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/>
          <p:cNvGrpSpPr/>
          <p:nvPr/>
        </p:nvGrpSpPr>
        <p:grpSpPr>
          <a:xfrm>
            <a:off x="5999926" y="3664318"/>
            <a:ext cx="2308360" cy="2632997"/>
            <a:chOff x="5827471" y="3511918"/>
            <a:chExt cx="2308360" cy="2632997"/>
          </a:xfrm>
        </p:grpSpPr>
        <p:grpSp>
          <p:nvGrpSpPr>
            <p:cNvPr id="46" name="Group 45"/>
            <p:cNvGrpSpPr/>
            <p:nvPr/>
          </p:nvGrpSpPr>
          <p:grpSpPr>
            <a:xfrm>
              <a:off x="7020406" y="3511918"/>
              <a:ext cx="1115425" cy="1116124"/>
              <a:chOff x="7020406" y="3475914"/>
              <a:chExt cx="1115425" cy="1116124"/>
            </a:xfrm>
          </p:grpSpPr>
          <p:sp>
            <p:nvSpPr>
              <p:cNvPr id="48" name="Diamond 47"/>
              <p:cNvSpPr/>
              <p:nvPr/>
            </p:nvSpPr>
            <p:spPr>
              <a:xfrm>
                <a:off x="7020406" y="3475914"/>
                <a:ext cx="1115425" cy="1116124"/>
              </a:xfrm>
              <a:prstGeom prst="diamond">
                <a:avLst/>
              </a:prstGeom>
              <a:solidFill>
                <a:srgbClr val="FF0000">
                  <a:alpha val="30196"/>
                </a:srgb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Rectangle 48"/>
                  <p:cNvSpPr/>
                  <p:nvPr/>
                </p:nvSpPr>
                <p:spPr>
                  <a:xfrm>
                    <a:off x="7182464" y="4067660"/>
                    <a:ext cx="793486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,6</m:t>
                              </m:r>
                            </m:e>
                          </m:d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9" name="Rectangle 4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82464" y="4067660"/>
                    <a:ext cx="793486" cy="40011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7" name="Rectangle 46"/>
            <p:cNvSpPr/>
            <p:nvPr/>
          </p:nvSpPr>
          <p:spPr>
            <a:xfrm>
              <a:off x="5827471" y="5415571"/>
              <a:ext cx="210343" cy="729344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6209519" y="4233345"/>
            <a:ext cx="1549322" cy="2061854"/>
            <a:chOff x="5888279" y="3923511"/>
            <a:chExt cx="1549322" cy="2061854"/>
          </a:xfrm>
        </p:grpSpPr>
        <p:grpSp>
          <p:nvGrpSpPr>
            <p:cNvPr id="51" name="Group 50"/>
            <p:cNvGrpSpPr/>
            <p:nvPr/>
          </p:nvGrpSpPr>
          <p:grpSpPr>
            <a:xfrm>
              <a:off x="6322176" y="3923511"/>
              <a:ext cx="1115425" cy="1116124"/>
              <a:chOff x="6322176" y="3887507"/>
              <a:chExt cx="1115425" cy="1116124"/>
            </a:xfrm>
          </p:grpSpPr>
          <p:sp>
            <p:nvSpPr>
              <p:cNvPr id="53" name="Diamond 52"/>
              <p:cNvSpPr/>
              <p:nvPr/>
            </p:nvSpPr>
            <p:spPr>
              <a:xfrm>
                <a:off x="6322176" y="3887507"/>
                <a:ext cx="1115425" cy="1116124"/>
              </a:xfrm>
              <a:prstGeom prst="diamond">
                <a:avLst/>
              </a:prstGeom>
              <a:solidFill>
                <a:srgbClr val="FF0000">
                  <a:alpha val="30196"/>
                </a:srgb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Rectangle 53"/>
                  <p:cNvSpPr/>
                  <p:nvPr/>
                </p:nvSpPr>
                <p:spPr>
                  <a:xfrm>
                    <a:off x="6479012" y="4406183"/>
                    <a:ext cx="793486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4" name="Rectangle 5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79012" y="4406183"/>
                    <a:ext cx="793486" cy="40011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2" name="Rectangle 51"/>
            <p:cNvSpPr/>
            <p:nvPr/>
          </p:nvSpPr>
          <p:spPr>
            <a:xfrm>
              <a:off x="5888279" y="5256021"/>
              <a:ext cx="210343" cy="729344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1599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19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65430" y="1340768"/>
            <a:ext cx="10261139" cy="418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Aft>
                <a:spcPts val="3000"/>
              </a:spcAft>
            </a:pPr>
            <a:r>
              <a:rPr lang="en-US" sz="2800" b="1" dirty="0"/>
              <a:t>Dynamic Programming</a:t>
            </a:r>
            <a:r>
              <a:rPr lang="en-US" sz="2800" dirty="0"/>
              <a:t> comprises: </a:t>
            </a:r>
          </a:p>
          <a:p>
            <a:pPr marL="514350" indent="-514350" algn="just">
              <a:lnSpc>
                <a:spcPct val="120000"/>
              </a:lnSpc>
              <a:spcAft>
                <a:spcPts val="3000"/>
              </a:spcAft>
              <a:buFont typeface="+mj-lt"/>
              <a:buAutoNum type="arabicPeriod"/>
            </a:pPr>
            <a:r>
              <a:rPr lang="en-US" sz="2800" dirty="0"/>
              <a:t>Optimal sub-structures</a:t>
            </a:r>
          </a:p>
          <a:p>
            <a:pPr marL="514350" indent="-514350" algn="just">
              <a:lnSpc>
                <a:spcPct val="120000"/>
              </a:lnSpc>
              <a:spcAft>
                <a:spcPts val="3000"/>
              </a:spcAft>
              <a:buFont typeface="+mj-lt"/>
              <a:buAutoNum type="arabicPeriod"/>
            </a:pPr>
            <a:r>
              <a:rPr lang="en-US" sz="2800" dirty="0"/>
              <a:t>Overlapping sub-problems</a:t>
            </a:r>
          </a:p>
          <a:p>
            <a:pPr marL="514350" indent="-514350" algn="just">
              <a:lnSpc>
                <a:spcPct val="120000"/>
              </a:lnSpc>
              <a:spcAft>
                <a:spcPts val="3000"/>
              </a:spcAft>
              <a:buFont typeface="+mj-lt"/>
              <a:buAutoNum type="arabicPeriod"/>
            </a:pPr>
            <a:r>
              <a:rPr lang="en-US" sz="2800" dirty="0"/>
              <a:t>Reconstruction of optimal solution</a:t>
            </a:r>
          </a:p>
          <a:p>
            <a:pPr marL="514350" indent="-514350" algn="just">
              <a:lnSpc>
                <a:spcPct val="120000"/>
              </a:lnSpc>
              <a:spcAft>
                <a:spcPts val="3000"/>
              </a:spcAft>
              <a:buFont typeface="+mj-lt"/>
              <a:buAutoNum type="arabicPeriod"/>
            </a:pPr>
            <a:r>
              <a:rPr lang="en-US" sz="2800" dirty="0"/>
              <a:t>Memoization</a:t>
            </a:r>
          </a:p>
        </p:txBody>
      </p:sp>
    </p:spTree>
    <p:extLst>
      <p:ext uri="{BB962C8B-B14F-4D97-AF65-F5344CB8AC3E}">
        <p14:creationId xmlns:p14="http://schemas.microsoft.com/office/powerpoint/2010/main" val="2962916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89400" y="351000"/>
            <a:ext cx="841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Longest Common Subsequence (LCS)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65430" y="1035000"/>
                <a:ext cx="10261140" cy="1319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ACCGGTCGAGTGCGCGGAAGCCGGCCGAA</m:t>
                    </m:r>
                  </m:oMath>
                </a14:m>
                <a:endParaRPr lang="en-US" sz="2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GTCGTTCGGAATGCCGTTGCTCTGTAA</m:t>
                    </m:r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035000"/>
                <a:ext cx="10261140" cy="13199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65430" y="3897052"/>
                <a:ext cx="10261140" cy="13572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ACCG</m:t>
                    </m:r>
                    <m:r>
                      <m:rPr>
                        <m:sty m:val="p"/>
                      </m:rPr>
                      <a:rPr 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GTCG</m:t>
                    </m:r>
                    <m:r>
                      <m:rPr>
                        <m:sty m:val="p"/>
                      </m:rP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AG</m:t>
                    </m:r>
                    <m:r>
                      <m:rPr>
                        <m:sty m:val="p"/>
                      </m:rP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GCG</m:t>
                    </m:r>
                    <m:r>
                      <m:rPr>
                        <m:sty m:val="p"/>
                      </m:rPr>
                      <a:rPr 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CGGAA</m:t>
                    </m:r>
                    <m:r>
                      <m:rPr>
                        <m:sty m:val="p"/>
                      </m:rP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GCCG</m:t>
                    </m:r>
                    <m:r>
                      <m:rPr>
                        <m:sty m:val="p"/>
                      </m:rPr>
                      <a:rPr 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GC</m:t>
                    </m:r>
                    <m:r>
                      <m:rPr>
                        <m:sty m:val="p"/>
                      </m:rP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m:rPr>
                        <m:sty m:val="p"/>
                      </m:rP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AA</m:t>
                    </m:r>
                  </m:oMath>
                </a14:m>
                <a:endParaRPr lang="en-US" sz="2800" i="1" dirty="0">
                  <a:solidFill>
                    <a:srgbClr val="0000FF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80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GTCG</m:t>
                    </m:r>
                    <m:r>
                      <m:rPr>
                        <m:nor/>
                      </m:rPr>
                      <a:rPr lang="en-US" sz="28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en-US" sz="280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en-US" sz="280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CGGAA</m:t>
                    </m:r>
                    <m:r>
                      <m:rPr>
                        <m:nor/>
                      </m:rPr>
                      <a:rPr lang="en-US" sz="28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en-US" sz="280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GCCG</m:t>
                    </m:r>
                    <m:r>
                      <m:rPr>
                        <m:nor/>
                      </m:rPr>
                      <a:rPr lang="en-US" sz="28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TT</m:t>
                    </m:r>
                    <m:r>
                      <m:rPr>
                        <m:nor/>
                      </m:rPr>
                      <a:rPr lang="en-US" sz="280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GC</m:t>
                    </m:r>
                    <m:r>
                      <m:rPr>
                        <m:nor/>
                      </m:rPr>
                      <a:rPr lang="en-US" sz="28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en-US" sz="280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US" sz="28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en-US" sz="280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m:rPr>
                        <m:nor/>
                      </m:rPr>
                      <a:rPr lang="en-US" sz="28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en-US" sz="280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AA</m:t>
                    </m:r>
                    <m:r>
                      <m:rPr>
                        <m:nor/>
                      </m:rPr>
                      <a:rPr lang="en-US" sz="28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US" sz="28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3897052"/>
                <a:ext cx="10261140" cy="13572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65430" y="2492896"/>
                <a:ext cx="10261140" cy="13217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 describe DNA.</a:t>
                </a:r>
              </a:p>
              <a:p>
                <a:pPr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The longest common subsequence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/>
                  <a:t> defines their similarity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2492896"/>
                <a:ext cx="10261140" cy="1321708"/>
              </a:xfrm>
              <a:prstGeom prst="rect">
                <a:avLst/>
              </a:prstGeom>
              <a:blipFill>
                <a:blip r:embed="rId4"/>
                <a:stretch>
                  <a:fillRect l="-1188" t="-922" b="-12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20</a:t>
            </a:fld>
            <a:endParaRPr lang="en-US"/>
          </a:p>
        </p:txBody>
      </p:sp>
      <p:grpSp>
        <p:nvGrpSpPr>
          <p:cNvPr id="37" name="Group 36"/>
          <p:cNvGrpSpPr/>
          <p:nvPr/>
        </p:nvGrpSpPr>
        <p:grpSpPr>
          <a:xfrm>
            <a:off x="965430" y="4038017"/>
            <a:ext cx="10261140" cy="1885044"/>
            <a:chOff x="965430" y="4038017"/>
            <a:chExt cx="10261140" cy="1885044"/>
          </a:xfrm>
        </p:grpSpPr>
        <p:grpSp>
          <p:nvGrpSpPr>
            <p:cNvPr id="35" name="Group 34"/>
            <p:cNvGrpSpPr/>
            <p:nvPr/>
          </p:nvGrpSpPr>
          <p:grpSpPr>
            <a:xfrm>
              <a:off x="1919536" y="4038017"/>
              <a:ext cx="5974099" cy="1083171"/>
              <a:chOff x="1922101" y="4038017"/>
              <a:chExt cx="5974099" cy="1083171"/>
            </a:xfrm>
          </p:grpSpPr>
          <p:grpSp>
            <p:nvGrpSpPr>
              <p:cNvPr id="30" name="Group 29"/>
              <p:cNvGrpSpPr/>
              <p:nvPr/>
            </p:nvGrpSpPr>
            <p:grpSpPr>
              <a:xfrm>
                <a:off x="1922101" y="4038017"/>
                <a:ext cx="3006336" cy="363091"/>
                <a:chOff x="1811524" y="4038017"/>
                <a:chExt cx="3006336" cy="363091"/>
              </a:xfrm>
            </p:grpSpPr>
            <p:sp>
              <p:nvSpPr>
                <p:cNvPr id="19" name="Rectangle 18"/>
                <p:cNvSpPr/>
                <p:nvPr/>
              </p:nvSpPr>
              <p:spPr>
                <a:xfrm>
                  <a:off x="1811524" y="4041068"/>
                  <a:ext cx="864096" cy="360040"/>
                </a:xfrm>
                <a:prstGeom prst="rect">
                  <a:avLst/>
                </a:prstGeom>
                <a:solidFill>
                  <a:srgbClr val="FFFFFF">
                    <a:alpha val="8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Rectangle 19"/>
                <p:cNvSpPr/>
                <p:nvPr/>
              </p:nvSpPr>
              <p:spPr>
                <a:xfrm>
                  <a:off x="3521715" y="4041068"/>
                  <a:ext cx="450050" cy="360040"/>
                </a:xfrm>
                <a:prstGeom prst="rect">
                  <a:avLst/>
                </a:prstGeom>
                <a:solidFill>
                  <a:srgbClr val="FFFFFF">
                    <a:alpha val="8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Rectangle 20"/>
                <p:cNvSpPr/>
                <p:nvPr/>
              </p:nvSpPr>
              <p:spPr>
                <a:xfrm>
                  <a:off x="4151784" y="4038017"/>
                  <a:ext cx="666076" cy="360040"/>
                </a:xfrm>
                <a:prstGeom prst="rect">
                  <a:avLst/>
                </a:prstGeom>
                <a:solidFill>
                  <a:srgbClr val="FFFFFF">
                    <a:alpha val="8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1" name="Group 30"/>
              <p:cNvGrpSpPr/>
              <p:nvPr/>
            </p:nvGrpSpPr>
            <p:grpSpPr>
              <a:xfrm>
                <a:off x="2756339" y="4761148"/>
                <a:ext cx="5139861" cy="360040"/>
                <a:chOff x="2710436" y="4761148"/>
                <a:chExt cx="5139861" cy="360040"/>
              </a:xfrm>
            </p:grpSpPr>
            <p:sp>
              <p:nvSpPr>
                <p:cNvPr id="22" name="Rectangle 21"/>
                <p:cNvSpPr/>
                <p:nvPr/>
              </p:nvSpPr>
              <p:spPr>
                <a:xfrm>
                  <a:off x="2710436" y="4761148"/>
                  <a:ext cx="245882" cy="360040"/>
                </a:xfrm>
                <a:prstGeom prst="rect">
                  <a:avLst/>
                </a:prstGeom>
                <a:solidFill>
                  <a:srgbClr val="FFFFFF">
                    <a:alpha val="8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Rectangle 22"/>
                <p:cNvSpPr/>
                <p:nvPr/>
              </p:nvSpPr>
              <p:spPr>
                <a:xfrm>
                  <a:off x="4222604" y="4761148"/>
                  <a:ext cx="245882" cy="360040"/>
                </a:xfrm>
                <a:prstGeom prst="rect">
                  <a:avLst/>
                </a:prstGeom>
                <a:solidFill>
                  <a:srgbClr val="FFFFFF">
                    <a:alpha val="8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Rectangle 23"/>
                <p:cNvSpPr/>
                <p:nvPr/>
              </p:nvSpPr>
              <p:spPr>
                <a:xfrm>
                  <a:off x="5261757" y="4761148"/>
                  <a:ext cx="436789" cy="360040"/>
                </a:xfrm>
                <a:prstGeom prst="rect">
                  <a:avLst/>
                </a:prstGeom>
                <a:solidFill>
                  <a:srgbClr val="FFFFFF">
                    <a:alpha val="8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Rectangle 24"/>
                <p:cNvSpPr/>
                <p:nvPr/>
              </p:nvSpPr>
              <p:spPr>
                <a:xfrm>
                  <a:off x="6095895" y="4761148"/>
                  <a:ext cx="245882" cy="360040"/>
                </a:xfrm>
                <a:prstGeom prst="rect">
                  <a:avLst/>
                </a:prstGeom>
                <a:solidFill>
                  <a:srgbClr val="FFFFFF">
                    <a:alpha val="8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Rectangle 25"/>
                <p:cNvSpPr/>
                <p:nvPr/>
              </p:nvSpPr>
              <p:spPr>
                <a:xfrm>
                  <a:off x="6526860" y="4761148"/>
                  <a:ext cx="245882" cy="360040"/>
                </a:xfrm>
                <a:prstGeom prst="rect">
                  <a:avLst/>
                </a:prstGeom>
                <a:solidFill>
                  <a:srgbClr val="FFFFFF">
                    <a:alpha val="8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Rectangle 26"/>
                <p:cNvSpPr/>
                <p:nvPr/>
              </p:nvSpPr>
              <p:spPr>
                <a:xfrm>
                  <a:off x="6923067" y="4761148"/>
                  <a:ext cx="245882" cy="360040"/>
                </a:xfrm>
                <a:prstGeom prst="rect">
                  <a:avLst/>
                </a:prstGeom>
                <a:solidFill>
                  <a:srgbClr val="FFFFFF">
                    <a:alpha val="8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Rectangle 27"/>
                <p:cNvSpPr/>
                <p:nvPr/>
              </p:nvSpPr>
              <p:spPr>
                <a:xfrm>
                  <a:off x="7604415" y="4761148"/>
                  <a:ext cx="245882" cy="360040"/>
                </a:xfrm>
                <a:prstGeom prst="rect">
                  <a:avLst/>
                </a:prstGeom>
                <a:solidFill>
                  <a:srgbClr val="FFFFFF">
                    <a:alpha val="8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965430" y="5349250"/>
                  <a:ext cx="10261140" cy="5738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sz="28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GTCG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CGGAA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GCCG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GC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AA</m:t>
                      </m:r>
                    </m:oMath>
                  </a14:m>
                  <a:endParaRPr lang="en-US" sz="2800" i="1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430" y="5349250"/>
                  <a:ext cx="10261140" cy="57381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28622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965429" y="584684"/>
                <a:ext cx="10261141" cy="34726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Definition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 </a:t>
                </a:r>
                <a:r>
                  <a:rPr lang="en-US" sz="2800" b="1" i="1" dirty="0"/>
                  <a:t>subsequence</a:t>
                </a:r>
                <a:r>
                  <a:rPr lang="en-US" sz="2800" dirty="0"/>
                  <a:t> of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 if: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strictly increasing sequence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 satisfies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,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 1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Since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 has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800" dirty="0"/>
                  <a:t> distinct subsequences, finding LCS by enumeration is impractical.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Definition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 is called the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800" dirty="0"/>
                  <a:t>th </a:t>
                </a:r>
                <a:r>
                  <a:rPr lang="en-US" sz="2800" b="1" i="1" dirty="0"/>
                  <a:t>prefix</a:t>
                </a:r>
                <a:r>
                  <a:rPr lang="en-US" sz="2800" dirty="0"/>
                  <a:t> of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29" y="584684"/>
                <a:ext cx="10261141" cy="3472617"/>
              </a:xfrm>
              <a:prstGeom prst="rect">
                <a:avLst/>
              </a:prstGeom>
              <a:blipFill>
                <a:blip r:embed="rId2"/>
                <a:stretch>
                  <a:fillRect l="-1188" t="-351" r="-1188" b="-298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965429" y="4329100"/>
                <a:ext cx="10261141" cy="18387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Theorem</a:t>
                </a:r>
                <a:r>
                  <a:rPr lang="en-US" sz="2800" dirty="0"/>
                  <a:t>: (Optimal sub-structure of LCS)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 be any LCS of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. Then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29" y="4329100"/>
                <a:ext cx="10261141" cy="1838773"/>
              </a:xfrm>
              <a:prstGeom prst="rect">
                <a:avLst/>
              </a:prstGeom>
              <a:blipFill>
                <a:blip r:embed="rId3"/>
                <a:stretch>
                  <a:fillRect l="-1188" t="-331" b="-8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818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65429" y="728700"/>
                <a:ext cx="10261142" cy="2105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(1)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⇒ </a:t>
                </a:r>
                <a:r>
                  <a:rPr lang="he-IL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800" dirty="0"/>
                  <a:t> is LCS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(2)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 and</a:t>
                </a:r>
                <a:r>
                  <a:rPr lang="he-IL" sz="2800" dirty="0"/>
                  <a:t> 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800" dirty="0"/>
                  <a:t> ,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800" dirty="0"/>
                  <a:t> is LCS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(3)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:r>
                  <a:rPr lang="he-IL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⇒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800" dirty="0"/>
                  <a:t> is LCS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29" y="728700"/>
                <a:ext cx="10261142" cy="2105192"/>
              </a:xfrm>
              <a:prstGeom prst="rect">
                <a:avLst/>
              </a:prstGeom>
              <a:blipFill>
                <a:blip r:embed="rId2"/>
                <a:stretch>
                  <a:fillRect l="-1188" t="-1449"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65429" y="2953975"/>
                <a:ext cx="10261141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Proof</a:t>
                </a:r>
                <a:r>
                  <a:rPr lang="en-US" sz="2800" dirty="0"/>
                  <a:t>: 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(1)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sz="2800" dirty="0"/>
                  <a:t> </a:t>
                </a:r>
                <a:r>
                  <a:rPr lang="en-US" sz="2800" dirty="0"/>
                  <a:t>could be appended to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he-IL" sz="2800" dirty="0"/>
                  <a:t> </a:t>
                </a:r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 </m:t>
                    </m:r>
                  </m:oMath>
                </a14:m>
                <a:r>
                  <a:rPr lang="en-US" sz="2800" dirty="0"/>
                  <a:t>LCS of length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800" dirty="0"/>
                  <a:t>, contradicting</a:t>
                </a:r>
                <a:r>
                  <a:rPr lang="he-IL" sz="28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he-IL" sz="2800" dirty="0"/>
                  <a:t> </a:t>
                </a:r>
                <a:r>
                  <a:rPr lang="en-US" sz="2800" dirty="0"/>
                  <a:t>LCS.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800" dirty="0"/>
                  <a:t> a common subsequence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800" dirty="0"/>
                  <a:t>,  (yet not necessarily LCS).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29" y="2953975"/>
                <a:ext cx="10261141" cy="3139321"/>
              </a:xfrm>
              <a:prstGeom prst="rect">
                <a:avLst/>
              </a:prstGeom>
              <a:blipFill>
                <a:blip r:embed="rId3"/>
                <a:stretch>
                  <a:fillRect l="-1188" t="-388" r="-1188" b="-3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98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65429" y="692696"/>
                <a:ext cx="10261142" cy="2400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is not LCS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800" dirty="0"/>
                  <a:t> LCS s.t.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, i.e.,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Appending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800" dirty="0"/>
                  <a:t> LCS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800" dirty="0"/>
                  <a:t> s.t.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, contradiction to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 LCS.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29" y="692696"/>
                <a:ext cx="10261142" cy="2400081"/>
              </a:xfrm>
              <a:prstGeom prst="rect">
                <a:avLst/>
              </a:prstGeom>
              <a:blipFill>
                <a:blip r:embed="rId2"/>
                <a:stretch>
                  <a:fillRect l="-1188" t="-1272" r="-1188" b="-4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65429" y="3140968"/>
                <a:ext cx="10261142" cy="2391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(2)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800" dirty="0"/>
                  <a:t> is a common subsequence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800" dirty="0"/>
                  <a:t>, but assume in contrary that it is not LCS.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Since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800" dirty="0"/>
                  <a:t> LCS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800" dirty="0"/>
                  <a:t> with length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, which is also LCS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800" dirty="0"/>
                  <a:t> (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800" dirty="0"/>
                  <a:t>)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800" dirty="0"/>
                  <a:t>, contradiction to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 LCS.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29" y="3140968"/>
                <a:ext cx="10261142" cy="2391424"/>
              </a:xfrm>
              <a:prstGeom prst="rect">
                <a:avLst/>
              </a:prstGeom>
              <a:blipFill>
                <a:blip r:embed="rId3"/>
                <a:stretch>
                  <a:fillRect l="-1188" t="-1018" r="-1188" b="-4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965429" y="5678088"/>
                <a:ext cx="1026114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1800"/>
                  </a:spcAft>
                </a:pPr>
                <a:r>
                  <a:rPr lang="en-US" sz="2800" dirty="0"/>
                  <a:t>(3) Symmetric to (2).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29" y="5678088"/>
                <a:ext cx="10261142" cy="523220"/>
              </a:xfrm>
              <a:prstGeom prst="rect">
                <a:avLst/>
              </a:prstGeom>
              <a:blipFill>
                <a:blip r:embed="rId4"/>
                <a:stretch>
                  <a:fillRect l="-1188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7544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65429" y="736535"/>
                <a:ext cx="10261142" cy="2391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Consequence</a:t>
                </a:r>
                <a:r>
                  <a:rPr lang="en-US" sz="2800" dirty="0"/>
                  <a:t>: LCS of two sequences contains LCS of prefixes of the two, thus LCS problem posses </a:t>
                </a:r>
                <a:r>
                  <a:rPr lang="en-US" sz="2800" b="1" i="1" dirty="0"/>
                  <a:t>optimal sub-structure </a:t>
                </a:r>
                <a:r>
                  <a:rPr lang="en-US" sz="2800" dirty="0"/>
                  <a:t>property.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Consequence</a:t>
                </a:r>
                <a:r>
                  <a:rPr lang="en-US" sz="2800" dirty="0"/>
                  <a:t>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 LCS is obtained from LCS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800" dirty="0"/>
                  <a:t>.  Else, LCS is the longest among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800" dirty="0"/>
                  <a:t> 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800" dirty="0"/>
                  <a:t> LCSs.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29" y="736535"/>
                <a:ext cx="10261142" cy="2391424"/>
              </a:xfrm>
              <a:prstGeom prst="rect">
                <a:avLst/>
              </a:prstGeom>
              <a:blipFill>
                <a:blip r:embed="rId3"/>
                <a:stretch>
                  <a:fillRect l="-1188" t="-510" r="-1188" b="-5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65429" y="3429000"/>
                <a:ext cx="10261142" cy="2565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800" dirty="0"/>
                  <a:t> be the length of LCS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, then</a:t>
                </a:r>
              </a:p>
              <a:p>
                <a:pPr algn="just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=0 </m:t>
                                </m:r>
                                <m:r>
                                  <m:rPr>
                                    <m:nor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or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=0,          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+1                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&gt;0 </m:t>
                                </m:r>
                                <m:r>
                                  <m:rPr>
                                    <m:nor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and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−1,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&gt;0 </m:t>
                                </m:r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and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29" y="3429000"/>
                <a:ext cx="10261142" cy="2565639"/>
              </a:xfrm>
              <a:prstGeom prst="rect">
                <a:avLst/>
              </a:prstGeom>
              <a:blipFill>
                <a:blip r:embed="rId4"/>
                <a:stretch>
                  <a:fillRect l="-1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768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65429" y="800708"/>
                <a:ext cx="10261142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Straight-forward recursive implementation solves</a:t>
                </a:r>
                <a:r>
                  <a:rPr lang="he-IL" sz="2800" dirty="0"/>
                  <a:t> </a:t>
                </a:r>
                <a:r>
                  <a:rPr lang="en-US" sz="2800" dirty="0"/>
                  <a:t>the problem, but same sub-problem may be solved few times.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: What is the worst-case input for the recursive solution?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However, only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80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𝑚𝑛</m:t>
                        </m:r>
                      </m:e>
                    </m:d>
                  </m:oMath>
                </a14:m>
                <a:r>
                  <a:rPr lang="en-US" sz="2800" dirty="0"/>
                  <a:t> distinct LCS </a:t>
                </a:r>
                <a:r>
                  <a:rPr lang="en-US" sz="2800"/>
                  <a:t>sub-problems exist, </a:t>
                </a:r>
                <a:r>
                  <a:rPr lang="en-US" sz="2800" dirty="0"/>
                  <a:t>and bottom-up dynamic programming applies.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29" y="800708"/>
                <a:ext cx="10261142" cy="3139321"/>
              </a:xfrm>
              <a:prstGeom prst="rect">
                <a:avLst/>
              </a:prstGeom>
              <a:blipFill>
                <a:blip r:embed="rId3"/>
                <a:stretch>
                  <a:fillRect l="-1188" t="-777" r="-1188" b="-349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922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26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261692" y="692696"/>
            <a:ext cx="9668614" cy="5342584"/>
            <a:chOff x="1261692" y="692696"/>
            <a:chExt cx="9668614" cy="5342584"/>
          </a:xfrm>
        </p:grpSpPr>
        <p:grpSp>
          <p:nvGrpSpPr>
            <p:cNvPr id="7" name="Group 6"/>
            <p:cNvGrpSpPr/>
            <p:nvPr/>
          </p:nvGrpSpPr>
          <p:grpSpPr>
            <a:xfrm>
              <a:off x="1261694" y="692696"/>
              <a:ext cx="9668612" cy="5342584"/>
              <a:chOff x="1376400" y="693000"/>
              <a:chExt cx="9668612" cy="5342584"/>
            </a:xfrm>
          </p:grpSpPr>
          <p:pic>
            <p:nvPicPr>
              <p:cNvPr id="2" name="Picture 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76400" y="693000"/>
                <a:ext cx="6850612" cy="5342584"/>
              </a:xfrm>
              <a:prstGeom prst="rect">
                <a:avLst/>
              </a:prstGeom>
            </p:spPr>
          </p:pic>
          <p:sp>
            <p:nvSpPr>
              <p:cNvPr id="3" name="TextBox 2"/>
              <p:cNvSpPr txBox="1"/>
              <p:nvPr/>
            </p:nvSpPr>
            <p:spPr>
              <a:xfrm>
                <a:off x="4864800" y="3364292"/>
                <a:ext cx="33622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case (1) of theorem</a:t>
                </a: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7600800" y="4249800"/>
                <a:ext cx="1710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case (2)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6848400" y="5135308"/>
                <a:ext cx="419661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case (3), LCS not growing</a:t>
                </a:r>
              </a:p>
            </p:txBody>
          </p:sp>
          <p:sp>
            <p:nvSpPr>
              <p:cNvPr id="4" name="Rectangle 3"/>
              <p:cNvSpPr/>
              <p:nvPr/>
            </p:nvSpPr>
            <p:spPr>
              <a:xfrm>
                <a:off x="6886494" y="4662780"/>
                <a:ext cx="289837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LCS not growing</a:t>
                </a: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8227011" y="3777272"/>
                <a:ext cx="230082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LCS growing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/>
                  <p:cNvSpPr/>
                  <p:nvPr/>
                </p:nvSpPr>
                <p:spPr>
                  <a:xfrm>
                    <a:off x="6059996" y="1556792"/>
                    <a:ext cx="3024336" cy="523220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800" dirty="0">
                        <a:solidFill>
                          <a:srgbClr val="009900"/>
                        </a:solidFill>
                      </a:rPr>
                      <a:t>// </a:t>
                    </a:r>
                    <a14:m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sz="2800" dirty="0">
                        <a:solidFill>
                          <a:srgbClr val="009900"/>
                        </a:solidFill>
                      </a:rPr>
                      <a:t>-length </a:t>
                    </a:r>
                    <a14:m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a14:m>
                    <a:r>
                      <a:rPr lang="en-US" sz="2800" dirty="0">
                        <a:solidFill>
                          <a:srgbClr val="009900"/>
                        </a:solidFill>
                      </a:rPr>
                      <a:t> prefix</a:t>
                    </a:r>
                  </a:p>
                </p:txBody>
              </p:sp>
            </mc:Choice>
            <mc:Fallback xmlns="">
              <p:sp>
                <p:nvSpPr>
                  <p:cNvPr id="10" name="Rectangle 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9996" y="1556792"/>
                    <a:ext cx="3024336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032" t="-10465" r="-2419" b="-325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/>
                  <p:cNvSpPr/>
                  <p:nvPr/>
                </p:nvSpPr>
                <p:spPr>
                  <a:xfrm>
                    <a:off x="6059996" y="2006930"/>
                    <a:ext cx="3024336" cy="523220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800" dirty="0">
                        <a:solidFill>
                          <a:srgbClr val="009900"/>
                        </a:solidFill>
                      </a:rPr>
                      <a:t>// </a:t>
                    </a:r>
                    <a14:m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sz="2800" dirty="0">
                        <a:solidFill>
                          <a:srgbClr val="009900"/>
                        </a:solidFill>
                      </a:rPr>
                      <a:t>-length </a:t>
                    </a:r>
                    <a14:m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a14:m>
                    <a:r>
                      <a:rPr lang="en-US" sz="2800" dirty="0">
                        <a:solidFill>
                          <a:srgbClr val="009900"/>
                        </a:solidFill>
                      </a:rPr>
                      <a:t> prefix</a:t>
                    </a:r>
                  </a:p>
                </p:txBody>
              </p:sp>
            </mc:Choice>
            <mc:Fallback xmlns="">
              <p:sp>
                <p:nvSpPr>
                  <p:cNvPr id="11" name="Rectangle 1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9996" y="2006930"/>
                    <a:ext cx="3024336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032" t="-10465" r="-2016" b="-325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" name="Rectangle 13"/>
            <p:cNvSpPr/>
            <p:nvPr/>
          </p:nvSpPr>
          <p:spPr>
            <a:xfrm>
              <a:off x="1261692" y="692696"/>
              <a:ext cx="9668613" cy="5342584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71620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3"/>
          <p:cNvSpPr txBox="1"/>
          <p:nvPr/>
        </p:nvSpPr>
        <p:spPr>
          <a:xfrm>
            <a:off x="2201444" y="586425"/>
            <a:ext cx="7803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LCS Retrieval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965428" y="1343021"/>
                <a:ext cx="10261143" cy="4159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0" dirty="0"/>
                  <a:t>The equation defining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800" dirty="0"/>
                  <a:t> enables LCS retrieval in reverse order.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Starting at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, examination of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 dirty="0"/>
                  <a:t> determines how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800" dirty="0"/>
                  <a:t> was obtained.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LCS increases whenever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Note that LCS is not unique!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Q: Does the order of (2) and (3) in LCS-LENGTH matter?</a:t>
                </a: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28" y="1343021"/>
                <a:ext cx="10261143" cy="4159665"/>
              </a:xfrm>
              <a:prstGeom prst="rect">
                <a:avLst/>
              </a:prstGeom>
              <a:blipFill>
                <a:blip r:embed="rId2"/>
                <a:stretch>
                  <a:fillRect l="-1188" t="-146" r="-1188" b="-23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9972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361381"/>
              </p:ext>
            </p:extLst>
          </p:nvPr>
        </p:nvGraphicFramePr>
        <p:xfrm>
          <a:off x="4647351" y="1984888"/>
          <a:ext cx="348840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117764234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18679298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715614748"/>
                    </a:ext>
                  </a:extLst>
                </a:gridCol>
                <a:gridCol w="536400">
                  <a:extLst>
                    <a:ext uri="{9D8B030D-6E8A-4147-A177-3AD203B41FA5}">
                      <a16:colId xmlns:a16="http://schemas.microsoft.com/office/drawing/2014/main" val="542874151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408143989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563100315"/>
                    </a:ext>
                  </a:extLst>
                </a:gridCol>
                <a:gridCol w="496800">
                  <a:extLst>
                    <a:ext uri="{9D8B030D-6E8A-4147-A177-3AD203B41FA5}">
                      <a16:colId xmlns:a16="http://schemas.microsoft.com/office/drawing/2014/main" val="26739648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814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536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958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377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006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562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131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167268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017815"/>
              </p:ext>
            </p:extLst>
          </p:nvPr>
        </p:nvGraphicFramePr>
        <p:xfrm>
          <a:off x="5118005" y="1508157"/>
          <a:ext cx="3017745" cy="4736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945">
                  <a:extLst>
                    <a:ext uri="{9D8B030D-6E8A-4147-A177-3AD203B41FA5}">
                      <a16:colId xmlns:a16="http://schemas.microsoft.com/office/drawing/2014/main" val="329852910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446046593"/>
                    </a:ext>
                  </a:extLst>
                </a:gridCol>
                <a:gridCol w="536400">
                  <a:extLst>
                    <a:ext uri="{9D8B030D-6E8A-4147-A177-3AD203B41FA5}">
                      <a16:colId xmlns:a16="http://schemas.microsoft.com/office/drawing/2014/main" val="70208570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343980958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40549241"/>
                    </a:ext>
                  </a:extLst>
                </a:gridCol>
                <a:gridCol w="496800">
                  <a:extLst>
                    <a:ext uri="{9D8B030D-6E8A-4147-A177-3AD203B41FA5}">
                      <a16:colId xmlns:a16="http://schemas.microsoft.com/office/drawing/2014/main" val="1226023395"/>
                    </a:ext>
                  </a:extLst>
                </a:gridCol>
              </a:tblGrid>
              <a:tr h="4736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7154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1695611"/>
                  </p:ext>
                </p:extLst>
              </p:nvPr>
            </p:nvGraphicFramePr>
            <p:xfrm>
              <a:off x="4175751" y="1984888"/>
              <a:ext cx="471600" cy="36576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71600">
                      <a:extLst>
                        <a:ext uri="{9D8B030D-6E8A-4147-A177-3AD203B41FA5}">
                          <a16:colId xmlns:a16="http://schemas.microsoft.com/office/drawing/2014/main" val="15175575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18161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A</a:t>
                          </a:r>
                          <a:endParaRPr lang="en-US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10707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B</a:t>
                          </a:r>
                          <a:endParaRPr lang="en-US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8777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C</a:t>
                          </a:r>
                          <a:endParaRPr lang="en-US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57457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B</a:t>
                          </a:r>
                          <a:endParaRPr lang="en-US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57663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D</a:t>
                          </a:r>
                          <a:endParaRPr lang="en-US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83872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A</a:t>
                          </a:r>
                          <a:endParaRPr lang="en-US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50117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B</a:t>
                          </a:r>
                          <a:endParaRPr lang="en-US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257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1695611"/>
                  </p:ext>
                </p:extLst>
              </p:nvPr>
            </p:nvGraphicFramePr>
            <p:xfrm>
              <a:off x="4175751" y="1984888"/>
              <a:ext cx="471600" cy="36576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71600">
                      <a:extLst>
                        <a:ext uri="{9D8B030D-6E8A-4147-A177-3AD203B41FA5}">
                          <a16:colId xmlns:a16="http://schemas.microsoft.com/office/drawing/2014/main" val="151755757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b="-7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181619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A</a:t>
                          </a:r>
                          <a:endParaRPr lang="en-US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107075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B</a:t>
                          </a:r>
                          <a:endParaRPr lang="en-US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877703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C</a:t>
                          </a:r>
                          <a:endParaRPr lang="en-US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574576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B</a:t>
                          </a:r>
                          <a:endParaRPr lang="en-US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576633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D</a:t>
                          </a:r>
                          <a:endParaRPr lang="en-US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838726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A</a:t>
                          </a:r>
                          <a:endParaRPr lang="en-US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501178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B</a:t>
                          </a:r>
                          <a:endParaRPr lang="en-US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25700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33" name="Group 32"/>
          <p:cNvGrpSpPr/>
          <p:nvPr/>
        </p:nvGrpSpPr>
        <p:grpSpPr>
          <a:xfrm>
            <a:off x="4186272" y="1510804"/>
            <a:ext cx="3917079" cy="3657600"/>
            <a:chOff x="3402921" y="301756"/>
            <a:chExt cx="3917079" cy="3657600"/>
          </a:xfrm>
        </p:grpSpPr>
        <p:grpSp>
          <p:nvGrpSpPr>
            <p:cNvPr id="17" name="Group 16"/>
            <p:cNvGrpSpPr/>
            <p:nvPr/>
          </p:nvGrpSpPr>
          <p:grpSpPr>
            <a:xfrm>
              <a:off x="4377943" y="1702368"/>
              <a:ext cx="2942057" cy="2255926"/>
              <a:chOff x="4377943" y="1735106"/>
              <a:chExt cx="2942057" cy="2255926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6888000" y="3562592"/>
                <a:ext cx="432000" cy="428440"/>
              </a:xfrm>
              <a:prstGeom prst="ellipse">
                <a:avLst/>
              </a:prstGeom>
              <a:solidFill>
                <a:srgbClr val="FF0000">
                  <a:alpha val="30196"/>
                </a:srgb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6385851" y="2639444"/>
                <a:ext cx="432000" cy="428440"/>
              </a:xfrm>
              <a:prstGeom prst="ellipse">
                <a:avLst/>
              </a:prstGeom>
              <a:solidFill>
                <a:srgbClr val="FF0000">
                  <a:alpha val="30196"/>
                </a:srgb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5392200" y="2188711"/>
                <a:ext cx="432000" cy="428440"/>
              </a:xfrm>
              <a:prstGeom prst="ellipse">
                <a:avLst/>
              </a:prstGeom>
              <a:solidFill>
                <a:srgbClr val="FF0000">
                  <a:alpha val="30196"/>
                </a:srgb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4377943" y="1735106"/>
                <a:ext cx="432000" cy="428440"/>
              </a:xfrm>
              <a:prstGeom prst="ellipse">
                <a:avLst/>
              </a:prstGeom>
              <a:solidFill>
                <a:srgbClr val="FF0000">
                  <a:alpha val="30196"/>
                </a:srgb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3402921" y="1707280"/>
              <a:ext cx="454521" cy="2252076"/>
              <a:chOff x="3402921" y="1707280"/>
              <a:chExt cx="454521" cy="2252076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3402921" y="3530916"/>
                <a:ext cx="432000" cy="428440"/>
              </a:xfrm>
              <a:prstGeom prst="ellipse">
                <a:avLst/>
              </a:prstGeom>
              <a:solidFill>
                <a:srgbClr val="FF0000">
                  <a:alpha val="30196"/>
                </a:srgb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3412200" y="2618783"/>
                <a:ext cx="432000" cy="428440"/>
              </a:xfrm>
              <a:prstGeom prst="ellipse">
                <a:avLst/>
              </a:prstGeom>
              <a:solidFill>
                <a:srgbClr val="FF0000">
                  <a:alpha val="30196"/>
                </a:srgb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3421671" y="2162678"/>
                <a:ext cx="432000" cy="428440"/>
              </a:xfrm>
              <a:prstGeom prst="ellipse">
                <a:avLst/>
              </a:prstGeom>
              <a:solidFill>
                <a:srgbClr val="FF0000">
                  <a:alpha val="30196"/>
                </a:srgb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3425442" y="1707280"/>
                <a:ext cx="432000" cy="428440"/>
              </a:xfrm>
              <a:prstGeom prst="ellipse">
                <a:avLst/>
              </a:prstGeom>
              <a:solidFill>
                <a:srgbClr val="FF0000">
                  <a:alpha val="30196"/>
                </a:srgb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4360757" y="301756"/>
              <a:ext cx="2959243" cy="443126"/>
              <a:chOff x="4360757" y="301756"/>
              <a:chExt cx="2959243" cy="443126"/>
            </a:xfrm>
          </p:grpSpPr>
          <p:sp>
            <p:nvSpPr>
              <p:cNvPr id="23" name="Oval 22"/>
              <p:cNvSpPr/>
              <p:nvPr/>
            </p:nvSpPr>
            <p:spPr>
              <a:xfrm>
                <a:off x="6888000" y="301756"/>
                <a:ext cx="432000" cy="428440"/>
              </a:xfrm>
              <a:prstGeom prst="ellipse">
                <a:avLst/>
              </a:prstGeom>
              <a:solidFill>
                <a:srgbClr val="FF0000">
                  <a:alpha val="30196"/>
                </a:srgb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6391243" y="312319"/>
                <a:ext cx="432000" cy="428440"/>
              </a:xfrm>
              <a:prstGeom prst="ellipse">
                <a:avLst/>
              </a:prstGeom>
              <a:solidFill>
                <a:srgbClr val="FF0000">
                  <a:alpha val="30196"/>
                </a:srgb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5405271" y="316442"/>
                <a:ext cx="432000" cy="428440"/>
              </a:xfrm>
              <a:prstGeom prst="ellipse">
                <a:avLst/>
              </a:prstGeom>
              <a:solidFill>
                <a:srgbClr val="FF0000">
                  <a:alpha val="30196"/>
                </a:srgb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4360757" y="312319"/>
                <a:ext cx="432000" cy="428440"/>
              </a:xfrm>
              <a:prstGeom prst="ellipse">
                <a:avLst/>
              </a:prstGeom>
              <a:solidFill>
                <a:srgbClr val="FF0000">
                  <a:alpha val="30196"/>
                </a:srgb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4" name="Group 43"/>
          <p:cNvGrpSpPr/>
          <p:nvPr/>
        </p:nvGrpSpPr>
        <p:grpSpPr>
          <a:xfrm>
            <a:off x="4184987" y="1520788"/>
            <a:ext cx="3421846" cy="4096467"/>
            <a:chOff x="3401636" y="311740"/>
            <a:chExt cx="3421846" cy="4096467"/>
          </a:xfrm>
        </p:grpSpPr>
        <p:grpSp>
          <p:nvGrpSpPr>
            <p:cNvPr id="16" name="Group 15"/>
            <p:cNvGrpSpPr/>
            <p:nvPr/>
          </p:nvGrpSpPr>
          <p:grpSpPr>
            <a:xfrm>
              <a:off x="4360553" y="2619465"/>
              <a:ext cx="2457298" cy="1788742"/>
              <a:chOff x="4274296" y="2602890"/>
              <a:chExt cx="2457298" cy="1788742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6299594" y="3963192"/>
                <a:ext cx="432000" cy="428440"/>
              </a:xfrm>
              <a:prstGeom prst="ellipse">
                <a:avLst/>
              </a:prstGeom>
              <a:solidFill>
                <a:srgbClr val="0000FF">
                  <a:alpha val="30196"/>
                </a:srgbClr>
              </a:solidFill>
              <a:ln w="28575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5821904" y="3513279"/>
                <a:ext cx="432000" cy="428440"/>
              </a:xfrm>
              <a:prstGeom prst="ellipse">
                <a:avLst/>
              </a:prstGeom>
              <a:solidFill>
                <a:srgbClr val="0000FF">
                  <a:alpha val="30196"/>
                </a:srgbClr>
              </a:solidFill>
              <a:ln w="28575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4779729" y="3061408"/>
                <a:ext cx="432000" cy="428440"/>
              </a:xfrm>
              <a:prstGeom prst="ellipse">
                <a:avLst/>
              </a:prstGeom>
              <a:solidFill>
                <a:srgbClr val="0000FF">
                  <a:alpha val="30196"/>
                </a:srgbClr>
              </a:solidFill>
              <a:ln w="28575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4274296" y="2602890"/>
                <a:ext cx="445971" cy="428440"/>
              </a:xfrm>
              <a:prstGeom prst="ellipse">
                <a:avLst/>
              </a:prstGeom>
              <a:solidFill>
                <a:srgbClr val="0000FF">
                  <a:alpha val="30196"/>
                </a:srgbClr>
              </a:solidFill>
              <a:ln w="28575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4360553" y="311740"/>
              <a:ext cx="2462929" cy="429019"/>
              <a:chOff x="4360553" y="311740"/>
              <a:chExt cx="2462929" cy="429019"/>
            </a:xfrm>
          </p:grpSpPr>
          <p:sp>
            <p:nvSpPr>
              <p:cNvPr id="35" name="Oval 34"/>
              <p:cNvSpPr/>
              <p:nvPr/>
            </p:nvSpPr>
            <p:spPr>
              <a:xfrm>
                <a:off x="6391482" y="311740"/>
                <a:ext cx="432000" cy="428440"/>
              </a:xfrm>
              <a:prstGeom prst="ellipse">
                <a:avLst/>
              </a:prstGeom>
              <a:solidFill>
                <a:srgbClr val="0000FF">
                  <a:alpha val="30196"/>
                </a:srgbClr>
              </a:solidFill>
              <a:ln w="28575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5908161" y="312319"/>
                <a:ext cx="432000" cy="428440"/>
              </a:xfrm>
              <a:prstGeom prst="ellipse">
                <a:avLst/>
              </a:prstGeom>
              <a:solidFill>
                <a:srgbClr val="0000FF">
                  <a:alpha val="30196"/>
                </a:srgbClr>
              </a:solidFill>
              <a:ln w="28575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4875229" y="311740"/>
                <a:ext cx="432000" cy="428440"/>
              </a:xfrm>
              <a:prstGeom prst="ellipse">
                <a:avLst/>
              </a:prstGeom>
              <a:solidFill>
                <a:srgbClr val="0000FF">
                  <a:alpha val="30196"/>
                </a:srgbClr>
              </a:solidFill>
              <a:ln w="28575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4360553" y="311740"/>
                <a:ext cx="432000" cy="428440"/>
              </a:xfrm>
              <a:prstGeom prst="ellipse">
                <a:avLst/>
              </a:prstGeom>
              <a:solidFill>
                <a:srgbClr val="0000FF">
                  <a:alpha val="30196"/>
                </a:srgbClr>
              </a:solidFill>
              <a:ln w="28575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3401636" y="2618783"/>
              <a:ext cx="443055" cy="1789424"/>
              <a:chOff x="3401636" y="2618783"/>
              <a:chExt cx="443055" cy="1789424"/>
            </a:xfrm>
          </p:grpSpPr>
          <p:sp>
            <p:nvSpPr>
              <p:cNvPr id="34" name="Oval 33"/>
              <p:cNvSpPr/>
              <p:nvPr/>
            </p:nvSpPr>
            <p:spPr>
              <a:xfrm>
                <a:off x="3402921" y="3979767"/>
                <a:ext cx="432000" cy="428440"/>
              </a:xfrm>
              <a:prstGeom prst="ellipse">
                <a:avLst/>
              </a:prstGeom>
              <a:solidFill>
                <a:srgbClr val="0000FF">
                  <a:alpha val="30196"/>
                </a:srgbClr>
              </a:solidFill>
              <a:ln w="28575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3401636" y="3529854"/>
                <a:ext cx="432000" cy="428440"/>
              </a:xfrm>
              <a:prstGeom prst="ellipse">
                <a:avLst/>
              </a:prstGeom>
              <a:solidFill>
                <a:srgbClr val="0000FF">
                  <a:alpha val="30196"/>
                </a:srgbClr>
              </a:solidFill>
              <a:ln w="28575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3401636" y="3074181"/>
                <a:ext cx="432000" cy="428440"/>
              </a:xfrm>
              <a:prstGeom prst="ellipse">
                <a:avLst/>
              </a:prstGeom>
              <a:solidFill>
                <a:srgbClr val="0000FF">
                  <a:alpha val="30196"/>
                </a:srgbClr>
              </a:solidFill>
              <a:ln w="28575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3412691" y="2618783"/>
                <a:ext cx="432000" cy="428440"/>
              </a:xfrm>
              <a:prstGeom prst="ellipse">
                <a:avLst/>
              </a:prstGeom>
              <a:solidFill>
                <a:srgbClr val="0000FF">
                  <a:alpha val="30196"/>
                </a:srgbClr>
              </a:solidFill>
              <a:ln w="28575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5" name="Table 4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0304156"/>
                  </p:ext>
                </p:extLst>
              </p:nvPr>
            </p:nvGraphicFramePr>
            <p:xfrm>
              <a:off x="4647351" y="1007179"/>
              <a:ext cx="3488400" cy="49873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71600">
                      <a:extLst>
                        <a:ext uri="{9D8B030D-6E8A-4147-A177-3AD203B41FA5}">
                          <a16:colId xmlns:a16="http://schemas.microsoft.com/office/drawing/2014/main" val="3298529101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780741687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2446046593"/>
                        </a:ext>
                      </a:extLst>
                    </a:gridCol>
                    <a:gridCol w="536400">
                      <a:extLst>
                        <a:ext uri="{9D8B030D-6E8A-4147-A177-3AD203B41FA5}">
                          <a16:colId xmlns:a16="http://schemas.microsoft.com/office/drawing/2014/main" val="702085707"/>
                        </a:ext>
                      </a:extLst>
                    </a:gridCol>
                    <a:gridCol w="471600">
                      <a:extLst>
                        <a:ext uri="{9D8B030D-6E8A-4147-A177-3AD203B41FA5}">
                          <a16:colId xmlns:a16="http://schemas.microsoft.com/office/drawing/2014/main" val="3439809580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3140549241"/>
                        </a:ext>
                      </a:extLst>
                    </a:gridCol>
                    <a:gridCol w="496800">
                      <a:extLst>
                        <a:ext uri="{9D8B030D-6E8A-4147-A177-3AD203B41FA5}">
                          <a16:colId xmlns:a16="http://schemas.microsoft.com/office/drawing/2014/main" val="1226023395"/>
                        </a:ext>
                      </a:extLst>
                    </a:gridCol>
                  </a:tblGrid>
                  <a:tr h="49873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400" b="0" i="0" dirty="0" smtClean="0"/>
                                  <m:t>0</m:t>
                                </m:r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400" dirty="0" smtClean="0"/>
                                  <m:t>1</m:t>
                                </m:r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400" dirty="0" smtClean="0"/>
                                  <m:t>2</m:t>
                                </m:r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400" dirty="0" smtClean="0"/>
                                  <m:t>3</m:t>
                                </m:r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400" dirty="0" smtClean="0"/>
                                  <m:t>4</m:t>
                                </m:r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400" dirty="0" smtClean="0"/>
                                  <m:t>5</m:t>
                                </m:r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400" dirty="0" smtClean="0"/>
                                  <m:t>6</m:t>
                                </m:r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87154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5" name="Table 4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0304156"/>
                  </p:ext>
                </p:extLst>
              </p:nvPr>
            </p:nvGraphicFramePr>
            <p:xfrm>
              <a:off x="4647351" y="1007179"/>
              <a:ext cx="3488400" cy="49873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71600">
                      <a:extLst>
                        <a:ext uri="{9D8B030D-6E8A-4147-A177-3AD203B41FA5}">
                          <a16:colId xmlns:a16="http://schemas.microsoft.com/office/drawing/2014/main" val="3298529101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780741687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2446046593"/>
                        </a:ext>
                      </a:extLst>
                    </a:gridCol>
                    <a:gridCol w="536400">
                      <a:extLst>
                        <a:ext uri="{9D8B030D-6E8A-4147-A177-3AD203B41FA5}">
                          <a16:colId xmlns:a16="http://schemas.microsoft.com/office/drawing/2014/main" val="702085707"/>
                        </a:ext>
                      </a:extLst>
                    </a:gridCol>
                    <a:gridCol w="471600">
                      <a:extLst>
                        <a:ext uri="{9D8B030D-6E8A-4147-A177-3AD203B41FA5}">
                          <a16:colId xmlns:a16="http://schemas.microsoft.com/office/drawing/2014/main" val="3439809580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3140549241"/>
                        </a:ext>
                      </a:extLst>
                    </a:gridCol>
                    <a:gridCol w="496800">
                      <a:extLst>
                        <a:ext uri="{9D8B030D-6E8A-4147-A177-3AD203B41FA5}">
                          <a16:colId xmlns:a16="http://schemas.microsoft.com/office/drawing/2014/main" val="1226023395"/>
                        </a:ext>
                      </a:extLst>
                    </a:gridCol>
                  </a:tblGrid>
                  <a:tr h="4987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r="-6441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2771" r="-497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2771" r="-397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76136" r="-2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24359" r="-2102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98780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87154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594918" y="1469656"/>
                <a:ext cx="524311" cy="4914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918" y="1469656"/>
                <a:ext cx="524311" cy="491417"/>
              </a:xfrm>
              <a:prstGeom prst="rect">
                <a:avLst/>
              </a:prstGeom>
              <a:blipFill>
                <a:blip r:embed="rId4"/>
                <a:stretch>
                  <a:fillRect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5181213" y="1494191"/>
            <a:ext cx="3577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4123040" y="963729"/>
                <a:ext cx="36946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040" y="963729"/>
                <a:ext cx="369460" cy="461665"/>
              </a:xfrm>
              <a:prstGeom prst="rect">
                <a:avLst/>
              </a:prstGeom>
              <a:blipFill>
                <a:blip r:embed="rId5"/>
                <a:stretch>
                  <a:fillRect l="-3279" r="-1639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6" name="Table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566563"/>
              </p:ext>
            </p:extLst>
          </p:nvPr>
        </p:nvGraphicFramePr>
        <p:xfrm>
          <a:off x="3680987" y="1999031"/>
          <a:ext cx="471600" cy="365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1517557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816191"/>
                  </a:ext>
                </a:extLst>
              </a:tr>
              <a:tr h="41019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070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777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745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766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387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011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57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/>
              <p:cNvSpPr/>
              <p:nvPr/>
            </p:nvSpPr>
            <p:spPr>
              <a:xfrm>
                <a:off x="3737308" y="1484531"/>
                <a:ext cx="36946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7308" y="1484531"/>
                <a:ext cx="36946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/>
          <p:cNvGrpSpPr/>
          <p:nvPr/>
        </p:nvGrpSpPr>
        <p:grpSpPr>
          <a:xfrm>
            <a:off x="4984240" y="2747491"/>
            <a:ext cx="2928273" cy="2590821"/>
            <a:chOff x="4427867" y="3358459"/>
            <a:chExt cx="2928273" cy="2590821"/>
          </a:xfrm>
        </p:grpSpPr>
        <p:cxnSp>
          <p:nvCxnSpPr>
            <p:cNvPr id="46" name="Straight Arrow Connector 45"/>
            <p:cNvCxnSpPr/>
            <p:nvPr/>
          </p:nvCxnSpPr>
          <p:spPr>
            <a:xfrm>
              <a:off x="4427867" y="3358459"/>
              <a:ext cx="269422" cy="25875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>
              <a:off x="5431045" y="3821446"/>
              <a:ext cx="269422" cy="25875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>
              <a:off x="6458318" y="4295278"/>
              <a:ext cx="269422" cy="25875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>
              <a:off x="6973586" y="5219913"/>
              <a:ext cx="269422" cy="25875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H="1">
              <a:off x="6828829" y="4740324"/>
              <a:ext cx="2" cy="30885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>
              <a:off x="7356140" y="5625244"/>
              <a:ext cx="0" cy="32403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5923377" y="4190209"/>
              <a:ext cx="36004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4877927" y="3743256"/>
              <a:ext cx="36004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2025</a:t>
            </a:r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Dynamic Programming</a:t>
            </a: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28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4984240" y="2749738"/>
            <a:ext cx="2846174" cy="2653297"/>
            <a:chOff x="4984240" y="2749738"/>
            <a:chExt cx="2846174" cy="2653297"/>
          </a:xfrm>
        </p:grpSpPr>
        <p:cxnSp>
          <p:nvCxnSpPr>
            <p:cNvPr id="51" name="Straight Arrow Connector 50"/>
            <p:cNvCxnSpPr/>
            <p:nvPr/>
          </p:nvCxnSpPr>
          <p:spPr>
            <a:xfrm>
              <a:off x="7011414" y="5050581"/>
              <a:ext cx="269422" cy="25875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>
              <a:off x="6542644" y="4607526"/>
              <a:ext cx="269422" cy="25875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>
              <a:off x="5484262" y="4153851"/>
              <a:ext cx="269422" cy="25875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5952601" y="4497449"/>
              <a:ext cx="36004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4984240" y="2749738"/>
              <a:ext cx="269422" cy="25875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>
              <a:off x="7470374" y="5403035"/>
              <a:ext cx="36004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flipH="1">
              <a:off x="5368273" y="3659260"/>
              <a:ext cx="2" cy="30885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 flipH="1">
              <a:off x="5377292" y="3210478"/>
              <a:ext cx="2" cy="30885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01725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8311</TotalTime>
  <Words>1866</Words>
  <Application>Microsoft Office PowerPoint</Application>
  <PresentationFormat>Widescreen</PresentationFormat>
  <Paragraphs>337</Paragraphs>
  <Slides>28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Office Theme</vt:lpstr>
      <vt:lpstr>Dynamic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Programming</dc:title>
  <dc:creator>USER</dc:creator>
  <cp:lastModifiedBy>Shmuel Wimer</cp:lastModifiedBy>
  <cp:revision>266</cp:revision>
  <dcterms:created xsi:type="dcterms:W3CDTF">2021-10-08T01:25:47Z</dcterms:created>
  <dcterms:modified xsi:type="dcterms:W3CDTF">2026-03-10T15:36:00Z</dcterms:modified>
</cp:coreProperties>
</file>