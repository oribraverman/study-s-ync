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9" r:id="rId4"/>
    <p:sldId id="258" r:id="rId5"/>
    <p:sldId id="260" r:id="rId6"/>
    <p:sldId id="263" r:id="rId7"/>
    <p:sldId id="305" r:id="rId8"/>
    <p:sldId id="271" r:id="rId9"/>
    <p:sldId id="265" r:id="rId10"/>
    <p:sldId id="266" r:id="rId11"/>
    <p:sldId id="310" r:id="rId12"/>
    <p:sldId id="304" r:id="rId13"/>
    <p:sldId id="268" r:id="rId14"/>
    <p:sldId id="280" r:id="rId15"/>
    <p:sldId id="286" r:id="rId16"/>
    <p:sldId id="282" r:id="rId17"/>
    <p:sldId id="291" r:id="rId18"/>
    <p:sldId id="283" r:id="rId19"/>
    <p:sldId id="306" r:id="rId20"/>
    <p:sldId id="285" r:id="rId21"/>
    <p:sldId id="273" r:id="rId22"/>
    <p:sldId id="274" r:id="rId23"/>
    <p:sldId id="309" r:id="rId24"/>
    <p:sldId id="287" r:id="rId25"/>
    <p:sldId id="288" r:id="rId26"/>
    <p:sldId id="289" r:id="rId27"/>
    <p:sldId id="290" r:id="rId28"/>
    <p:sldId id="293" r:id="rId29"/>
    <p:sldId id="294" r:id="rId30"/>
    <p:sldId id="307" r:id="rId31"/>
    <p:sldId id="295" r:id="rId32"/>
    <p:sldId id="297" r:id="rId33"/>
    <p:sldId id="308" r:id="rId34"/>
    <p:sldId id="300" r:id="rId35"/>
    <p:sldId id="301" r:id="rId36"/>
    <p:sldId id="302" r:id="rId37"/>
    <p:sldId id="296" r:id="rId38"/>
    <p:sldId id="299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 userDrawn="1">
          <p15:clr>
            <a:srgbClr val="A4A3A4"/>
          </p15:clr>
        </p15:guide>
        <p15:guide id="4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9900"/>
    <a:srgbClr val="FF9933"/>
    <a:srgbClr val="0000FF"/>
    <a:srgbClr val="777777"/>
    <a:srgbClr val="FFFFFF"/>
    <a:srgbClr val="000000"/>
    <a:srgbClr val="41719C"/>
    <a:srgbClr val="BFBFB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94153E-6F42-4C22-98AC-1C37618E7E6A}" v="1" dt="2026-03-10T15:36:37.2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686" y="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muel Wimer" userId="8ef14acc-0d94-4859-bee1-3b6488f0f102" providerId="ADAL" clId="{2891196E-E581-47E3-AAD7-5B981CEF6CD4}"/>
    <pc:docChg chg="custSel modSld">
      <pc:chgData name="Shmuel Wimer" userId="8ef14acc-0d94-4859-bee1-3b6488f0f102" providerId="ADAL" clId="{2891196E-E581-47E3-AAD7-5B981CEF6CD4}" dt="2026-03-10T15:36:37.328" v="1" actId="27636"/>
      <pc:docMkLst>
        <pc:docMk/>
      </pc:docMkLst>
      <pc:sldChg chg="modSp mod">
        <pc:chgData name="Shmuel Wimer" userId="8ef14acc-0d94-4859-bee1-3b6488f0f102" providerId="ADAL" clId="{2891196E-E581-47E3-AAD7-5B981CEF6CD4}" dt="2026-03-10T15:36:37.328" v="1" actId="27636"/>
        <pc:sldMkLst>
          <pc:docMk/>
          <pc:sldMk cId="4163084423" sldId="256"/>
        </pc:sldMkLst>
        <pc:spChg chg="mod">
          <ac:chgData name="Shmuel Wimer" userId="8ef14acc-0d94-4859-bee1-3b6488f0f102" providerId="ADAL" clId="{2891196E-E581-47E3-AAD7-5B981CEF6CD4}" dt="2026-03-10T15:36:37.328" v="1" actId="27636"/>
          <ac:spMkLst>
            <pc:docMk/>
            <pc:sldMk cId="4163084423" sldId="256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F9FEB-9CFE-496E-93BE-D56B6107DD7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3D3-E1A2-4212-A489-A5CBFD00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85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67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46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33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89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662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14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5730C-9705-74EC-81B0-89E8A2ADF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DD9B5-FC47-6DE9-686C-7DACE961A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0DADC-ACF6-C34C-2991-1B66312E8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9BFC8-C556-EACE-1411-56B0E768B5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507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31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676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034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21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51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74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819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260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333D3-E1A2-4212-A489-A5CBFD003BC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46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4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1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8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01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67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8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5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74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63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7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3156EA-883B-491A-9A56-90F6CDBF6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62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940" y="0"/>
            <a:ext cx="705060" cy="68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March 2022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156EA-883B-491A-9A56-90F6CDBF6E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5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1.png"/><Relationship Id="rId4" Type="http://schemas.openxmlformats.org/officeDocument/2006/relationships/image" Target="../media/image19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7" Type="http://schemas.openxmlformats.org/officeDocument/2006/relationships/image" Target="../media/image2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0.png"/><Relationship Id="rId5" Type="http://schemas.openxmlformats.org/officeDocument/2006/relationships/image" Target="../media/image200.png"/><Relationship Id="rId10" Type="http://schemas.openxmlformats.org/officeDocument/2006/relationships/image" Target="../media/image35.png"/><Relationship Id="rId4" Type="http://schemas.openxmlformats.org/officeDocument/2006/relationships/image" Target="../media/image190.png"/><Relationship Id="rId9" Type="http://schemas.openxmlformats.org/officeDocument/2006/relationships/image" Target="../media/image28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0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0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1.png"/><Relationship Id="rId9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01.png"/><Relationship Id="rId7" Type="http://schemas.openxmlformats.org/officeDocument/2006/relationships/image" Target="../media/image5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11.png"/><Relationship Id="rId9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13" Type="http://schemas.openxmlformats.org/officeDocument/2006/relationships/image" Target="../media/image590.png"/><Relationship Id="rId3" Type="http://schemas.openxmlformats.org/officeDocument/2006/relationships/image" Target="../media/image491.png"/><Relationship Id="rId7" Type="http://schemas.openxmlformats.org/officeDocument/2006/relationships/image" Target="../media/image530.png"/><Relationship Id="rId12" Type="http://schemas.openxmlformats.org/officeDocument/2006/relationships/image" Target="../media/image580.png"/><Relationship Id="rId2" Type="http://schemas.openxmlformats.org/officeDocument/2006/relationships/image" Target="../media/image581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0.png"/><Relationship Id="rId11" Type="http://schemas.openxmlformats.org/officeDocument/2006/relationships/image" Target="../media/image570.png"/><Relationship Id="rId5" Type="http://schemas.openxmlformats.org/officeDocument/2006/relationships/image" Target="../media/image510.png"/><Relationship Id="rId15" Type="http://schemas.openxmlformats.org/officeDocument/2006/relationships/image" Target="../media/image61.png"/><Relationship Id="rId10" Type="http://schemas.openxmlformats.org/officeDocument/2006/relationships/image" Target="../media/image560.png"/><Relationship Id="rId4" Type="http://schemas.openxmlformats.org/officeDocument/2006/relationships/image" Target="../media/image500.png"/><Relationship Id="rId9" Type="http://schemas.openxmlformats.org/officeDocument/2006/relationships/image" Target="../media/image550.png"/><Relationship Id="rId14" Type="http://schemas.openxmlformats.org/officeDocument/2006/relationships/image" Target="../media/image60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0.png"/><Relationship Id="rId3" Type="http://schemas.openxmlformats.org/officeDocument/2006/relationships/image" Target="../media/image64.png"/><Relationship Id="rId7" Type="http://schemas.openxmlformats.org/officeDocument/2006/relationships/image" Target="../media/image66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69.png"/><Relationship Id="rId4" Type="http://schemas.openxmlformats.org/officeDocument/2006/relationships/image" Target="../media/image65.png"/><Relationship Id="rId9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70.png"/><Relationship Id="rId15" Type="http://schemas.openxmlformats.org/officeDocument/2006/relationships/image" Target="../media/image74.png"/><Relationship Id="rId10" Type="http://schemas.openxmlformats.org/officeDocument/2006/relationships/image" Target="../media/image690.png"/><Relationship Id="rId14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2483" y="628895"/>
            <a:ext cx="6107033" cy="791587"/>
          </a:xfrm>
        </p:spPr>
        <p:txBody>
          <a:bodyPr>
            <a:normAutofit/>
          </a:bodyPr>
          <a:lstStyle/>
          <a:p>
            <a:r>
              <a:rPr lang="en-US" sz="4400" b="1">
                <a:latin typeface="+mn-lt"/>
              </a:rPr>
              <a:t>Exploring Graphs</a:t>
            </a:r>
            <a:endParaRPr lang="en-US" sz="4400" b="1" dirty="0"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3323588" y="2636912"/>
            <a:ext cx="5544824" cy="3216700"/>
            <a:chOff x="1739516" y="2636912"/>
            <a:chExt cx="5544824" cy="321670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24991" y="2636912"/>
              <a:ext cx="2259349" cy="321670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39516" y="2636912"/>
              <a:ext cx="2869418" cy="3216700"/>
            </a:xfrm>
            <a:prstGeom prst="rect">
              <a:avLst/>
            </a:prstGeom>
          </p:spPr>
        </p:pic>
      </p:grpSp>
      <p:sp>
        <p:nvSpPr>
          <p:cNvPr id="11" name="Subtitle 2"/>
          <p:cNvSpPr txBox="1">
            <a:spLocks/>
          </p:cNvSpPr>
          <p:nvPr/>
        </p:nvSpPr>
        <p:spPr>
          <a:xfrm>
            <a:off x="3166008" y="1771071"/>
            <a:ext cx="5859982" cy="865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Prepared by Shmuel Wimer</a:t>
            </a:r>
          </a:p>
          <a:p>
            <a:r>
              <a:rPr lang="en-US" dirty="0"/>
              <a:t>Instructed </a:t>
            </a:r>
            <a:r>
              <a:rPr lang="en-US"/>
              <a:t>by Deganit Armon </a:t>
            </a:r>
            <a:r>
              <a:rPr lang="en-US" dirty="0"/>
              <a:t>and Shmuel Wimer </a:t>
            </a:r>
          </a:p>
        </p:txBody>
      </p:sp>
    </p:spTree>
    <p:extLst>
      <p:ext uri="{BB962C8B-B14F-4D97-AF65-F5344CB8AC3E}">
        <p14:creationId xmlns:p14="http://schemas.microsoft.com/office/powerpoint/2010/main" val="4163084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170" y="2600908"/>
            <a:ext cx="3962400" cy="304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1056854"/>
                <a:ext cx="10261140" cy="4988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i="1" dirty="0"/>
                  <a:t>Graph</a:t>
                </a:r>
                <a:r>
                  <a:rPr lang="en-US" sz="2800" i="1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800" dirty="0"/>
                  <a:t>: structure consists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b="1" i="1" dirty="0"/>
                  <a:t>vertices</a:t>
                </a:r>
                <a:r>
                  <a:rPr lang="en-US" sz="2800" i="1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and </a:t>
                </a:r>
                <a:r>
                  <a:rPr lang="en-US" sz="2800" b="1" i="1" dirty="0"/>
                  <a:t>edges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Edge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has two </a:t>
                </a:r>
                <a:r>
                  <a:rPr lang="en-US" sz="2800" b="1" i="1" dirty="0"/>
                  <a:t>vertex endpoints</a:t>
                </a:r>
                <a:r>
                  <a:rPr lang="en-US" sz="2800" dirty="0"/>
                  <a:t>.</a:t>
                </a:r>
              </a:p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is </a:t>
                </a:r>
                <a:r>
                  <a:rPr lang="en-US" sz="2800" b="1" i="1" dirty="0"/>
                  <a:t>loop.</a:t>
                </a:r>
              </a:p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800" b="1" i="1" dirty="0"/>
                  <a:t>parallel</a:t>
                </a:r>
                <a:r>
                  <a:rPr lang="en-US" sz="2800" dirty="0"/>
                  <a:t> edges.</a:t>
                </a:r>
              </a:p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800" dirty="0"/>
                  <a:t> is </a:t>
                </a:r>
                <a:r>
                  <a:rPr lang="en-US" sz="2800" b="1" i="1" dirty="0"/>
                  <a:t>simple</a:t>
                </a:r>
                <a:r>
                  <a:rPr lang="en-US" sz="2800" dirty="0"/>
                  <a:t> if it has no loops and parallel edges.</a:t>
                </a:r>
              </a:p>
              <a:p>
                <a:pPr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i="1" dirty="0"/>
                  <a:t>Nodes</a:t>
                </a:r>
                <a:r>
                  <a:rPr lang="en-US" sz="2800" dirty="0"/>
                  <a:t> and </a:t>
                </a:r>
                <a:r>
                  <a:rPr lang="en-US" sz="2800" b="1" i="1" dirty="0"/>
                  <a:t>vertices</a:t>
                </a:r>
                <a:r>
                  <a:rPr lang="en-US" sz="2800" dirty="0"/>
                  <a:t> are used interchangeably.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056854"/>
                <a:ext cx="10261140" cy="4988673"/>
              </a:xfrm>
              <a:prstGeom prst="rect">
                <a:avLst/>
              </a:prstGeom>
              <a:blipFill>
                <a:blip r:embed="rId4"/>
                <a:stretch>
                  <a:fillRect l="-1188" t="-122" b="-2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3457074" y="277608"/>
            <a:ext cx="5277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Definitions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0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23" y="836712"/>
            <a:ext cx="3135390" cy="2282379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5591945" y="855750"/>
            <a:ext cx="5629282" cy="3131313"/>
            <a:chOff x="5591945" y="855750"/>
            <a:chExt cx="5629282" cy="313131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74318" y="855750"/>
              <a:ext cx="4814170" cy="220103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5591945" y="3032956"/>
                  <a:ext cx="5629282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b="1" dirty="0"/>
                    <a:t>Adjacency list</a:t>
                  </a:r>
                  <a:endParaRPr lang="en-US" sz="2800" b="1" i="1" dirty="0">
                    <a:latin typeface="Cambria Math" panose="02040503050406030204" pitchFamily="18" charset="0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a14:m>
                  <a:r>
                    <a:rPr lang="en-US" sz="2800" dirty="0"/>
                    <a:t> (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US" sz="2800" dirty="0"/>
                    <a:t>) memory.</a:t>
                  </a: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1945" y="3032956"/>
                  <a:ext cx="5629282" cy="954107"/>
                </a:xfrm>
                <a:prstGeom prst="rect">
                  <a:avLst/>
                </a:prstGeom>
                <a:blipFill>
                  <a:blip r:embed="rId4"/>
                  <a:stretch>
                    <a:fillRect l="-2165" t="-6410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/>
          <p:cNvGrpSpPr/>
          <p:nvPr/>
        </p:nvGrpSpPr>
        <p:grpSpPr>
          <a:xfrm>
            <a:off x="969223" y="3277817"/>
            <a:ext cx="6941867" cy="2926756"/>
            <a:chOff x="969223" y="3277817"/>
            <a:chExt cx="6941867" cy="2926756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9223" y="3277817"/>
              <a:ext cx="2903620" cy="292675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935760" y="4905164"/>
                  <a:ext cx="3975330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b="1" dirty="0"/>
                    <a:t>Adjacency matrix</a:t>
                  </a:r>
                </a:p>
                <a:p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sz="2800" dirty="0"/>
                    <a:t> (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sz="2800" dirty="0"/>
                    <a:t>) memory.</a:t>
                  </a: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5760" y="4905164"/>
                  <a:ext cx="3975330" cy="954107"/>
                </a:xfrm>
                <a:prstGeom prst="rect">
                  <a:avLst/>
                </a:prstGeom>
                <a:blipFill>
                  <a:blip r:embed="rId6"/>
                  <a:stretch>
                    <a:fillRect l="-3221" t="-6410" r="-1840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5533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872716"/>
                <a:ext cx="10261140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Vertex </a:t>
                </a:r>
                <a:r>
                  <a:rPr lang="en-US" sz="2800" b="1" i="1" dirty="0"/>
                  <a:t>degree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i="1" dirty="0"/>
                  <a:t> </a:t>
                </a:r>
                <a:r>
                  <a:rPr lang="en-US" sz="2800" dirty="0"/>
                  <a:t>is the number of edges incident to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Lemma </a:t>
                </a:r>
                <a:r>
                  <a:rPr lang="en-US" sz="2800" dirty="0"/>
                  <a:t>1: The number of odd-degree vertices is even.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800" dirty="0"/>
                  <a:t> contributes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, hence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begChr m:val="|"/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800" dirty="0"/>
                  <a:t>. The total degree sum of even-degree vertices is even anyway. Hence so must be the total sum of odd-degree vertices.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872716"/>
                <a:ext cx="10261140" cy="3139321"/>
              </a:xfrm>
              <a:prstGeom prst="rect">
                <a:avLst/>
              </a:prstGeom>
              <a:blipFill>
                <a:blip r:embed="rId3"/>
                <a:stretch>
                  <a:fillRect l="-1188" t="-194" r="-1188" b="-3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965430" y="4190894"/>
            <a:ext cx="10261140" cy="1727344"/>
            <a:chOff x="965430" y="4190894"/>
            <a:chExt cx="10261140" cy="1727344"/>
          </a:xfrm>
        </p:grpSpPr>
        <p:grpSp>
          <p:nvGrpSpPr>
            <p:cNvPr id="82" name="Group 81"/>
            <p:cNvGrpSpPr/>
            <p:nvPr/>
          </p:nvGrpSpPr>
          <p:grpSpPr>
            <a:xfrm>
              <a:off x="2730607" y="5265204"/>
              <a:ext cx="6730786" cy="653034"/>
              <a:chOff x="2228333" y="5431924"/>
              <a:chExt cx="6730786" cy="653034"/>
            </a:xfrm>
          </p:grpSpPr>
          <p:grpSp>
            <p:nvGrpSpPr>
              <p:cNvPr id="65" name="Group 64"/>
              <p:cNvGrpSpPr/>
              <p:nvPr/>
            </p:nvGrpSpPr>
            <p:grpSpPr>
              <a:xfrm>
                <a:off x="7194744" y="5431924"/>
                <a:ext cx="532214" cy="485981"/>
                <a:chOff x="6751922" y="5409220"/>
                <a:chExt cx="532214" cy="48598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/>
                    <p:cNvSpPr txBox="1"/>
                    <p:nvPr/>
                  </p:nvSpPr>
                  <p:spPr>
                    <a:xfrm>
                      <a:off x="6751922" y="5436000"/>
                      <a:ext cx="481584" cy="42506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3" name="TextBox 2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51922" y="5436000"/>
                      <a:ext cx="481584" cy="425061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r="-151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" name="Oval 21"/>
                <p:cNvSpPr/>
                <p:nvPr/>
              </p:nvSpPr>
              <p:spPr>
                <a:xfrm>
                  <a:off x="6797281" y="5409220"/>
                  <a:ext cx="486855" cy="485981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" name="Group 19"/>
              <p:cNvGrpSpPr/>
              <p:nvPr/>
            </p:nvGrpSpPr>
            <p:grpSpPr>
              <a:xfrm>
                <a:off x="2228333" y="5598976"/>
                <a:ext cx="486855" cy="485981"/>
                <a:chOff x="2276443" y="5590206"/>
                <a:chExt cx="486855" cy="48598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TextBox 6"/>
                    <p:cNvSpPr txBox="1"/>
                    <p:nvPr/>
                  </p:nvSpPr>
                  <p:spPr>
                    <a:xfrm>
                      <a:off x="2297578" y="5648531"/>
                      <a:ext cx="43204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7" name="TextBox 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97578" y="5648531"/>
                      <a:ext cx="432048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7" name="Oval 26"/>
                <p:cNvSpPr/>
                <p:nvPr/>
              </p:nvSpPr>
              <p:spPr>
                <a:xfrm>
                  <a:off x="2276443" y="5590206"/>
                  <a:ext cx="486855" cy="485981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" name="Group 30"/>
              <p:cNvGrpSpPr/>
              <p:nvPr/>
            </p:nvGrpSpPr>
            <p:grpSpPr>
              <a:xfrm>
                <a:off x="3404300" y="5539016"/>
                <a:ext cx="486855" cy="485981"/>
                <a:chOff x="3229760" y="5500467"/>
                <a:chExt cx="486855" cy="48598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/>
                    <p:cNvSpPr txBox="1"/>
                    <p:nvPr/>
                  </p:nvSpPr>
                  <p:spPr>
                    <a:xfrm>
                      <a:off x="3256413" y="5534161"/>
                      <a:ext cx="43204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3" name="TextBox 1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56413" y="5534161"/>
                      <a:ext cx="432048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8" name="Oval 27"/>
                <p:cNvSpPr/>
                <p:nvPr/>
              </p:nvSpPr>
              <p:spPr>
                <a:xfrm>
                  <a:off x="3229760" y="5500467"/>
                  <a:ext cx="486855" cy="485981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68" name="Straight Connector 67"/>
              <p:cNvCxnSpPr>
                <a:stCxn id="22" idx="6"/>
                <a:endCxn id="30" idx="2"/>
              </p:cNvCxnSpPr>
              <p:nvPr/>
            </p:nvCxnSpPr>
            <p:spPr>
              <a:xfrm>
                <a:off x="7726958" y="5674915"/>
                <a:ext cx="745306" cy="1080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6" name="Group 65"/>
              <p:cNvGrpSpPr/>
              <p:nvPr/>
            </p:nvGrpSpPr>
            <p:grpSpPr>
              <a:xfrm>
                <a:off x="8472264" y="5442725"/>
                <a:ext cx="486855" cy="485981"/>
                <a:chOff x="7907163" y="5391291"/>
                <a:chExt cx="486855" cy="48598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Box 25"/>
                    <p:cNvSpPr txBox="1"/>
                    <p:nvPr/>
                  </p:nvSpPr>
                  <p:spPr>
                    <a:xfrm>
                      <a:off x="7934567" y="5438817"/>
                      <a:ext cx="432048" cy="36854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6" name="TextBox 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34567" y="5438817"/>
                      <a:ext cx="432048" cy="36854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0" name="Oval 29"/>
                <p:cNvSpPr/>
                <p:nvPr/>
              </p:nvSpPr>
              <p:spPr>
                <a:xfrm>
                  <a:off x="7907163" y="5391291"/>
                  <a:ext cx="486855" cy="485981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40" name="Straight Connector 39"/>
              <p:cNvCxnSpPr>
                <a:endCxn id="22" idx="2"/>
              </p:cNvCxnSpPr>
              <p:nvPr/>
            </p:nvCxnSpPr>
            <p:spPr>
              <a:xfrm flipV="1">
                <a:off x="6872647" y="5674915"/>
                <a:ext cx="367456" cy="5834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>
                <a:stCxn id="29" idx="6"/>
              </p:cNvCxnSpPr>
              <p:nvPr/>
            </p:nvCxnSpPr>
            <p:spPr>
              <a:xfrm flipV="1">
                <a:off x="5086664" y="5807828"/>
                <a:ext cx="258270" cy="341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Group 63"/>
              <p:cNvGrpSpPr/>
              <p:nvPr/>
            </p:nvGrpSpPr>
            <p:grpSpPr>
              <a:xfrm>
                <a:off x="4599809" y="5598977"/>
                <a:ext cx="486855" cy="485981"/>
                <a:chOff x="4270755" y="5529297"/>
                <a:chExt cx="486855" cy="48598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/>
                    <p:cNvSpPr txBox="1"/>
                    <p:nvPr/>
                  </p:nvSpPr>
                  <p:spPr>
                    <a:xfrm>
                      <a:off x="4295800" y="5558792"/>
                      <a:ext cx="43204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4" name="TextBox 1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5800" y="5558792"/>
                      <a:ext cx="432048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9" name="Oval 28"/>
                <p:cNvSpPr/>
                <p:nvPr/>
              </p:nvSpPr>
              <p:spPr>
                <a:xfrm>
                  <a:off x="4270755" y="5529297"/>
                  <a:ext cx="486855" cy="485981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6" name="Freeform 75"/>
              <p:cNvSpPr/>
              <p:nvPr/>
            </p:nvSpPr>
            <p:spPr>
              <a:xfrm>
                <a:off x="5322684" y="5537804"/>
                <a:ext cx="1549963" cy="439144"/>
              </a:xfrm>
              <a:custGeom>
                <a:avLst/>
                <a:gdLst>
                  <a:gd name="connsiteX0" fmla="*/ 0 w 1389109"/>
                  <a:gd name="connsiteY0" fmla="*/ 269284 h 439144"/>
                  <a:gd name="connsiteX1" fmla="*/ 134241 w 1389109"/>
                  <a:gd name="connsiteY1" fmla="*/ 265393 h 439144"/>
                  <a:gd name="connsiteX2" fmla="*/ 433853 w 1389109"/>
                  <a:gd name="connsiteY2" fmla="*/ 438545 h 439144"/>
                  <a:gd name="connsiteX3" fmla="*/ 682881 w 1389109"/>
                  <a:gd name="connsiteY3" fmla="*/ 310140 h 439144"/>
                  <a:gd name="connsiteX4" fmla="*/ 982493 w 1389109"/>
                  <a:gd name="connsiteY4" fmla="*/ 2746 h 439144"/>
                  <a:gd name="connsiteX5" fmla="*/ 1247085 w 1389109"/>
                  <a:gd name="connsiteY5" fmla="*/ 160334 h 439144"/>
                  <a:gd name="connsiteX6" fmla="*/ 1389109 w 1389109"/>
                  <a:gd name="connsiteY6" fmla="*/ 181735 h 439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89109" h="439144">
                    <a:moveTo>
                      <a:pt x="0" y="269284"/>
                    </a:moveTo>
                    <a:cubicBezTo>
                      <a:pt x="30966" y="253233"/>
                      <a:pt x="61932" y="237183"/>
                      <a:pt x="134241" y="265393"/>
                    </a:cubicBezTo>
                    <a:cubicBezTo>
                      <a:pt x="206550" y="293603"/>
                      <a:pt x="342413" y="431087"/>
                      <a:pt x="433853" y="438545"/>
                    </a:cubicBezTo>
                    <a:cubicBezTo>
                      <a:pt x="525293" y="446003"/>
                      <a:pt x="591441" y="382773"/>
                      <a:pt x="682881" y="310140"/>
                    </a:cubicBezTo>
                    <a:cubicBezTo>
                      <a:pt x="774321" y="237507"/>
                      <a:pt x="888459" y="27714"/>
                      <a:pt x="982493" y="2746"/>
                    </a:cubicBezTo>
                    <a:cubicBezTo>
                      <a:pt x="1076527" y="-22222"/>
                      <a:pt x="1179316" y="130503"/>
                      <a:pt x="1247085" y="160334"/>
                    </a:cubicBezTo>
                    <a:cubicBezTo>
                      <a:pt x="1314854" y="190165"/>
                      <a:pt x="1351981" y="185950"/>
                      <a:pt x="1389109" y="181735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Connector 47"/>
              <p:cNvCxnSpPr>
                <a:stCxn id="28" idx="6"/>
                <a:endCxn id="29" idx="2"/>
              </p:cNvCxnSpPr>
              <p:nvPr/>
            </p:nvCxnSpPr>
            <p:spPr>
              <a:xfrm>
                <a:off x="3891155" y="5782007"/>
                <a:ext cx="708654" cy="5996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>
                <a:stCxn id="27" idx="6"/>
                <a:endCxn id="28" idx="2"/>
              </p:cNvCxnSpPr>
              <p:nvPr/>
            </p:nvCxnSpPr>
            <p:spPr>
              <a:xfrm flipV="1">
                <a:off x="2715188" y="5782007"/>
                <a:ext cx="689112" cy="5996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965430" y="4190894"/>
                  <a:ext cx="10261140" cy="112646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:r>
                    <a:rPr lang="en-US" sz="2800" dirty="0"/>
                    <a:t>Edge sequence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2800" dirty="0"/>
                    <a:t> is </a:t>
                  </a:r>
                  <a14:m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𝑙</m:t>
                      </m:r>
                    </m:oMath>
                  </a14:m>
                  <a:r>
                    <a:rPr lang="en-US" sz="2800" dirty="0"/>
                    <a:t>-length </a:t>
                  </a:r>
                  <a:r>
                    <a:rPr lang="en-US" sz="2800" b="1" i="1" dirty="0"/>
                    <a:t>path</a:t>
                  </a:r>
                  <a:r>
                    <a:rPr lang="en-US" sz="2800" dirty="0"/>
                    <a:t> </a:t>
                  </a:r>
                  <a14:m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2800" dirty="0"/>
                    <a:t>. </a:t>
                  </a: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430" y="4190894"/>
                  <a:ext cx="10261140" cy="1126462"/>
                </a:xfrm>
                <a:prstGeom prst="rect">
                  <a:avLst/>
                </a:prstGeom>
                <a:blipFill>
                  <a:blip r:embed="rId9"/>
                  <a:stretch>
                    <a:fillRect l="-1188" t="-541" r="-1188" b="-113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7880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764118"/>
                <a:ext cx="10261140" cy="3600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Path can also be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800" dirty="0"/>
                  <a:t>-length or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-length.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800" dirty="0"/>
                  <a:t> is </a:t>
                </a:r>
                <a:r>
                  <a:rPr lang="en-US" sz="2800" b="1" i="1" dirty="0"/>
                  <a:t>simple</a:t>
                </a:r>
                <a:r>
                  <a:rPr lang="en-US" sz="2800" dirty="0"/>
                  <a:t> if a vertex appears only once (hence edge too)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i="1" dirty="0"/>
                  <a:t>Circuit</a:t>
                </a:r>
                <a:r>
                  <a:rPr lang="en-US" sz="2800" dirty="0"/>
                  <a:t> (</a:t>
                </a:r>
                <a:r>
                  <a:rPr lang="en-US" sz="2800" b="1" i="1" dirty="0"/>
                  <a:t>cycle</a:t>
                </a:r>
                <a:r>
                  <a:rPr lang="en-US" sz="2800" dirty="0"/>
                  <a:t>)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/>
                  <a:t> is a finite paths of length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2800" dirty="0"/>
                  <a:t>. </a:t>
                </a:r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/>
                  <a:t> is simple if the underlying path is so.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800" dirty="0"/>
                  <a:t> is </a:t>
                </a:r>
                <a:r>
                  <a:rPr lang="en-US" sz="2800" b="1" i="1" dirty="0"/>
                  <a:t>connected</a:t>
                </a:r>
                <a:r>
                  <a:rPr lang="en-US" sz="2800" dirty="0"/>
                  <a:t> if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connecting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764118"/>
                <a:ext cx="10261140" cy="3600986"/>
              </a:xfrm>
              <a:prstGeom prst="rect">
                <a:avLst/>
              </a:prstGeom>
              <a:blipFill>
                <a:blip r:embed="rId3"/>
                <a:stretch>
                  <a:fillRect l="-1188" t="-169" b="-287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5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1398764"/>
                <a:ext cx="10261140" cy="48931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The edges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800" dirty="0"/>
                  <a:t> are associated with </a:t>
                </a:r>
                <a:r>
                  <a:rPr lang="en-US" sz="2800" b="1" i="1" dirty="0"/>
                  <a:t>weight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sub>
                      <m:sup/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w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 is called </a:t>
                </a:r>
                <a:r>
                  <a:rPr lang="en-US" sz="2800" b="1" i="1" dirty="0"/>
                  <a:t>path length</a:t>
                </a:r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The </a:t>
                </a:r>
                <a:r>
                  <a:rPr lang="en-US" sz="2800" b="1" i="1" dirty="0"/>
                  <a:t>distance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between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is the shortest length among all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if such exist, and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800" dirty="0"/>
                  <a:t> otherwise.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Given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called </a:t>
                </a:r>
                <a:r>
                  <a:rPr lang="en-US" sz="2800" b="1" i="1" dirty="0"/>
                  <a:t>source</a:t>
                </a:r>
                <a:r>
                  <a:rPr lang="en-US" sz="2800" dirty="0"/>
                  <a:t>, let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(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800" dirty="0"/>
                  <a:t> is possible).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Assume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w</m:t>
                    </m:r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i="1" dirty="0"/>
                  <a:t>Breadth-First Search</a:t>
                </a:r>
                <a:r>
                  <a:rPr lang="en-US" sz="2800" dirty="0"/>
                  <a:t> (</a:t>
                </a:r>
                <a:r>
                  <a:rPr lang="en-US" sz="2800" b="1" dirty="0"/>
                  <a:t>BFS</a:t>
                </a:r>
                <a:r>
                  <a:rPr lang="en-US" sz="2800" dirty="0"/>
                  <a:t>, Moore 1957) finds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398764"/>
                <a:ext cx="10261140" cy="4893134"/>
              </a:xfrm>
              <a:prstGeom prst="rect">
                <a:avLst/>
              </a:prstGeom>
              <a:blipFill>
                <a:blip r:embed="rId3"/>
                <a:stretch>
                  <a:fillRect l="-1188" t="-125" r="-1188" b="-261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3120353" y="454734"/>
            <a:ext cx="5951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Shortest-Path Algorithms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9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7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19049" y="1269253"/>
            <a:ext cx="216024" cy="216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456155" y="2737013"/>
            <a:ext cx="216024" cy="216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48645" y="1554470"/>
            <a:ext cx="216024" cy="216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910289" y="2234139"/>
            <a:ext cx="216024" cy="216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12322" y="3901785"/>
            <a:ext cx="216024" cy="216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834424" y="3436421"/>
            <a:ext cx="216024" cy="216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184862" y="4318103"/>
            <a:ext cx="216024" cy="216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99211" y="3577110"/>
            <a:ext cx="216024" cy="216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417591" y="3674815"/>
            <a:ext cx="216024" cy="216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630527" y="5333164"/>
            <a:ext cx="216024" cy="216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>
            <a:stCxn id="8" idx="4"/>
            <a:endCxn id="11" idx="0"/>
          </p:cNvCxnSpPr>
          <p:nvPr/>
        </p:nvCxnSpPr>
        <p:spPr>
          <a:xfrm>
            <a:off x="3564167" y="2953037"/>
            <a:ext cx="256167" cy="94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7" idx="3"/>
            <a:endCxn id="120" idx="7"/>
          </p:cNvCxnSpPr>
          <p:nvPr/>
        </p:nvCxnSpPr>
        <p:spPr>
          <a:xfrm flipH="1">
            <a:off x="1601979" y="1453641"/>
            <a:ext cx="1548706" cy="2252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2" idx="1"/>
            <a:endCxn id="10" idx="5"/>
          </p:cNvCxnSpPr>
          <p:nvPr/>
        </p:nvCxnSpPr>
        <p:spPr>
          <a:xfrm flipH="1" flipV="1">
            <a:off x="2094677" y="2418527"/>
            <a:ext cx="771383" cy="10495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0" idx="6"/>
            <a:endCxn id="9" idx="2"/>
          </p:cNvCxnSpPr>
          <p:nvPr/>
        </p:nvCxnSpPr>
        <p:spPr>
          <a:xfrm flipV="1">
            <a:off x="2126313" y="1662482"/>
            <a:ext cx="2122332" cy="6796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4" idx="0"/>
            <a:endCxn id="9" idx="4"/>
          </p:cNvCxnSpPr>
          <p:nvPr/>
        </p:nvCxnSpPr>
        <p:spPr>
          <a:xfrm flipH="1" flipV="1">
            <a:off x="4356657" y="1770494"/>
            <a:ext cx="150566" cy="18066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14" idx="2"/>
            <a:endCxn id="12" idx="6"/>
          </p:cNvCxnSpPr>
          <p:nvPr/>
        </p:nvCxnSpPr>
        <p:spPr>
          <a:xfrm flipH="1" flipV="1">
            <a:off x="3050448" y="3544433"/>
            <a:ext cx="1348763" cy="1406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2" idx="0"/>
            <a:endCxn id="7" idx="4"/>
          </p:cNvCxnSpPr>
          <p:nvPr/>
        </p:nvCxnSpPr>
        <p:spPr>
          <a:xfrm flipV="1">
            <a:off x="2942436" y="1485277"/>
            <a:ext cx="284625" cy="19511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8" idx="7"/>
            <a:endCxn id="9" idx="3"/>
          </p:cNvCxnSpPr>
          <p:nvPr/>
        </p:nvCxnSpPr>
        <p:spPr>
          <a:xfrm flipV="1">
            <a:off x="3640543" y="1738858"/>
            <a:ext cx="639738" cy="10297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5920265" y="4862375"/>
            <a:ext cx="216024" cy="216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/>
          <p:cNvCxnSpPr>
            <a:stCxn id="43" idx="1"/>
            <a:endCxn id="9" idx="5"/>
          </p:cNvCxnSpPr>
          <p:nvPr/>
        </p:nvCxnSpPr>
        <p:spPr>
          <a:xfrm flipH="1" flipV="1">
            <a:off x="4433033" y="1738858"/>
            <a:ext cx="1735546" cy="10968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5243806" y="3877707"/>
            <a:ext cx="216024" cy="216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4891383" y="5375110"/>
            <a:ext cx="216024" cy="216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/>
          <p:cNvCxnSpPr>
            <a:stCxn id="43" idx="2"/>
            <a:endCxn id="14" idx="6"/>
          </p:cNvCxnSpPr>
          <p:nvPr/>
        </p:nvCxnSpPr>
        <p:spPr>
          <a:xfrm flipH="1">
            <a:off x="4615235" y="2912083"/>
            <a:ext cx="1521708" cy="7730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0" idx="4"/>
            <a:endCxn id="15" idx="0"/>
          </p:cNvCxnSpPr>
          <p:nvPr/>
        </p:nvCxnSpPr>
        <p:spPr>
          <a:xfrm flipH="1">
            <a:off x="1525603" y="2450163"/>
            <a:ext cx="492698" cy="12246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1" idx="2"/>
            <a:endCxn id="15" idx="6"/>
          </p:cNvCxnSpPr>
          <p:nvPr/>
        </p:nvCxnSpPr>
        <p:spPr>
          <a:xfrm flipH="1" flipV="1">
            <a:off x="1633615" y="3782827"/>
            <a:ext cx="2078707" cy="2269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12" idx="4"/>
            <a:endCxn id="13" idx="1"/>
          </p:cNvCxnSpPr>
          <p:nvPr/>
        </p:nvCxnSpPr>
        <p:spPr>
          <a:xfrm>
            <a:off x="2942436" y="3652445"/>
            <a:ext cx="274062" cy="6972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49" idx="3"/>
            <a:endCxn id="13" idx="6"/>
          </p:cNvCxnSpPr>
          <p:nvPr/>
        </p:nvCxnSpPr>
        <p:spPr>
          <a:xfrm flipH="1">
            <a:off x="3400886" y="4062095"/>
            <a:ext cx="1874556" cy="3640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1" idx="5"/>
            <a:endCxn id="50" idx="1"/>
          </p:cNvCxnSpPr>
          <p:nvPr/>
        </p:nvCxnSpPr>
        <p:spPr>
          <a:xfrm>
            <a:off x="3896710" y="4086173"/>
            <a:ext cx="1026309" cy="13205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14" idx="5"/>
            <a:endCxn id="49" idx="2"/>
          </p:cNvCxnSpPr>
          <p:nvPr/>
        </p:nvCxnSpPr>
        <p:spPr>
          <a:xfrm>
            <a:off x="4583599" y="3761498"/>
            <a:ext cx="660207" cy="2242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4" idx="4"/>
            <a:endCxn id="50" idx="0"/>
          </p:cNvCxnSpPr>
          <p:nvPr/>
        </p:nvCxnSpPr>
        <p:spPr>
          <a:xfrm>
            <a:off x="4507223" y="3793134"/>
            <a:ext cx="492172" cy="15819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3" idx="4"/>
            <a:endCxn id="44" idx="7"/>
          </p:cNvCxnSpPr>
          <p:nvPr/>
        </p:nvCxnSpPr>
        <p:spPr>
          <a:xfrm flipH="1">
            <a:off x="6104653" y="3020095"/>
            <a:ext cx="140302" cy="18739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49" idx="5"/>
            <a:endCxn id="44" idx="1"/>
          </p:cNvCxnSpPr>
          <p:nvPr/>
        </p:nvCxnSpPr>
        <p:spPr>
          <a:xfrm>
            <a:off x="5428194" y="4062095"/>
            <a:ext cx="523707" cy="8319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13" idx="5"/>
            <a:endCxn id="44" idx="2"/>
          </p:cNvCxnSpPr>
          <p:nvPr/>
        </p:nvCxnSpPr>
        <p:spPr>
          <a:xfrm>
            <a:off x="3369250" y="4502491"/>
            <a:ext cx="2551015" cy="4678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3179515" y="4320546"/>
            <a:ext cx="216024" cy="216024"/>
          </a:xfrm>
          <a:prstGeom prst="ellipse">
            <a:avLst/>
          </a:prstGeom>
          <a:solidFill>
            <a:srgbClr val="0000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Connector 91"/>
          <p:cNvCxnSpPr>
            <a:endCxn id="16" idx="1"/>
          </p:cNvCxnSpPr>
          <p:nvPr/>
        </p:nvCxnSpPr>
        <p:spPr>
          <a:xfrm>
            <a:off x="3309740" y="4548476"/>
            <a:ext cx="352423" cy="8163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1564943" y="5124604"/>
            <a:ext cx="216024" cy="216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/>
          <p:cNvCxnSpPr>
            <a:stCxn id="94" idx="6"/>
            <a:endCxn id="16" idx="2"/>
          </p:cNvCxnSpPr>
          <p:nvPr/>
        </p:nvCxnSpPr>
        <p:spPr>
          <a:xfrm>
            <a:off x="1780967" y="5232616"/>
            <a:ext cx="1849560" cy="2085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120" idx="4"/>
            <a:endCxn id="94" idx="0"/>
          </p:cNvCxnSpPr>
          <p:nvPr/>
        </p:nvCxnSpPr>
        <p:spPr>
          <a:xfrm>
            <a:off x="1525603" y="3890839"/>
            <a:ext cx="147352" cy="12337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16" idx="6"/>
            <a:endCxn id="50" idx="3"/>
          </p:cNvCxnSpPr>
          <p:nvPr/>
        </p:nvCxnSpPr>
        <p:spPr>
          <a:xfrm>
            <a:off x="3846551" y="5441176"/>
            <a:ext cx="1076468" cy="1183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2834424" y="3439158"/>
            <a:ext cx="3301865" cy="2113762"/>
            <a:chOff x="4742869" y="3581280"/>
            <a:chExt cx="3301865" cy="2113762"/>
          </a:xfrm>
        </p:grpSpPr>
        <p:grpSp>
          <p:nvGrpSpPr>
            <p:cNvPr id="6" name="Group 5"/>
            <p:cNvGrpSpPr/>
            <p:nvPr/>
          </p:nvGrpSpPr>
          <p:grpSpPr>
            <a:xfrm>
              <a:off x="4742869" y="3581280"/>
              <a:ext cx="3301865" cy="2113762"/>
              <a:chOff x="4742869" y="3581280"/>
              <a:chExt cx="3301865" cy="2113762"/>
            </a:xfrm>
          </p:grpSpPr>
          <p:sp>
            <p:nvSpPr>
              <p:cNvPr id="107" name="Oval 106"/>
              <p:cNvSpPr/>
              <p:nvPr/>
            </p:nvSpPr>
            <p:spPr>
              <a:xfrm>
                <a:off x="4742869" y="3581280"/>
                <a:ext cx="216024" cy="216024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7154956" y="4019829"/>
                <a:ext cx="216024" cy="216024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7828710" y="5004985"/>
                <a:ext cx="216024" cy="216024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5538972" y="5479018"/>
                <a:ext cx="216024" cy="216024"/>
              </a:xfrm>
              <a:prstGeom prst="ellipse">
                <a:avLst/>
              </a:prstGeom>
              <a:solidFill>
                <a:srgbClr val="FF0000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8" name="Group 177"/>
            <p:cNvGrpSpPr/>
            <p:nvPr/>
          </p:nvGrpSpPr>
          <p:grpSpPr>
            <a:xfrm>
              <a:off x="4876004" y="3791648"/>
              <a:ext cx="2952706" cy="1685583"/>
              <a:chOff x="4876004" y="3791648"/>
              <a:chExt cx="2952706" cy="1685583"/>
            </a:xfrm>
          </p:grpSpPr>
          <p:cxnSp>
            <p:nvCxnSpPr>
              <p:cNvPr id="167" name="Straight Connector 166"/>
              <p:cNvCxnSpPr/>
              <p:nvPr/>
            </p:nvCxnSpPr>
            <p:spPr>
              <a:xfrm flipH="1" flipV="1">
                <a:off x="5207812" y="4649001"/>
                <a:ext cx="374636" cy="828230"/>
              </a:xfrm>
              <a:prstGeom prst="line">
                <a:avLst/>
              </a:prstGeom>
              <a:ln w="152400">
                <a:solidFill>
                  <a:srgbClr val="FF0000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/>
              <p:cNvCxnSpPr/>
              <p:nvPr/>
            </p:nvCxnSpPr>
            <p:spPr>
              <a:xfrm flipH="1" flipV="1">
                <a:off x="4876004" y="3791648"/>
                <a:ext cx="290106" cy="728930"/>
              </a:xfrm>
              <a:prstGeom prst="line">
                <a:avLst/>
              </a:prstGeom>
              <a:ln w="152400">
                <a:solidFill>
                  <a:srgbClr val="FF0000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>
                <a:stCxn id="91" idx="6"/>
                <a:endCxn id="108" idx="3"/>
              </p:cNvCxnSpPr>
              <p:nvPr/>
            </p:nvCxnSpPr>
            <p:spPr>
              <a:xfrm flipV="1">
                <a:off x="5303984" y="4204217"/>
                <a:ext cx="1882608" cy="366463"/>
              </a:xfrm>
              <a:prstGeom prst="line">
                <a:avLst/>
              </a:prstGeom>
              <a:ln w="152400">
                <a:solidFill>
                  <a:srgbClr val="FF0000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/>
            </p:nvCxnSpPr>
            <p:spPr>
              <a:xfrm>
                <a:off x="5272348" y="4644613"/>
                <a:ext cx="2556362" cy="465453"/>
              </a:xfrm>
              <a:prstGeom prst="line">
                <a:avLst/>
              </a:prstGeom>
              <a:ln w="152400">
                <a:solidFill>
                  <a:srgbClr val="FF0000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3" name="Oval 42"/>
          <p:cNvSpPr/>
          <p:nvPr/>
        </p:nvSpPr>
        <p:spPr>
          <a:xfrm>
            <a:off x="6136943" y="2804071"/>
            <a:ext cx="216024" cy="216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1559496" y="1266866"/>
            <a:ext cx="4793471" cy="4324268"/>
            <a:chOff x="3467941" y="1408988"/>
            <a:chExt cx="4793471" cy="4324268"/>
          </a:xfrm>
        </p:grpSpPr>
        <p:grpSp>
          <p:nvGrpSpPr>
            <p:cNvPr id="193" name="Group 192"/>
            <p:cNvGrpSpPr/>
            <p:nvPr/>
          </p:nvGrpSpPr>
          <p:grpSpPr>
            <a:xfrm>
              <a:off x="3667411" y="1618369"/>
              <a:ext cx="4482960" cy="4073722"/>
              <a:chOff x="3667411" y="1618369"/>
              <a:chExt cx="4482960" cy="4073722"/>
            </a:xfrm>
          </p:grpSpPr>
          <p:cxnSp>
            <p:nvCxnSpPr>
              <p:cNvPr id="179" name="Straight Connector 178"/>
              <p:cNvCxnSpPr/>
              <p:nvPr/>
            </p:nvCxnSpPr>
            <p:spPr>
              <a:xfrm>
                <a:off x="3667411" y="5379586"/>
                <a:ext cx="1856538" cy="206327"/>
              </a:xfrm>
              <a:prstGeom prst="line">
                <a:avLst/>
              </a:prstGeom>
              <a:ln w="152400">
                <a:solidFill>
                  <a:srgbClr val="FF0000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>
              <a:xfrm>
                <a:off x="5730205" y="5580484"/>
                <a:ext cx="1102685" cy="111607"/>
              </a:xfrm>
              <a:prstGeom prst="line">
                <a:avLst/>
              </a:prstGeom>
              <a:ln w="152400">
                <a:solidFill>
                  <a:srgbClr val="FF0000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>
                <a:endCxn id="116" idx="2"/>
              </p:cNvCxnSpPr>
              <p:nvPr/>
            </p:nvCxnSpPr>
            <p:spPr>
              <a:xfrm>
                <a:off x="4986361" y="3685338"/>
                <a:ext cx="1318709" cy="136876"/>
              </a:xfrm>
              <a:prstGeom prst="line">
                <a:avLst/>
              </a:prstGeom>
              <a:ln w="152400">
                <a:solidFill>
                  <a:srgbClr val="FF0000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/>
              <p:cNvCxnSpPr/>
              <p:nvPr/>
            </p:nvCxnSpPr>
            <p:spPr>
              <a:xfrm flipV="1">
                <a:off x="8013700" y="3176775"/>
                <a:ext cx="136671" cy="1842280"/>
              </a:xfrm>
              <a:prstGeom prst="line">
                <a:avLst/>
              </a:prstGeom>
              <a:ln w="152400">
                <a:solidFill>
                  <a:srgbClr val="FF0000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>
              <a:xfrm flipV="1">
                <a:off x="4871940" y="1618369"/>
                <a:ext cx="273584" cy="1960476"/>
              </a:xfrm>
              <a:prstGeom prst="line">
                <a:avLst/>
              </a:prstGeom>
              <a:ln w="152400">
                <a:solidFill>
                  <a:srgbClr val="FF0000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>
              <a:xfrm flipH="1" flipV="1">
                <a:off x="4003121" y="2569025"/>
                <a:ext cx="771383" cy="1052267"/>
              </a:xfrm>
              <a:prstGeom prst="line">
                <a:avLst/>
              </a:prstGeom>
              <a:ln w="152400">
                <a:solidFill>
                  <a:srgbClr val="FF0000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/>
            <p:cNvGrpSpPr/>
            <p:nvPr/>
          </p:nvGrpSpPr>
          <p:grpSpPr>
            <a:xfrm>
              <a:off x="3467941" y="1408988"/>
              <a:ext cx="4793471" cy="4324268"/>
              <a:chOff x="3467941" y="1408988"/>
              <a:chExt cx="4793471" cy="4324268"/>
            </a:xfrm>
          </p:grpSpPr>
          <p:sp>
            <p:nvSpPr>
              <p:cNvPr id="117" name="Oval 116"/>
              <p:cNvSpPr/>
              <p:nvPr/>
            </p:nvSpPr>
            <p:spPr>
              <a:xfrm>
                <a:off x="8045388" y="2948712"/>
                <a:ext cx="216024" cy="216024"/>
              </a:xfrm>
              <a:prstGeom prst="ellipse">
                <a:avLst/>
              </a:prstGeom>
              <a:solidFill>
                <a:srgbClr val="009900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3811256" y="2376261"/>
                <a:ext cx="216024" cy="216024"/>
              </a:xfrm>
              <a:prstGeom prst="ellipse">
                <a:avLst/>
              </a:prstGeom>
              <a:solidFill>
                <a:srgbClr val="009900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5029094" y="1408988"/>
                <a:ext cx="216024" cy="216024"/>
              </a:xfrm>
              <a:prstGeom prst="ellipse">
                <a:avLst/>
              </a:prstGeom>
              <a:solidFill>
                <a:srgbClr val="009900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6305070" y="3714202"/>
                <a:ext cx="216024" cy="216024"/>
              </a:xfrm>
              <a:prstGeom prst="ellipse">
                <a:avLst/>
              </a:prstGeom>
              <a:solidFill>
                <a:srgbClr val="009900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6799828" y="5517232"/>
                <a:ext cx="216024" cy="216024"/>
              </a:xfrm>
              <a:prstGeom prst="ellipse">
                <a:avLst/>
              </a:prstGeom>
              <a:solidFill>
                <a:srgbClr val="009900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3467941" y="5262994"/>
                <a:ext cx="216024" cy="216024"/>
              </a:xfrm>
              <a:prstGeom prst="ellipse">
                <a:avLst/>
              </a:prstGeom>
              <a:solidFill>
                <a:srgbClr val="009900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3" name="Group 32"/>
          <p:cNvGrpSpPr/>
          <p:nvPr/>
        </p:nvGrpSpPr>
        <p:grpSpPr>
          <a:xfrm>
            <a:off x="1417591" y="1551733"/>
            <a:ext cx="3498518" cy="3847456"/>
            <a:chOff x="3326036" y="1693855"/>
            <a:chExt cx="3498518" cy="3847456"/>
          </a:xfrm>
        </p:grpSpPr>
        <p:grpSp>
          <p:nvGrpSpPr>
            <p:cNvPr id="200" name="Group 199"/>
            <p:cNvGrpSpPr/>
            <p:nvPr/>
          </p:nvGrpSpPr>
          <p:grpSpPr>
            <a:xfrm>
              <a:off x="3434048" y="1909879"/>
              <a:ext cx="3390506" cy="3631432"/>
              <a:chOff x="3434048" y="1909879"/>
              <a:chExt cx="3390506" cy="3631432"/>
            </a:xfrm>
          </p:grpSpPr>
          <p:cxnSp>
            <p:nvCxnSpPr>
              <p:cNvPr id="194" name="Straight Connector 193"/>
              <p:cNvCxnSpPr>
                <a:endCxn id="121" idx="4"/>
              </p:cNvCxnSpPr>
              <p:nvPr/>
            </p:nvCxnSpPr>
            <p:spPr>
              <a:xfrm flipH="1" flipV="1">
                <a:off x="6265102" y="1909879"/>
                <a:ext cx="157563" cy="1808132"/>
              </a:xfrm>
              <a:prstGeom prst="line">
                <a:avLst/>
              </a:prstGeom>
              <a:ln w="152400">
                <a:solidFill>
                  <a:srgbClr val="FF0000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/>
              <p:cNvCxnSpPr>
                <a:stCxn id="120" idx="0"/>
              </p:cNvCxnSpPr>
              <p:nvPr/>
            </p:nvCxnSpPr>
            <p:spPr>
              <a:xfrm flipV="1">
                <a:off x="3434048" y="2587576"/>
                <a:ext cx="468670" cy="1229361"/>
              </a:xfrm>
              <a:prstGeom prst="line">
                <a:avLst/>
              </a:prstGeom>
              <a:ln w="152400">
                <a:solidFill>
                  <a:srgbClr val="FF0000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>
              <a:xfrm flipH="1" flipV="1">
                <a:off x="5833170" y="4228295"/>
                <a:ext cx="991384" cy="1313016"/>
              </a:xfrm>
              <a:prstGeom prst="line">
                <a:avLst/>
              </a:prstGeom>
              <a:ln w="152400">
                <a:solidFill>
                  <a:srgbClr val="FF0000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/>
            <p:cNvGrpSpPr/>
            <p:nvPr/>
          </p:nvGrpSpPr>
          <p:grpSpPr>
            <a:xfrm>
              <a:off x="3326036" y="1693855"/>
              <a:ext cx="3047078" cy="2566076"/>
              <a:chOff x="3326036" y="1693855"/>
              <a:chExt cx="3047078" cy="2566076"/>
            </a:xfrm>
          </p:grpSpPr>
          <p:sp>
            <p:nvSpPr>
              <p:cNvPr id="120" name="Oval 119"/>
              <p:cNvSpPr/>
              <p:nvPr/>
            </p:nvSpPr>
            <p:spPr>
              <a:xfrm>
                <a:off x="3326036" y="3816937"/>
                <a:ext cx="216024" cy="216024"/>
              </a:xfrm>
              <a:prstGeom prst="ellipse">
                <a:avLst/>
              </a:prstGeom>
              <a:solidFill>
                <a:srgbClr val="FF9933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6157090" y="1693855"/>
                <a:ext cx="216024" cy="216024"/>
              </a:xfrm>
              <a:prstGeom prst="ellipse">
                <a:avLst/>
              </a:prstGeom>
              <a:solidFill>
                <a:srgbClr val="FF9933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5625292" y="4043907"/>
                <a:ext cx="216024" cy="216024"/>
              </a:xfrm>
              <a:prstGeom prst="ellipse">
                <a:avLst/>
              </a:prstGeom>
              <a:solidFill>
                <a:srgbClr val="FF9933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4" name="Group 33"/>
          <p:cNvGrpSpPr/>
          <p:nvPr/>
        </p:nvGrpSpPr>
        <p:grpSpPr>
          <a:xfrm>
            <a:off x="3461288" y="2743477"/>
            <a:ext cx="359047" cy="1147419"/>
            <a:chOff x="5369733" y="2885599"/>
            <a:chExt cx="359047" cy="1147419"/>
          </a:xfrm>
        </p:grpSpPr>
        <p:sp>
          <p:nvSpPr>
            <p:cNvPr id="123" name="Oval 122"/>
            <p:cNvSpPr/>
            <p:nvPr/>
          </p:nvSpPr>
          <p:spPr>
            <a:xfrm>
              <a:off x="5369733" y="2885599"/>
              <a:ext cx="216024" cy="216024"/>
            </a:xfrm>
            <a:prstGeom prst="ellipse">
              <a:avLst/>
            </a:prstGeom>
            <a:solidFill>
              <a:srgbClr val="7030A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1" name="Straight Connector 200"/>
            <p:cNvCxnSpPr>
              <a:endCxn id="123" idx="4"/>
            </p:cNvCxnSpPr>
            <p:nvPr/>
          </p:nvCxnSpPr>
          <p:spPr>
            <a:xfrm flipH="1" flipV="1">
              <a:off x="5477745" y="3101623"/>
              <a:ext cx="251035" cy="931395"/>
            </a:xfrm>
            <a:prstGeom prst="line">
              <a:avLst/>
            </a:prstGeom>
            <a:ln w="152400">
              <a:solidFill>
                <a:srgbClr val="FF000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/>
          <p:cNvGrpSpPr/>
          <p:nvPr/>
        </p:nvGrpSpPr>
        <p:grpSpPr>
          <a:xfrm>
            <a:off x="8516833" y="3082578"/>
            <a:ext cx="1470696" cy="1417834"/>
            <a:chOff x="8516833" y="3082578"/>
            <a:chExt cx="1470696" cy="1417834"/>
          </a:xfrm>
        </p:grpSpPr>
        <p:sp>
          <p:nvSpPr>
            <p:cNvPr id="60" name="Oval 59"/>
            <p:cNvSpPr/>
            <p:nvPr/>
          </p:nvSpPr>
          <p:spPr>
            <a:xfrm>
              <a:off x="8624845" y="3178879"/>
              <a:ext cx="1288034" cy="1228510"/>
            </a:xfrm>
            <a:prstGeom prst="ellipse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/>
            <p:cNvSpPr/>
            <p:nvPr/>
          </p:nvSpPr>
          <p:spPr>
            <a:xfrm>
              <a:off x="8516833" y="3685761"/>
              <a:ext cx="216024" cy="216024"/>
            </a:xfrm>
            <a:prstGeom prst="ellipse">
              <a:avLst/>
            </a:prstGeom>
            <a:solidFill>
              <a:srgbClr val="FF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/>
            <p:cNvSpPr/>
            <p:nvPr/>
          </p:nvSpPr>
          <p:spPr>
            <a:xfrm>
              <a:off x="9771505" y="3706451"/>
              <a:ext cx="216024" cy="216024"/>
            </a:xfrm>
            <a:prstGeom prst="ellipse">
              <a:avLst/>
            </a:prstGeom>
            <a:solidFill>
              <a:srgbClr val="FF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/>
            <p:cNvSpPr/>
            <p:nvPr/>
          </p:nvSpPr>
          <p:spPr>
            <a:xfrm>
              <a:off x="9166160" y="3082578"/>
              <a:ext cx="216024" cy="216024"/>
            </a:xfrm>
            <a:prstGeom prst="ellipse">
              <a:avLst/>
            </a:prstGeom>
            <a:solidFill>
              <a:srgbClr val="FF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/>
            <p:cNvSpPr/>
            <p:nvPr/>
          </p:nvSpPr>
          <p:spPr>
            <a:xfrm>
              <a:off x="9156340" y="4284388"/>
              <a:ext cx="216024" cy="216024"/>
            </a:xfrm>
            <a:prstGeom prst="ellipse">
              <a:avLst/>
            </a:prstGeom>
            <a:solidFill>
              <a:srgbClr val="FF0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8171622" y="2580046"/>
            <a:ext cx="2205099" cy="2421977"/>
            <a:chOff x="8171622" y="2580046"/>
            <a:chExt cx="2205099" cy="2421977"/>
          </a:xfrm>
        </p:grpSpPr>
        <p:sp>
          <p:nvSpPr>
            <p:cNvPr id="126" name="Oval 125"/>
            <p:cNvSpPr/>
            <p:nvPr/>
          </p:nvSpPr>
          <p:spPr>
            <a:xfrm>
              <a:off x="8171622" y="2703451"/>
              <a:ext cx="2205099" cy="2183994"/>
            </a:xfrm>
            <a:prstGeom prst="ellipse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/>
            <p:cNvSpPr/>
            <p:nvPr/>
          </p:nvSpPr>
          <p:spPr>
            <a:xfrm>
              <a:off x="10150078" y="3190590"/>
              <a:ext cx="216024" cy="216024"/>
            </a:xfrm>
            <a:prstGeom prst="ellipse">
              <a:avLst/>
            </a:prstGeom>
            <a:solidFill>
              <a:srgbClr val="0099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/>
            <p:cNvSpPr/>
            <p:nvPr/>
          </p:nvSpPr>
          <p:spPr>
            <a:xfrm>
              <a:off x="8344855" y="2943292"/>
              <a:ext cx="216024" cy="216024"/>
            </a:xfrm>
            <a:prstGeom prst="ellipse">
              <a:avLst/>
            </a:prstGeom>
            <a:solidFill>
              <a:srgbClr val="0099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/>
            <p:cNvSpPr/>
            <p:nvPr/>
          </p:nvSpPr>
          <p:spPr>
            <a:xfrm>
              <a:off x="9166160" y="2580046"/>
              <a:ext cx="216024" cy="216024"/>
            </a:xfrm>
            <a:prstGeom prst="ellipse">
              <a:avLst/>
            </a:prstGeom>
            <a:solidFill>
              <a:srgbClr val="0099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/>
            <p:cNvSpPr/>
            <p:nvPr/>
          </p:nvSpPr>
          <p:spPr>
            <a:xfrm>
              <a:off x="8251310" y="4299377"/>
              <a:ext cx="216024" cy="216024"/>
            </a:xfrm>
            <a:prstGeom prst="ellipse">
              <a:avLst/>
            </a:prstGeom>
            <a:solidFill>
              <a:srgbClr val="0099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/>
            <p:cNvSpPr/>
            <p:nvPr/>
          </p:nvSpPr>
          <p:spPr>
            <a:xfrm>
              <a:off x="10118335" y="4284388"/>
              <a:ext cx="216024" cy="216024"/>
            </a:xfrm>
            <a:prstGeom prst="ellipse">
              <a:avLst/>
            </a:prstGeom>
            <a:solidFill>
              <a:srgbClr val="0099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/>
            <p:cNvSpPr/>
            <p:nvPr/>
          </p:nvSpPr>
          <p:spPr>
            <a:xfrm>
              <a:off x="9147176" y="4785999"/>
              <a:ext cx="216024" cy="216024"/>
            </a:xfrm>
            <a:prstGeom prst="ellipse">
              <a:avLst/>
            </a:prstGeom>
            <a:solidFill>
              <a:srgbClr val="0099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7767434" y="2317870"/>
            <a:ext cx="2941304" cy="2921895"/>
            <a:chOff x="7767434" y="2317870"/>
            <a:chExt cx="2941304" cy="2921895"/>
          </a:xfrm>
        </p:grpSpPr>
        <p:sp>
          <p:nvSpPr>
            <p:cNvPr id="133" name="Oval 132"/>
            <p:cNvSpPr/>
            <p:nvPr/>
          </p:nvSpPr>
          <p:spPr>
            <a:xfrm>
              <a:off x="7788188" y="2317870"/>
              <a:ext cx="2920550" cy="2911014"/>
            </a:xfrm>
            <a:prstGeom prst="ellipse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/>
            <p:cNvSpPr/>
            <p:nvPr/>
          </p:nvSpPr>
          <p:spPr>
            <a:xfrm>
              <a:off x="7767434" y="3159316"/>
              <a:ext cx="216024" cy="216024"/>
            </a:xfrm>
            <a:prstGeom prst="ellipse">
              <a:avLst/>
            </a:prstGeom>
            <a:solidFill>
              <a:srgbClr val="FF9933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/>
            <p:cNvSpPr/>
            <p:nvPr/>
          </p:nvSpPr>
          <p:spPr>
            <a:xfrm>
              <a:off x="9696855" y="5023741"/>
              <a:ext cx="216024" cy="216024"/>
            </a:xfrm>
            <a:prstGeom prst="ellipse">
              <a:avLst/>
            </a:prstGeom>
            <a:solidFill>
              <a:srgbClr val="FF9933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/>
            <p:cNvSpPr/>
            <p:nvPr/>
          </p:nvSpPr>
          <p:spPr>
            <a:xfrm>
              <a:off x="10081904" y="2584689"/>
              <a:ext cx="216024" cy="216024"/>
            </a:xfrm>
            <a:prstGeom prst="ellipse">
              <a:avLst/>
            </a:prstGeom>
            <a:solidFill>
              <a:srgbClr val="FF9933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7441319" y="1988840"/>
            <a:ext cx="3587229" cy="3542717"/>
            <a:chOff x="7441319" y="1988840"/>
            <a:chExt cx="3587229" cy="3542717"/>
          </a:xfrm>
        </p:grpSpPr>
        <p:sp>
          <p:nvSpPr>
            <p:cNvPr id="137" name="Oval 136"/>
            <p:cNvSpPr/>
            <p:nvPr/>
          </p:nvSpPr>
          <p:spPr>
            <a:xfrm>
              <a:off x="7441319" y="1988840"/>
              <a:ext cx="3587229" cy="3542717"/>
            </a:xfrm>
            <a:prstGeom prst="ellipse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/>
            <p:cNvSpPr/>
            <p:nvPr/>
          </p:nvSpPr>
          <p:spPr>
            <a:xfrm>
              <a:off x="8236843" y="2101897"/>
              <a:ext cx="216024" cy="216024"/>
            </a:xfrm>
            <a:prstGeom prst="ellipse">
              <a:avLst/>
            </a:prstGeom>
            <a:solidFill>
              <a:srgbClr val="7030A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AC7D398-9ED4-13B6-876F-6F26709C1DF3}"/>
                  </a:ext>
                </a:extLst>
              </p:cNvPr>
              <p:cNvSpPr txBox="1"/>
              <p:nvPr/>
            </p:nvSpPr>
            <p:spPr>
              <a:xfrm>
                <a:off x="2758585" y="4131441"/>
                <a:ext cx="3179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IL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AC7D398-9ED4-13B6-876F-6F26709C1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585" y="4131441"/>
                <a:ext cx="31793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9680F56C-3143-B1BD-831D-F3A0D7F0B913}"/>
              </a:ext>
            </a:extLst>
          </p:cNvPr>
          <p:cNvGrpSpPr/>
          <p:nvPr/>
        </p:nvGrpSpPr>
        <p:grpSpPr>
          <a:xfrm>
            <a:off x="8769156" y="3538875"/>
            <a:ext cx="603208" cy="523220"/>
            <a:chOff x="8769156" y="3538875"/>
            <a:chExt cx="603208" cy="523220"/>
          </a:xfrm>
        </p:grpSpPr>
        <p:sp>
          <p:nvSpPr>
            <p:cNvPr id="111" name="Oval 110"/>
            <p:cNvSpPr/>
            <p:nvPr/>
          </p:nvSpPr>
          <p:spPr>
            <a:xfrm>
              <a:off x="9156340" y="3707005"/>
              <a:ext cx="216024" cy="216024"/>
            </a:xfrm>
            <a:prstGeom prst="ellipse">
              <a:avLst/>
            </a:prstGeom>
            <a:solidFill>
              <a:srgbClr val="0000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AF59046-0856-5636-2F4D-39F804A3C8F2}"/>
                    </a:ext>
                  </a:extLst>
                </p:cNvPr>
                <p:cNvSpPr txBox="1"/>
                <p:nvPr/>
              </p:nvSpPr>
              <p:spPr>
                <a:xfrm>
                  <a:off x="8769156" y="3538875"/>
                  <a:ext cx="31793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IL" sz="28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AF59046-0856-5636-2F4D-39F804A3C8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9156" y="3538875"/>
                  <a:ext cx="317931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6162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20525" y="775966"/>
                <a:ext cx="7776864" cy="5281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Procedure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BFS</m:t>
                    </m:r>
                    <m:d>
                      <m:d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800" dirty="0">
                    <a:ea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800" dirty="0">
                    <a:latin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𝓠</m:t>
                    </m:r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:r>
                  <a:rPr lang="en-US" sz="2800" b="0" dirty="0"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𝓣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sz="2800" dirty="0"/>
                  <a:t>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while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sz="2800" dirty="0"/>
              </a:p>
              <a:p>
                <a:pPr>
                  <a:lnSpc>
                    <a:spcPct val="110000"/>
                  </a:lnSpc>
                </a:pPr>
                <a:r>
                  <a:rPr lang="en-US" sz="2800" dirty="0"/>
                  <a:t>        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DEQUEUE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𝓠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sz="2800" dirty="0"/>
                  <a:t>          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</m:e>
                    </m:d>
                  </m:oMath>
                </a14:m>
                <a:endParaRPr lang="en-US" sz="2800" b="0" dirty="0"/>
              </a:p>
              <a:p>
                <a:pPr>
                  <a:lnSpc>
                    <a:spcPct val="110000"/>
                  </a:lnSpc>
                </a:pPr>
                <a:r>
                  <a:rPr lang="en-US" sz="2800" dirty="0"/>
                  <a:t>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if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 (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𝓣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>
                  <a:lnSpc>
                    <a:spcPct val="110000"/>
                  </a:lnSpc>
                </a:pPr>
                <a:r>
                  <a:rPr lang="en-US" sz="2800" dirty="0">
                    <a:ea typeface="Cambria Math" panose="02040503050406030204" pitchFamily="18" charset="0"/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:r>
                  <a:rPr lang="en-US" sz="2800" dirty="0"/>
                  <a:t>                     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:r>
                  <a:rPr lang="en-US" sz="2800" b="0" dirty="0">
                    <a:ea typeface="Cambria Math" panose="02040503050406030204" pitchFamily="18" charset="0"/>
                  </a:rPr>
                  <a:t>      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EN</m:t>
                    </m:r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QUEUE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𝓠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 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525" y="775966"/>
                <a:ext cx="7776864" cy="52812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3F4A024B-C7CF-E9E6-6D3F-0FE0EF8D9096}"/>
              </a:ext>
            </a:extLst>
          </p:cNvPr>
          <p:cNvGrpSpPr/>
          <p:nvPr/>
        </p:nvGrpSpPr>
        <p:grpSpPr>
          <a:xfrm>
            <a:off x="1766519" y="775966"/>
            <a:ext cx="8658962" cy="5306068"/>
            <a:chOff x="1766519" y="775966"/>
            <a:chExt cx="8658962" cy="5306068"/>
          </a:xfrm>
        </p:grpSpPr>
        <p:sp>
          <p:nvSpPr>
            <p:cNvPr id="20" name="Rectangle 19"/>
            <p:cNvSpPr/>
            <p:nvPr/>
          </p:nvSpPr>
          <p:spPr>
            <a:xfrm>
              <a:off x="1766519" y="775966"/>
              <a:ext cx="8658962" cy="5306068"/>
            </a:xfrm>
            <a:prstGeom prst="rect">
              <a:avLst/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52E066A-11E7-A32E-3141-42C62718938F}"/>
                </a:ext>
              </a:extLst>
            </p:cNvPr>
            <p:cNvGrpSpPr/>
            <p:nvPr/>
          </p:nvGrpSpPr>
          <p:grpSpPr>
            <a:xfrm>
              <a:off x="3692734" y="819077"/>
              <a:ext cx="6692243" cy="5177469"/>
              <a:chOff x="3692734" y="819077"/>
              <a:chExt cx="6692243" cy="517746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50429" y="1741985"/>
                    <a:ext cx="3924436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</a:t>
                    </a:r>
                    <a14:m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𝓠</m:t>
                        </m:r>
                      </m:oMath>
                    </a14:m>
                    <a:r>
                      <a:rPr lang="en-US" sz="2800" dirty="0">
                        <a:solidFill>
                          <a:srgbClr val="009900"/>
                        </a:solidFill>
                      </a:rPr>
                      <a:t>: FIFO imitating wave </a:t>
                    </a:r>
                  </a:p>
                </p:txBody>
              </p:sp>
            </mc:Choice>
            <mc:Fallback xmlns="">
              <p:sp>
                <p:nvSpPr>
                  <p:cNvPr id="8" name="TextBox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50429" y="1741985"/>
                    <a:ext cx="3924436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261" t="-11628" r="-2019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3692734" y="2193030"/>
                    <a:ext cx="5463606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</a:t>
                    </a:r>
                    <a14:m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𝓣</m:t>
                        </m:r>
                      </m:oMath>
                    </a14:m>
                    <a:r>
                      <a:rPr lang="en-US" sz="2800" dirty="0">
                        <a:solidFill>
                          <a:srgbClr val="009900"/>
                        </a:solidFill>
                      </a:rPr>
                      <a:t>: already labeled (done) vertices</a:t>
                    </a:r>
                  </a:p>
                </p:txBody>
              </p:sp>
            </mc:Choice>
            <mc:Fallback xmlns="">
              <p:sp>
                <p:nvSpPr>
                  <p:cNvPr id="10" name="TextBox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92734" y="2193030"/>
                    <a:ext cx="5463606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344" t="-11628" r="-1228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TextBox 11"/>
              <p:cNvSpPr txBox="1"/>
              <p:nvPr/>
            </p:nvSpPr>
            <p:spPr>
              <a:xfrm>
                <a:off x="5735960" y="3146546"/>
                <a:ext cx="37444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get vertex from wave 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5699956" y="4557286"/>
                <a:ext cx="446449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Labeled will never changed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6325526" y="5473326"/>
                <a:ext cx="405945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put new labeled in wave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026283" y="4106074"/>
                <a:ext cx="29194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Label unlabeled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295800" y="2678494"/>
                <a:ext cx="507656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Expand “outwards” from  wave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5411924" y="819077"/>
                    <a:ext cx="2844316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output </a:t>
                    </a:r>
                    <a14:m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a14:m>
                    <a:r>
                      <a:rPr lang="en-US" sz="2800" dirty="0">
                        <a:solidFill>
                          <a:srgbClr val="009900"/>
                        </a:solidFill>
                      </a:rPr>
                      <a:t>: labels</a:t>
                    </a:r>
                  </a:p>
                </p:txBody>
              </p:sp>
            </mc:Choice>
            <mc:Fallback xmlns="">
              <p:sp>
                <p:nvSpPr>
                  <p:cNvPr id="17" name="TextBox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11924" y="819077"/>
                    <a:ext cx="2844316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506" t="-10465" r="-3004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837FFB-DD45-D91B-F3DC-241BE37BA4F2}"/>
                  </a:ext>
                </a:extLst>
              </p:cNvPr>
              <p:cNvSpPr txBox="1"/>
              <p:nvPr/>
            </p:nvSpPr>
            <p:spPr>
              <a:xfrm>
                <a:off x="6784577" y="1285600"/>
                <a:ext cx="22997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initialization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11677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1011325"/>
                <a:ext cx="10261140" cy="48659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Theorem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BFS</m:t>
                    </m:r>
                  </m:oMath>
                </a14:m>
                <a:r>
                  <a:rPr lang="en-US" sz="2800" dirty="0"/>
                  <a:t> termination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BFS</m:t>
                    </m:r>
                  </m:oMath>
                </a14:m>
                <a:r>
                  <a:rPr lang="en-US" sz="2800" dirty="0"/>
                  <a:t> terminates because each iteration </a:t>
                </a: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DEQUEUED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𝓠</m:t>
                    </m:r>
                  </m:oMath>
                </a14:m>
                <a:r>
                  <a:rPr lang="en-US" sz="2800" dirty="0"/>
                  <a:t>. </a:t>
                </a:r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800" dirty="0"/>
                  <a:t> cannot enter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𝓠</m:t>
                    </m:r>
                  </m:oMath>
                </a14:m>
                <a:r>
                  <a:rPr lang="en-US" sz="2800" dirty="0"/>
                  <a:t> again since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𝓣</m:t>
                    </m:r>
                  </m:oMath>
                </a14:m>
                <a:r>
                  <a:rPr lang="en-US" sz="2800" dirty="0"/>
                  <a:t> and only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𝓣</m:t>
                    </m:r>
                  </m:oMath>
                </a14:m>
                <a:r>
                  <a:rPr lang="en-US" sz="2800" dirty="0"/>
                  <a:t> is </a:t>
                </a: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ENQUEUED</a:t>
                </a:r>
                <a:r>
                  <a:rPr lang="en-US" sz="2800" dirty="0"/>
                  <a:t>,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:r>
                  <a:rPr lang="en-US" sz="2800" dirty="0"/>
                  <a:t>eventually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𝓠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We show by induction on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that 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Induction base is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=0=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Assume by induction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s.t.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 there is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800" dirty="0"/>
                  <a:t>. 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011325"/>
                <a:ext cx="10261140" cy="4865947"/>
              </a:xfrm>
              <a:prstGeom prst="rect">
                <a:avLst/>
              </a:prstGeom>
              <a:blipFill>
                <a:blip r:embed="rId3"/>
                <a:stretch>
                  <a:fillRect l="-1188" t="-627" r="-1188" b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1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6EB05DC8-7963-E4EB-365D-32DF9B3421CA}"/>
              </a:ext>
            </a:extLst>
          </p:cNvPr>
          <p:cNvGrpSpPr/>
          <p:nvPr/>
        </p:nvGrpSpPr>
        <p:grpSpPr>
          <a:xfrm>
            <a:off x="2406075" y="2631588"/>
            <a:ext cx="7379850" cy="1022720"/>
            <a:chOff x="2406075" y="2631588"/>
            <a:chExt cx="7379850" cy="102272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85B3E2B-B1D4-E125-2D89-6127E71A331F}"/>
                </a:ext>
              </a:extLst>
            </p:cNvPr>
            <p:cNvGrpSpPr/>
            <p:nvPr/>
          </p:nvGrpSpPr>
          <p:grpSpPr>
            <a:xfrm>
              <a:off x="2406075" y="2631588"/>
              <a:ext cx="7379850" cy="1022720"/>
              <a:chOff x="1992514" y="2950694"/>
              <a:chExt cx="7379850" cy="1022720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F7331529-D8C5-FFF0-DA0E-D7200B9DD473}"/>
                  </a:ext>
                </a:extLst>
              </p:cNvPr>
              <p:cNvGrpSpPr/>
              <p:nvPr/>
            </p:nvGrpSpPr>
            <p:grpSpPr>
              <a:xfrm>
                <a:off x="8937792" y="3167390"/>
                <a:ext cx="434572" cy="523220"/>
                <a:chOff x="6715638" y="2879227"/>
                <a:chExt cx="434572" cy="52322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564D57D2-A023-45A9-BD4E-B9A3A5A158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08172" y="2879227"/>
                      <a:ext cx="34203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564D57D2-A023-45A9-BD4E-B9A3A5A1582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08172" y="2879227"/>
                      <a:ext cx="342038" cy="52322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C4E8F60E-B578-BE59-D66F-427D043F1DFB}"/>
                    </a:ext>
                  </a:extLst>
                </p:cNvPr>
                <p:cNvSpPr/>
                <p:nvPr/>
              </p:nvSpPr>
              <p:spPr>
                <a:xfrm>
                  <a:off x="6715638" y="2960817"/>
                  <a:ext cx="432048" cy="42763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FC29BC29-D1EF-E8E4-DCDF-9FD94667C9FA}"/>
                  </a:ext>
                </a:extLst>
              </p:cNvPr>
              <p:cNvGrpSpPr/>
              <p:nvPr/>
            </p:nvGrpSpPr>
            <p:grpSpPr>
              <a:xfrm>
                <a:off x="1992514" y="3167390"/>
                <a:ext cx="434572" cy="523220"/>
                <a:chOff x="6409697" y="2851575"/>
                <a:chExt cx="434572" cy="52322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8CF9A486-8C45-6DE4-1D6D-0EBFA94D6C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2231" y="2851575"/>
                      <a:ext cx="34203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8CF9A486-8C45-6DE4-1D6D-0EBFA94D6CF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2231" y="2851575"/>
                      <a:ext cx="342038" cy="52322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CEBB4278-270D-35B4-D60C-C6C0AB273E4B}"/>
                    </a:ext>
                  </a:extLst>
                </p:cNvPr>
                <p:cNvSpPr/>
                <p:nvPr/>
              </p:nvSpPr>
              <p:spPr>
                <a:xfrm>
                  <a:off x="6409697" y="2933165"/>
                  <a:ext cx="432048" cy="42763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D1A4AAC-3466-2858-CE7E-44C9F3BF6111}"/>
                  </a:ext>
                </a:extLst>
              </p:cNvPr>
              <p:cNvSpPr/>
              <p:nvPr/>
            </p:nvSpPr>
            <p:spPr>
              <a:xfrm>
                <a:off x="2424562" y="2950694"/>
                <a:ext cx="6518716" cy="1022720"/>
              </a:xfrm>
              <a:custGeom>
                <a:avLst/>
                <a:gdLst>
                  <a:gd name="connsiteX0" fmla="*/ 0 w 6556917"/>
                  <a:gd name="connsiteY0" fmla="*/ 495033 h 1022720"/>
                  <a:gd name="connsiteX1" fmla="*/ 1271239 w 6556917"/>
                  <a:gd name="connsiteY1" fmla="*/ 15530 h 1022720"/>
                  <a:gd name="connsiteX2" fmla="*/ 3891776 w 6556917"/>
                  <a:gd name="connsiteY2" fmla="*/ 1007989 h 1022720"/>
                  <a:gd name="connsiteX3" fmla="*/ 6556917 w 6556917"/>
                  <a:gd name="connsiteY3" fmla="*/ 517335 h 1022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56917" h="1022720">
                    <a:moveTo>
                      <a:pt x="0" y="495033"/>
                    </a:moveTo>
                    <a:cubicBezTo>
                      <a:pt x="311305" y="212535"/>
                      <a:pt x="622610" y="-69963"/>
                      <a:pt x="1271239" y="15530"/>
                    </a:cubicBezTo>
                    <a:cubicBezTo>
                      <a:pt x="1919868" y="101023"/>
                      <a:pt x="3010830" y="924355"/>
                      <a:pt x="3891776" y="1007989"/>
                    </a:cubicBezTo>
                    <a:cubicBezTo>
                      <a:pt x="4772722" y="1091623"/>
                      <a:pt x="5664819" y="804479"/>
                      <a:pt x="6556917" y="517335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FAA2E90-1F5B-32E2-0629-AD441FB90292}"/>
                    </a:ext>
                  </a:extLst>
                </p:cNvPr>
                <p:cNvSpPr txBox="1"/>
                <p:nvPr/>
              </p:nvSpPr>
              <p:spPr>
                <a:xfrm>
                  <a:off x="4628620" y="2848284"/>
                  <a:ext cx="1368152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IL" sz="2800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FAA2E90-1F5B-32E2-0629-AD441FB902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8620" y="2848284"/>
                  <a:ext cx="1368152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872716"/>
                <a:ext cx="10261140" cy="5059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s.t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Since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is finite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endParaRPr lang="en-US" sz="2800" dirty="0"/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endParaRPr lang="en-US" sz="2800" dirty="0"/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Let us show that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Otherwise, let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, in contrary to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872716"/>
                <a:ext cx="10261140" cy="5059462"/>
              </a:xfrm>
              <a:prstGeom prst="rect">
                <a:avLst/>
              </a:prstGeom>
              <a:blipFill>
                <a:blip r:embed="rId6"/>
                <a:stretch>
                  <a:fillRect l="-1188" t="-120" b="-253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10</a:t>
            </a:fld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5633A90-D648-6456-F149-909B92E4F88C}"/>
              </a:ext>
            </a:extLst>
          </p:cNvPr>
          <p:cNvGrpSpPr/>
          <p:nvPr/>
        </p:nvGrpSpPr>
        <p:grpSpPr>
          <a:xfrm>
            <a:off x="7877279" y="3148923"/>
            <a:ext cx="1479560" cy="587273"/>
            <a:chOff x="7877279" y="3148923"/>
            <a:chExt cx="1479560" cy="587273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FAAB141-5863-6BAC-9297-CAC00CF435CC}"/>
                </a:ext>
              </a:extLst>
            </p:cNvPr>
            <p:cNvCxnSpPr>
              <a:cxnSpLocks/>
              <a:endCxn id="30" idx="3"/>
            </p:cNvCxnSpPr>
            <p:nvPr/>
          </p:nvCxnSpPr>
          <p:spPr>
            <a:xfrm flipV="1">
              <a:off x="8309327" y="3148923"/>
              <a:ext cx="1047512" cy="32566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7DA49944-954E-28DD-4C45-E7503A7CED94}"/>
                </a:ext>
              </a:extLst>
            </p:cNvPr>
            <p:cNvGrpSpPr/>
            <p:nvPr/>
          </p:nvGrpSpPr>
          <p:grpSpPr>
            <a:xfrm>
              <a:off x="7877279" y="3212976"/>
              <a:ext cx="434572" cy="523220"/>
              <a:chOff x="9503753" y="3000684"/>
              <a:chExt cx="434572" cy="52322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AA241B48-71FE-A567-01BB-7641AF81F5DB}"/>
                  </a:ext>
                </a:extLst>
              </p:cNvPr>
              <p:cNvSpPr/>
              <p:nvPr/>
            </p:nvSpPr>
            <p:spPr>
              <a:xfrm>
                <a:off x="9503753" y="3082274"/>
                <a:ext cx="432048" cy="42763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331733DB-56BE-DE36-2C4D-474E1C27DDA1}"/>
                      </a:ext>
                    </a:extLst>
                  </p:cNvPr>
                  <p:cNvSpPr txBox="1"/>
                  <p:nvPr/>
                </p:nvSpPr>
                <p:spPr>
                  <a:xfrm>
                    <a:off x="9596287" y="3000684"/>
                    <a:ext cx="34203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331733DB-56BE-DE36-2C4D-474E1C27DD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96287" y="3000684"/>
                    <a:ext cx="342038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16519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705D1-C504-830B-EE34-141D8847C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EB80E-AC10-C407-401D-B7F5F0C88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50F5D4-CFF2-1E3B-6D98-69A0940D3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426CC-1C5A-711E-DA43-B94938016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11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03476A4-DC7A-52DA-57B5-417DADABFA4C}"/>
              </a:ext>
            </a:extLst>
          </p:cNvPr>
          <p:cNvSpPr txBox="1"/>
          <p:nvPr/>
        </p:nvSpPr>
        <p:spPr>
          <a:xfrm>
            <a:off x="965430" y="1009817"/>
            <a:ext cx="10261140" cy="1322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1800"/>
              </a:spcAft>
            </a:pPr>
            <a:endParaRPr lang="en-US" sz="2800" dirty="0"/>
          </a:p>
          <a:p>
            <a:pPr algn="just">
              <a:lnSpc>
                <a:spcPct val="120000"/>
              </a:lnSpc>
              <a:spcAft>
                <a:spcPts val="1800"/>
              </a:spcAft>
            </a:pPr>
            <a:endParaRPr lang="en-US" sz="2800" dirty="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40D3856-8175-DCC9-70E3-039036CD6D02}"/>
              </a:ext>
            </a:extLst>
          </p:cNvPr>
          <p:cNvGrpSpPr/>
          <p:nvPr/>
        </p:nvGrpSpPr>
        <p:grpSpPr>
          <a:xfrm>
            <a:off x="2406075" y="980728"/>
            <a:ext cx="7379850" cy="1104608"/>
            <a:chOff x="2558475" y="2783988"/>
            <a:chExt cx="7379850" cy="1104608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ADF27E7-1556-3CE8-F1D0-E6377596DC3E}"/>
                </a:ext>
              </a:extLst>
            </p:cNvPr>
            <p:cNvGrpSpPr/>
            <p:nvPr/>
          </p:nvGrpSpPr>
          <p:grpSpPr>
            <a:xfrm>
              <a:off x="2558475" y="2783988"/>
              <a:ext cx="7379850" cy="1022720"/>
              <a:chOff x="2406075" y="2631588"/>
              <a:chExt cx="7379850" cy="1022720"/>
            </a:xfrm>
          </p:grpSpPr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E69D6653-F89F-A562-0395-C269431747CF}"/>
                  </a:ext>
                </a:extLst>
              </p:cNvPr>
              <p:cNvGrpSpPr/>
              <p:nvPr/>
            </p:nvGrpSpPr>
            <p:grpSpPr>
              <a:xfrm>
                <a:off x="2406075" y="2631588"/>
                <a:ext cx="7379850" cy="1022720"/>
                <a:chOff x="1992514" y="2950694"/>
                <a:chExt cx="7379850" cy="1022720"/>
              </a:xfrm>
            </p:grpSpPr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A739B2F2-9D96-1127-85D3-8C2DA49741A8}"/>
                    </a:ext>
                  </a:extLst>
                </p:cNvPr>
                <p:cNvGrpSpPr/>
                <p:nvPr/>
              </p:nvGrpSpPr>
              <p:grpSpPr>
                <a:xfrm>
                  <a:off x="8937792" y="3167390"/>
                  <a:ext cx="434572" cy="523220"/>
                  <a:chOff x="6715638" y="2879227"/>
                  <a:chExt cx="434572" cy="52322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7" name="TextBox 86">
                        <a:extLst>
                          <a:ext uri="{FF2B5EF4-FFF2-40B4-BE49-F238E27FC236}">
                            <a16:creationId xmlns:a16="http://schemas.microsoft.com/office/drawing/2014/main" id="{54CE5320-DFC6-3E98-F487-4EABBEBCE20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08172" y="2879227"/>
                        <a:ext cx="34203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87" name="TextBox 86">
                        <a:extLst>
                          <a:ext uri="{FF2B5EF4-FFF2-40B4-BE49-F238E27FC236}">
                            <a16:creationId xmlns:a16="http://schemas.microsoft.com/office/drawing/2014/main" id="{54CE5320-DFC6-3E98-F487-4EABBEBCE20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08172" y="2879227"/>
                        <a:ext cx="342038" cy="523220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88" name="Oval 87">
                    <a:extLst>
                      <a:ext uri="{FF2B5EF4-FFF2-40B4-BE49-F238E27FC236}">
                        <a16:creationId xmlns:a16="http://schemas.microsoft.com/office/drawing/2014/main" id="{06D6443C-49C3-39A1-30A3-6712BB95BC87}"/>
                      </a:ext>
                    </a:extLst>
                  </p:cNvPr>
                  <p:cNvSpPr/>
                  <p:nvPr/>
                </p:nvSpPr>
                <p:spPr>
                  <a:xfrm>
                    <a:off x="6715638" y="2960817"/>
                    <a:ext cx="432048" cy="42763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FC61BC27-E314-FEB2-9ECA-EF9BCC2E1AB5}"/>
                    </a:ext>
                  </a:extLst>
                </p:cNvPr>
                <p:cNvGrpSpPr/>
                <p:nvPr/>
              </p:nvGrpSpPr>
              <p:grpSpPr>
                <a:xfrm>
                  <a:off x="1992514" y="3167390"/>
                  <a:ext cx="434572" cy="523220"/>
                  <a:chOff x="6409697" y="2851575"/>
                  <a:chExt cx="434572" cy="52322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5" name="TextBox 84">
                        <a:extLst>
                          <a:ext uri="{FF2B5EF4-FFF2-40B4-BE49-F238E27FC236}">
                            <a16:creationId xmlns:a16="http://schemas.microsoft.com/office/drawing/2014/main" id="{78386574-DA4D-988C-DE6B-E1FA02BB4AC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502231" y="2851575"/>
                        <a:ext cx="34203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85" name="TextBox 84">
                        <a:extLst>
                          <a:ext uri="{FF2B5EF4-FFF2-40B4-BE49-F238E27FC236}">
                            <a16:creationId xmlns:a16="http://schemas.microsoft.com/office/drawing/2014/main" id="{78386574-DA4D-988C-DE6B-E1FA02BB4AC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502231" y="2851575"/>
                        <a:ext cx="342038" cy="523220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86" name="Oval 85">
                    <a:extLst>
                      <a:ext uri="{FF2B5EF4-FFF2-40B4-BE49-F238E27FC236}">
                        <a16:creationId xmlns:a16="http://schemas.microsoft.com/office/drawing/2014/main" id="{BA1AA68D-70AD-C7CD-FFD2-E18194FF6111}"/>
                      </a:ext>
                    </a:extLst>
                  </p:cNvPr>
                  <p:cNvSpPr/>
                  <p:nvPr/>
                </p:nvSpPr>
                <p:spPr>
                  <a:xfrm>
                    <a:off x="6409697" y="2933165"/>
                    <a:ext cx="432048" cy="42763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0B64C754-F816-8E31-6421-9840ADBD47E6}"/>
                    </a:ext>
                  </a:extLst>
                </p:cNvPr>
                <p:cNvSpPr/>
                <p:nvPr/>
              </p:nvSpPr>
              <p:spPr>
                <a:xfrm>
                  <a:off x="2424562" y="2950694"/>
                  <a:ext cx="6518716" cy="1022720"/>
                </a:xfrm>
                <a:custGeom>
                  <a:avLst/>
                  <a:gdLst>
                    <a:gd name="connsiteX0" fmla="*/ 0 w 6556917"/>
                    <a:gd name="connsiteY0" fmla="*/ 495033 h 1022720"/>
                    <a:gd name="connsiteX1" fmla="*/ 1271239 w 6556917"/>
                    <a:gd name="connsiteY1" fmla="*/ 15530 h 1022720"/>
                    <a:gd name="connsiteX2" fmla="*/ 3891776 w 6556917"/>
                    <a:gd name="connsiteY2" fmla="*/ 1007989 h 1022720"/>
                    <a:gd name="connsiteX3" fmla="*/ 6556917 w 6556917"/>
                    <a:gd name="connsiteY3" fmla="*/ 517335 h 1022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56917" h="1022720">
                      <a:moveTo>
                        <a:pt x="0" y="495033"/>
                      </a:moveTo>
                      <a:cubicBezTo>
                        <a:pt x="311305" y="212535"/>
                        <a:pt x="622610" y="-69963"/>
                        <a:pt x="1271239" y="15530"/>
                      </a:cubicBezTo>
                      <a:cubicBezTo>
                        <a:pt x="1919868" y="101023"/>
                        <a:pt x="3010830" y="924355"/>
                        <a:pt x="3891776" y="1007989"/>
                      </a:cubicBezTo>
                      <a:cubicBezTo>
                        <a:pt x="4772722" y="1091623"/>
                        <a:pt x="5664819" y="804479"/>
                        <a:pt x="6556917" y="517335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L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A4485C8A-8646-1850-D55F-3FAC86329313}"/>
                      </a:ext>
                    </a:extLst>
                  </p:cNvPr>
                  <p:cNvSpPr txBox="1"/>
                  <p:nvPr/>
                </p:nvSpPr>
                <p:spPr>
                  <a:xfrm>
                    <a:off x="4628620" y="2848284"/>
                    <a:ext cx="1368152" cy="52322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oMath>
                      </m:oMathPara>
                    </a14:m>
                    <a:endParaRPr lang="en-IL" sz="2800" dirty="0"/>
                  </a:p>
                </p:txBody>
              </p:sp>
            </mc:Choice>
            <mc:Fallback xmlns=""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A4485C8A-8646-1850-D55F-3FAC863293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28620" y="2848284"/>
                    <a:ext cx="1368152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C2C8E52F-E91C-048B-8DFE-98F76E69AA33}"/>
                </a:ext>
              </a:extLst>
            </p:cNvPr>
            <p:cNvGrpSpPr/>
            <p:nvPr/>
          </p:nvGrpSpPr>
          <p:grpSpPr>
            <a:xfrm>
              <a:off x="8029679" y="3301323"/>
              <a:ext cx="1479560" cy="587273"/>
              <a:chOff x="7877279" y="3148923"/>
              <a:chExt cx="1479560" cy="587273"/>
            </a:xfrm>
          </p:grpSpPr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32862E4D-9D92-FF38-5333-20785D1A6A1D}"/>
                  </a:ext>
                </a:extLst>
              </p:cNvPr>
              <p:cNvCxnSpPr>
                <a:cxnSpLocks/>
                <a:endCxn id="84" idx="3"/>
              </p:cNvCxnSpPr>
              <p:nvPr/>
            </p:nvCxnSpPr>
            <p:spPr>
              <a:xfrm flipV="1">
                <a:off x="8309327" y="3148923"/>
                <a:ext cx="1047512" cy="32566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51BA624F-5747-572E-3804-27C472852709}"/>
                  </a:ext>
                </a:extLst>
              </p:cNvPr>
              <p:cNvGrpSpPr/>
              <p:nvPr/>
            </p:nvGrpSpPr>
            <p:grpSpPr>
              <a:xfrm>
                <a:off x="7877279" y="3212976"/>
                <a:ext cx="434572" cy="523220"/>
                <a:chOff x="9503753" y="3000684"/>
                <a:chExt cx="434572" cy="523220"/>
              </a:xfrm>
            </p:grpSpPr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0A6F7E64-380D-D137-FEAF-B5B3CEDC8177}"/>
                    </a:ext>
                  </a:extLst>
                </p:cNvPr>
                <p:cNvSpPr/>
                <p:nvPr/>
              </p:nvSpPr>
              <p:spPr>
                <a:xfrm>
                  <a:off x="9503753" y="3082274"/>
                  <a:ext cx="432048" cy="427634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00861D39-802B-BD39-29A6-3E9E9DFF5E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96287" y="3000684"/>
                      <a:ext cx="34203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00861D39-802B-BD39-29A6-3E9E9DFF5E1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96287" y="3000684"/>
                      <a:ext cx="342038" cy="52322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58887C-9DF8-2F7F-6947-B5A29EB19E8D}"/>
                  </a:ext>
                </a:extLst>
              </p:cNvPr>
              <p:cNvSpPr txBox="1"/>
              <p:nvPr/>
            </p:nvSpPr>
            <p:spPr>
              <a:xfrm>
                <a:off x="965430" y="692696"/>
                <a:ext cx="10261140" cy="52161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endParaRPr lang="en-US" sz="2800" dirty="0"/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endParaRPr lang="en-US" sz="2800" dirty="0"/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Now by induction hypothesis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 Once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𝓠</m:t>
                    </m:r>
                  </m:oMath>
                </a14:m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DEQUEUED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is detected.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𝓣</m:t>
                    </m:r>
                  </m:oMath>
                </a14:m>
                <a:r>
                  <a:rPr lang="en-US" sz="2800" dirty="0"/>
                  <a:t> (unlabeled).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800" dirty="0"/>
                  <a:t> labeled from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+1=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, and labeling occurs only once, so we are done.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58887C-9DF8-2F7F-6947-B5A29EB19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92696"/>
                <a:ext cx="10261140" cy="5216172"/>
              </a:xfrm>
              <a:prstGeom prst="rect">
                <a:avLst/>
              </a:prstGeom>
              <a:blipFill>
                <a:blip r:embed="rId7"/>
                <a:stretch>
                  <a:fillRect l="-1188" r="-1188" b="-245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610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764704"/>
                <a:ext cx="10261140" cy="5213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endParaRPr lang="en-US" sz="2800" dirty="0"/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endParaRPr lang="en-US" sz="2800" dirty="0"/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Otherwise, let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𝓣</m:t>
                    </m:r>
                  </m:oMath>
                </a14:m>
                <a:r>
                  <a:rPr lang="en-US" sz="2800" dirty="0"/>
                  <a:t> (already labeled). 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By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 choice,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 impossible because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 also impossible. If it would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𝓠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 was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DEQUEUED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 before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800" dirty="0"/>
                  <a:t>, s.t.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But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DEQUEUE</m:t>
                    </m:r>
                  </m:oMath>
                </a14:m>
                <a:r>
                  <a:rPr lang="en-US" sz="2800" dirty="0"/>
                  <a:t> is non decreasing in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800" dirty="0"/>
                  <a:t>, hence impossible.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 </m:t>
                    </m:r>
                  </m:oMath>
                </a14:m>
                <a:endParaRPr lang="en-US" sz="280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764704"/>
                <a:ext cx="10261140" cy="5213350"/>
              </a:xfrm>
              <a:prstGeom prst="rect">
                <a:avLst/>
              </a:prstGeom>
              <a:blipFill>
                <a:blip r:embed="rId3"/>
                <a:stretch>
                  <a:fillRect l="-1188" r="-1188" b="-233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064A14BD-8D19-B5EB-3799-BF4A4B7CF940}"/>
              </a:ext>
            </a:extLst>
          </p:cNvPr>
          <p:cNvGrpSpPr/>
          <p:nvPr/>
        </p:nvGrpSpPr>
        <p:grpSpPr>
          <a:xfrm>
            <a:off x="2406075" y="980728"/>
            <a:ext cx="7379850" cy="1104608"/>
            <a:chOff x="2558475" y="2783988"/>
            <a:chExt cx="7379850" cy="110460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BDEB2D9-5315-0392-8674-123BE8A9DCFE}"/>
                </a:ext>
              </a:extLst>
            </p:cNvPr>
            <p:cNvGrpSpPr/>
            <p:nvPr/>
          </p:nvGrpSpPr>
          <p:grpSpPr>
            <a:xfrm>
              <a:off x="2558475" y="2783988"/>
              <a:ext cx="7379850" cy="1022720"/>
              <a:chOff x="2406075" y="2631588"/>
              <a:chExt cx="7379850" cy="102272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F72A2136-4B38-F89A-A40C-3C7E25FE7A1E}"/>
                  </a:ext>
                </a:extLst>
              </p:cNvPr>
              <p:cNvGrpSpPr/>
              <p:nvPr/>
            </p:nvGrpSpPr>
            <p:grpSpPr>
              <a:xfrm>
                <a:off x="2406075" y="2631588"/>
                <a:ext cx="7379850" cy="1022720"/>
                <a:chOff x="1992514" y="2950694"/>
                <a:chExt cx="7379850" cy="1022720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B9068641-51A5-C618-33B7-AE9E17C3DCEC}"/>
                    </a:ext>
                  </a:extLst>
                </p:cNvPr>
                <p:cNvGrpSpPr/>
                <p:nvPr/>
              </p:nvGrpSpPr>
              <p:grpSpPr>
                <a:xfrm>
                  <a:off x="8937792" y="3167390"/>
                  <a:ext cx="434572" cy="523220"/>
                  <a:chOff x="6715638" y="2879227"/>
                  <a:chExt cx="434572" cy="52322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" name="TextBox 18">
                        <a:extLst>
                          <a:ext uri="{FF2B5EF4-FFF2-40B4-BE49-F238E27FC236}">
                            <a16:creationId xmlns:a16="http://schemas.microsoft.com/office/drawing/2014/main" id="{B8FFBE3C-3808-2379-AAD3-03BA077DFE4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08172" y="2879227"/>
                        <a:ext cx="34203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9" name="TextBox 18">
                        <a:extLst>
                          <a:ext uri="{FF2B5EF4-FFF2-40B4-BE49-F238E27FC236}">
                            <a16:creationId xmlns:a16="http://schemas.microsoft.com/office/drawing/2014/main" id="{B8FFBE3C-3808-2379-AAD3-03BA077DFE4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08172" y="2879227"/>
                        <a:ext cx="342038" cy="523220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B4629566-5D2A-22B8-8E9B-2567EE961F71}"/>
                      </a:ext>
                    </a:extLst>
                  </p:cNvPr>
                  <p:cNvSpPr/>
                  <p:nvPr/>
                </p:nvSpPr>
                <p:spPr>
                  <a:xfrm>
                    <a:off x="6715638" y="2960817"/>
                    <a:ext cx="432048" cy="42763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3EAD1FA-D9D3-C0FF-FE93-029D48263A04}"/>
                    </a:ext>
                  </a:extLst>
                </p:cNvPr>
                <p:cNvGrpSpPr/>
                <p:nvPr/>
              </p:nvGrpSpPr>
              <p:grpSpPr>
                <a:xfrm>
                  <a:off x="1992514" y="3167390"/>
                  <a:ext cx="434572" cy="523220"/>
                  <a:chOff x="6409697" y="2851575"/>
                  <a:chExt cx="434572" cy="52322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" name="TextBox 16">
                        <a:extLst>
                          <a:ext uri="{FF2B5EF4-FFF2-40B4-BE49-F238E27FC236}">
                            <a16:creationId xmlns:a16="http://schemas.microsoft.com/office/drawing/2014/main" id="{46A995C2-2477-33DE-366D-FCAD606CB7F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502231" y="2851575"/>
                        <a:ext cx="34203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7" name="TextBox 16">
                        <a:extLst>
                          <a:ext uri="{FF2B5EF4-FFF2-40B4-BE49-F238E27FC236}">
                            <a16:creationId xmlns:a16="http://schemas.microsoft.com/office/drawing/2014/main" id="{46A995C2-2477-33DE-366D-FCAD606CB7F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502231" y="2851575"/>
                        <a:ext cx="342038" cy="52322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30816741-BBCD-AB18-3E72-433E974EE6C5}"/>
                      </a:ext>
                    </a:extLst>
                  </p:cNvPr>
                  <p:cNvSpPr/>
                  <p:nvPr/>
                </p:nvSpPr>
                <p:spPr>
                  <a:xfrm>
                    <a:off x="6409697" y="2933165"/>
                    <a:ext cx="432048" cy="42763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C6A63F3E-AFAF-291B-9739-98DC5525D430}"/>
                    </a:ext>
                  </a:extLst>
                </p:cNvPr>
                <p:cNvSpPr/>
                <p:nvPr/>
              </p:nvSpPr>
              <p:spPr>
                <a:xfrm>
                  <a:off x="2424562" y="2950694"/>
                  <a:ext cx="6518716" cy="1022720"/>
                </a:xfrm>
                <a:custGeom>
                  <a:avLst/>
                  <a:gdLst>
                    <a:gd name="connsiteX0" fmla="*/ 0 w 6556917"/>
                    <a:gd name="connsiteY0" fmla="*/ 495033 h 1022720"/>
                    <a:gd name="connsiteX1" fmla="*/ 1271239 w 6556917"/>
                    <a:gd name="connsiteY1" fmla="*/ 15530 h 1022720"/>
                    <a:gd name="connsiteX2" fmla="*/ 3891776 w 6556917"/>
                    <a:gd name="connsiteY2" fmla="*/ 1007989 h 1022720"/>
                    <a:gd name="connsiteX3" fmla="*/ 6556917 w 6556917"/>
                    <a:gd name="connsiteY3" fmla="*/ 517335 h 1022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56917" h="1022720">
                      <a:moveTo>
                        <a:pt x="0" y="495033"/>
                      </a:moveTo>
                      <a:cubicBezTo>
                        <a:pt x="311305" y="212535"/>
                        <a:pt x="622610" y="-69963"/>
                        <a:pt x="1271239" y="15530"/>
                      </a:cubicBezTo>
                      <a:cubicBezTo>
                        <a:pt x="1919868" y="101023"/>
                        <a:pt x="3010830" y="924355"/>
                        <a:pt x="3891776" y="1007989"/>
                      </a:cubicBezTo>
                      <a:cubicBezTo>
                        <a:pt x="4772722" y="1091623"/>
                        <a:pt x="5664819" y="804479"/>
                        <a:pt x="6556917" y="517335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L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5A07454-BB1F-8928-1604-CF9924ED6D88}"/>
                      </a:ext>
                    </a:extLst>
                  </p:cNvPr>
                  <p:cNvSpPr txBox="1"/>
                  <p:nvPr/>
                </p:nvSpPr>
                <p:spPr>
                  <a:xfrm>
                    <a:off x="4628620" y="2848284"/>
                    <a:ext cx="1368152" cy="52322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oMath>
                      </m:oMathPara>
                    </a14:m>
                    <a:endParaRPr lang="en-IL" sz="2800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5A07454-BB1F-8928-1604-CF9924ED6D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28620" y="2848284"/>
                    <a:ext cx="1368152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9A9DD4E-F147-4FE8-68C4-CE59B7F07A86}"/>
                </a:ext>
              </a:extLst>
            </p:cNvPr>
            <p:cNvGrpSpPr/>
            <p:nvPr/>
          </p:nvGrpSpPr>
          <p:grpSpPr>
            <a:xfrm>
              <a:off x="8029679" y="3301323"/>
              <a:ext cx="1479560" cy="587273"/>
              <a:chOff x="7877279" y="3148923"/>
              <a:chExt cx="1479560" cy="587273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1F07A136-0A79-36E9-A180-948E7273B28C}"/>
                  </a:ext>
                </a:extLst>
              </p:cNvPr>
              <p:cNvCxnSpPr>
                <a:cxnSpLocks/>
                <a:endCxn id="16" idx="3"/>
              </p:cNvCxnSpPr>
              <p:nvPr/>
            </p:nvCxnSpPr>
            <p:spPr>
              <a:xfrm flipV="1">
                <a:off x="8309327" y="3148923"/>
                <a:ext cx="1047512" cy="32566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F88710F-0EB2-7E33-5A86-CC2FB5EC6553}"/>
                  </a:ext>
                </a:extLst>
              </p:cNvPr>
              <p:cNvGrpSpPr/>
              <p:nvPr/>
            </p:nvGrpSpPr>
            <p:grpSpPr>
              <a:xfrm>
                <a:off x="7877279" y="3212976"/>
                <a:ext cx="434572" cy="523220"/>
                <a:chOff x="9503753" y="3000684"/>
                <a:chExt cx="434572" cy="523220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B3F9720-A5FB-59E6-99DF-190578CF7D10}"/>
                    </a:ext>
                  </a:extLst>
                </p:cNvPr>
                <p:cNvSpPr/>
                <p:nvPr/>
              </p:nvSpPr>
              <p:spPr>
                <a:xfrm>
                  <a:off x="9503753" y="3082274"/>
                  <a:ext cx="432048" cy="427634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B00EED30-E080-1507-21F8-1D8E48E8F2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96287" y="3000684"/>
                      <a:ext cx="34203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B00EED30-E080-1507-21F8-1D8E48E8F20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96287" y="3000684"/>
                      <a:ext cx="342038" cy="52322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0FA97FB-DFE3-E405-A8EE-572D3F6B51FC}"/>
              </a:ext>
            </a:extLst>
          </p:cNvPr>
          <p:cNvGrpSpPr/>
          <p:nvPr/>
        </p:nvGrpSpPr>
        <p:grpSpPr>
          <a:xfrm>
            <a:off x="7857822" y="739791"/>
            <a:ext cx="1556803" cy="601849"/>
            <a:chOff x="8029679" y="1725349"/>
            <a:chExt cx="1556803" cy="601849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4577439-B453-DC57-63B9-9FCC1B521ED1}"/>
                </a:ext>
              </a:extLst>
            </p:cNvPr>
            <p:cNvCxnSpPr>
              <a:cxnSpLocks/>
              <a:stCxn id="22" idx="6"/>
              <a:endCxn id="20" idx="1"/>
            </p:cNvCxnSpPr>
            <p:nvPr/>
          </p:nvCxnSpPr>
          <p:spPr>
            <a:xfrm>
              <a:off x="8461727" y="2009923"/>
              <a:ext cx="1124755" cy="31727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FF70EAE-4305-85F3-E04C-634EB36E51A7}"/>
                </a:ext>
              </a:extLst>
            </p:cNvPr>
            <p:cNvSpPr/>
            <p:nvPr/>
          </p:nvSpPr>
          <p:spPr>
            <a:xfrm>
              <a:off x="8029679" y="1796106"/>
              <a:ext cx="432048" cy="42763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0AA295C-A28E-B784-F1DC-7C10C5A7798F}"/>
                    </a:ext>
                  </a:extLst>
                </p:cNvPr>
                <p:cNvSpPr txBox="1"/>
                <p:nvPr/>
              </p:nvSpPr>
              <p:spPr>
                <a:xfrm>
                  <a:off x="8119689" y="1725349"/>
                  <a:ext cx="34203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0AA295C-A28E-B784-F1DC-7C10C5A779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9689" y="1725349"/>
                  <a:ext cx="342038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8214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1016732"/>
                <a:ext cx="10261140" cy="48659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BFS</a:t>
                </a:r>
                <a:r>
                  <a:rPr lang="en-US" sz="2800" dirty="0"/>
                  <a:t> applicable for </a:t>
                </a:r>
                <a:r>
                  <a:rPr lang="en-US" sz="2800" b="1" i="1" dirty="0"/>
                  <a:t>directed</a:t>
                </a:r>
                <a:r>
                  <a:rPr lang="en-US" sz="2800" dirty="0"/>
                  <a:t> graphs by replacing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</m:e>
                    </m:d>
                  </m:oMath>
                </a14:m>
                <a:r>
                  <a:rPr lang="en-US" sz="2800" dirty="0"/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Runtime</a:t>
                </a:r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ENQUEUE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DEQUEUE</m:t>
                    </m:r>
                  </m:oMath>
                </a14:m>
                <a:r>
                  <a:rPr lang="en-US" sz="2800" dirty="0"/>
                  <a:t> take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/>
                  <a:t>.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ENQUEUE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DEQUEUE</m:t>
                    </m:r>
                  </m:oMath>
                </a14:m>
                <a:r>
                  <a:rPr lang="en-US" sz="2800" dirty="0"/>
                  <a:t> once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Using Boolean array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sz="2800" dirty="0"/>
                  <a:t> for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𝓣</m:t>
                    </m:r>
                  </m:oMath>
                </a14:m>
                <a:r>
                  <a:rPr lang="en-US" sz="2800" dirty="0"/>
                  <a:t>, checking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𝓣</m:t>
                    </m:r>
                  </m:oMath>
                </a14:m>
                <a:r>
                  <a:rPr lang="en-US" sz="2800" dirty="0"/>
                  <a:t> takes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treated twice, from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800" dirty="0"/>
                  <a:t> from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800" dirty="0"/>
                  <a:t>,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All in all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016732"/>
                <a:ext cx="10261140" cy="4865947"/>
              </a:xfrm>
              <a:prstGeom prst="rect">
                <a:avLst/>
              </a:prstGeom>
              <a:blipFill>
                <a:blip r:embed="rId3"/>
                <a:stretch>
                  <a:fillRect l="-1188" t="-627" r="-1188" b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34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836712"/>
                <a:ext cx="10261140" cy="51785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Shortest path </a:t>
                </a:r>
                <a:r>
                  <a:rPr lang="en-US" sz="2800" dirty="0"/>
                  <a:t>constructed by augmenting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𝓣</m:t>
                    </m:r>
                  </m:oMath>
                </a14:m>
                <a:r>
                  <a:rPr lang="en-US" sz="2800" dirty="0"/>
                  <a:t> with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800" dirty="0"/>
                  <a:t>, obtained by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 </a:t>
                </a:r>
                <a:r>
                  <a:rPr lang="en-US" sz="2800" b="1" i="1" dirty="0"/>
                  <a:t>spanning tree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/>
                  <a:t> of a connected graph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800" dirty="0"/>
                  <a:t> is an edge-maximal, connected, cycle-free subgraph (see lecture 9).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: prove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800" dirty="0"/>
                  <a:t>.)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 by product of </a:t>
                </a:r>
                <a:r>
                  <a:rPr lang="en-US" sz="2800" b="1" dirty="0"/>
                  <a:t>BFS </a:t>
                </a:r>
                <a:r>
                  <a:rPr lang="en-US" sz="2800" dirty="0"/>
                  <a:t>is a spanning tree construction.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be labeled by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(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), then mark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BFS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 is spanning tree (</a:t>
                </a:r>
                <a:r>
                  <a:rPr lang="en-US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HW</a:t>
                </a:r>
                <a:r>
                  <a:rPr lang="en-US" sz="2800" dirty="0">
                    <a:ea typeface="Cambria Math" panose="02040503050406030204" pitchFamily="18" charset="0"/>
                  </a:rPr>
                  <a:t>: prove).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836712"/>
                <a:ext cx="10261140" cy="5178597"/>
              </a:xfrm>
              <a:prstGeom prst="rect">
                <a:avLst/>
              </a:prstGeom>
              <a:blipFill>
                <a:blip r:embed="rId3"/>
                <a:stretch>
                  <a:fillRect l="-1188" t="-118" r="-1188" b="-152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52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120353" y="454734"/>
            <a:ext cx="5951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Depth First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430" y="1166727"/>
            <a:ext cx="10261140" cy="1091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dirty="0"/>
              <a:t>Spanning tree can be found differently by </a:t>
            </a:r>
            <a:r>
              <a:rPr lang="en-US" sz="2800" b="1" i="1" dirty="0"/>
              <a:t>Depth-First Search</a:t>
            </a:r>
            <a:r>
              <a:rPr lang="en-US" sz="2800" dirty="0"/>
              <a:t> (</a:t>
            </a:r>
            <a:r>
              <a:rPr lang="en-US" sz="2800" b="1" dirty="0"/>
              <a:t>DFS</a:t>
            </a:r>
            <a:r>
              <a:rPr lang="en-US" sz="2800" dirty="0"/>
              <a:t>, J. Hopcroft and R. Tarjan 1973).</a:t>
            </a:r>
          </a:p>
        </p:txBody>
      </p:sp>
      <p:sp>
        <p:nvSpPr>
          <p:cNvPr id="7" name="Oval 6"/>
          <p:cNvSpPr/>
          <p:nvPr/>
        </p:nvSpPr>
        <p:spPr>
          <a:xfrm>
            <a:off x="5883625" y="2197738"/>
            <a:ext cx="432048" cy="43204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894589" y="4080469"/>
            <a:ext cx="432048" cy="43204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7" idx="4"/>
            <a:endCxn id="8" idx="0"/>
          </p:cNvCxnSpPr>
          <p:nvPr/>
        </p:nvCxnSpPr>
        <p:spPr>
          <a:xfrm>
            <a:off x="6099649" y="2629786"/>
            <a:ext cx="10964" cy="14506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26" idx="4"/>
            <a:endCxn id="13" idx="0"/>
          </p:cNvCxnSpPr>
          <p:nvPr/>
        </p:nvCxnSpPr>
        <p:spPr>
          <a:xfrm flipH="1">
            <a:off x="6057931" y="4526639"/>
            <a:ext cx="45407" cy="126904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8" idx="5"/>
            <a:endCxn id="12" idx="1"/>
          </p:cNvCxnSpPr>
          <p:nvPr/>
        </p:nvCxnSpPr>
        <p:spPr>
          <a:xfrm>
            <a:off x="6263365" y="4449245"/>
            <a:ext cx="1290924" cy="6416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91017" y="5027599"/>
            <a:ext cx="432048" cy="43204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841907" y="5795682"/>
            <a:ext cx="432048" cy="43204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>
            <a:stCxn id="13" idx="6"/>
            <a:endCxn id="12" idx="3"/>
          </p:cNvCxnSpPr>
          <p:nvPr/>
        </p:nvCxnSpPr>
        <p:spPr>
          <a:xfrm flipV="1">
            <a:off x="6273955" y="5396375"/>
            <a:ext cx="1280334" cy="6153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247140" y="3112149"/>
            <a:ext cx="432048" cy="43204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>
            <a:stCxn id="7" idx="6"/>
            <a:endCxn id="15" idx="1"/>
          </p:cNvCxnSpPr>
          <p:nvPr/>
        </p:nvCxnSpPr>
        <p:spPr>
          <a:xfrm>
            <a:off x="6315673" y="2413762"/>
            <a:ext cx="994739" cy="7616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7"/>
            <a:endCxn id="15" idx="3"/>
          </p:cNvCxnSpPr>
          <p:nvPr/>
        </p:nvCxnSpPr>
        <p:spPr>
          <a:xfrm flipV="1">
            <a:off x="6263365" y="3480925"/>
            <a:ext cx="1047047" cy="6628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2" idx="0"/>
            <a:endCxn id="15" idx="4"/>
          </p:cNvCxnSpPr>
          <p:nvPr/>
        </p:nvCxnSpPr>
        <p:spPr>
          <a:xfrm flipH="1" flipV="1">
            <a:off x="7463164" y="3544197"/>
            <a:ext cx="243877" cy="14834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5865822" y="2156616"/>
            <a:ext cx="432048" cy="523220"/>
            <a:chOff x="9320163" y="1477356"/>
            <a:chExt cx="432048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9359500" y="1477356"/>
                  <a:ext cx="3600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9500" y="1477356"/>
                  <a:ext cx="36004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Oval 20"/>
            <p:cNvSpPr/>
            <p:nvPr/>
          </p:nvSpPr>
          <p:spPr>
            <a:xfrm>
              <a:off x="9320163" y="1518619"/>
              <a:ext cx="432048" cy="432048"/>
            </a:xfrm>
            <a:prstGeom prst="ellipse">
              <a:avLst/>
            </a:prstGeom>
            <a:solidFill>
              <a:srgbClr val="0000FF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887314" y="2634129"/>
            <a:ext cx="432048" cy="1928546"/>
            <a:chOff x="9180959" y="2167144"/>
            <a:chExt cx="432048" cy="19285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9210857" y="3572470"/>
                  <a:ext cx="3600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0857" y="3572470"/>
                  <a:ext cx="36004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" name="Group 23"/>
            <p:cNvGrpSpPr/>
            <p:nvPr/>
          </p:nvGrpSpPr>
          <p:grpSpPr>
            <a:xfrm>
              <a:off x="9180959" y="2167144"/>
              <a:ext cx="432048" cy="1892510"/>
              <a:chOff x="8718571" y="2043749"/>
              <a:chExt cx="432048" cy="1892510"/>
            </a:xfrm>
          </p:grpSpPr>
          <p:cxnSp>
            <p:nvCxnSpPr>
              <p:cNvPr id="25" name="Straight Connector 24"/>
              <p:cNvCxnSpPr>
                <a:endCxn id="26" idx="0"/>
              </p:cNvCxnSpPr>
              <p:nvPr/>
            </p:nvCxnSpPr>
            <p:spPr>
              <a:xfrm flipH="1">
                <a:off x="8934595" y="2043749"/>
                <a:ext cx="2659" cy="1460462"/>
              </a:xfrm>
              <a:prstGeom prst="line">
                <a:avLst/>
              </a:prstGeom>
              <a:ln w="76200">
                <a:solidFill>
                  <a:srgbClr val="0000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Oval 25"/>
              <p:cNvSpPr/>
              <p:nvPr/>
            </p:nvSpPr>
            <p:spPr>
              <a:xfrm>
                <a:off x="8718571" y="3504211"/>
                <a:ext cx="432048" cy="432048"/>
              </a:xfrm>
              <a:prstGeom prst="ellipse">
                <a:avLst/>
              </a:prstGeom>
              <a:solidFill>
                <a:srgbClr val="0000FF">
                  <a:alpha val="30196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7" name="Group 26"/>
          <p:cNvGrpSpPr/>
          <p:nvPr/>
        </p:nvGrpSpPr>
        <p:grpSpPr>
          <a:xfrm>
            <a:off x="6273955" y="4449245"/>
            <a:ext cx="1652835" cy="1059249"/>
            <a:chOff x="9211670" y="4023382"/>
            <a:chExt cx="1652835" cy="10592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10454574" y="4559411"/>
                  <a:ext cx="3600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4574" y="4559411"/>
                  <a:ext cx="360040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" name="Group 28"/>
            <p:cNvGrpSpPr/>
            <p:nvPr/>
          </p:nvGrpSpPr>
          <p:grpSpPr>
            <a:xfrm>
              <a:off x="9211670" y="4023382"/>
              <a:ext cx="1652835" cy="1003881"/>
              <a:chOff x="7611517" y="3080275"/>
              <a:chExt cx="1652835" cy="1003881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8832304" y="3652108"/>
                <a:ext cx="432048" cy="432048"/>
              </a:xfrm>
              <a:prstGeom prst="ellipse">
                <a:avLst/>
              </a:prstGeom>
              <a:solidFill>
                <a:srgbClr val="0000FF">
                  <a:alpha val="30196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" name="Straight Connector 30"/>
              <p:cNvCxnSpPr>
                <a:endCxn id="30" idx="1"/>
              </p:cNvCxnSpPr>
              <p:nvPr/>
            </p:nvCxnSpPr>
            <p:spPr>
              <a:xfrm>
                <a:off x="7611517" y="3080275"/>
                <a:ext cx="1284059" cy="635105"/>
              </a:xfrm>
              <a:prstGeom prst="line">
                <a:avLst/>
              </a:prstGeom>
              <a:ln w="76200">
                <a:solidFill>
                  <a:srgbClr val="0000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2" name="Group 31"/>
          <p:cNvGrpSpPr/>
          <p:nvPr/>
        </p:nvGrpSpPr>
        <p:grpSpPr>
          <a:xfrm>
            <a:off x="7253303" y="3073514"/>
            <a:ext cx="457463" cy="1983568"/>
            <a:chOff x="10191018" y="2647651"/>
            <a:chExt cx="457463" cy="1983568"/>
          </a:xfrm>
        </p:grpSpPr>
        <p:grpSp>
          <p:nvGrpSpPr>
            <p:cNvPr id="33" name="Group 32"/>
            <p:cNvGrpSpPr/>
            <p:nvPr/>
          </p:nvGrpSpPr>
          <p:grpSpPr>
            <a:xfrm>
              <a:off x="10194807" y="2684956"/>
              <a:ext cx="453674" cy="1946263"/>
              <a:chOff x="8341580" y="2820764"/>
              <a:chExt cx="453674" cy="1946263"/>
            </a:xfrm>
          </p:grpSpPr>
          <p:sp>
            <p:nvSpPr>
              <p:cNvPr id="35" name="Oval 34"/>
              <p:cNvSpPr/>
              <p:nvPr/>
            </p:nvSpPr>
            <p:spPr>
              <a:xfrm>
                <a:off x="8341580" y="2820764"/>
                <a:ext cx="432048" cy="432048"/>
              </a:xfrm>
              <a:prstGeom prst="ellipse">
                <a:avLst/>
              </a:prstGeom>
              <a:solidFill>
                <a:srgbClr val="0000FF">
                  <a:alpha val="30196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" name="Straight Connector 35"/>
              <p:cNvCxnSpPr>
                <a:stCxn id="30" idx="0"/>
                <a:endCxn id="35" idx="4"/>
              </p:cNvCxnSpPr>
              <p:nvPr/>
            </p:nvCxnSpPr>
            <p:spPr>
              <a:xfrm flipH="1" flipV="1">
                <a:off x="8557604" y="3252812"/>
                <a:ext cx="237650" cy="1514215"/>
              </a:xfrm>
              <a:prstGeom prst="line">
                <a:avLst/>
              </a:prstGeom>
              <a:ln w="76200">
                <a:solidFill>
                  <a:srgbClr val="0000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10191018" y="2647651"/>
                  <a:ext cx="3600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1018" y="2647651"/>
                  <a:ext cx="36004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Straight Connector 36"/>
          <p:cNvCxnSpPr>
            <a:stCxn id="30" idx="0"/>
            <a:endCxn id="15" idx="4"/>
          </p:cNvCxnSpPr>
          <p:nvPr/>
        </p:nvCxnSpPr>
        <p:spPr>
          <a:xfrm flipH="1" flipV="1">
            <a:off x="7463164" y="3544197"/>
            <a:ext cx="247602" cy="1476881"/>
          </a:xfrm>
          <a:prstGeom prst="line">
            <a:avLst/>
          </a:prstGeom>
          <a:ln w="152400">
            <a:solidFill>
              <a:srgbClr val="FF00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/>
          <p:cNvGrpSpPr/>
          <p:nvPr/>
        </p:nvGrpSpPr>
        <p:grpSpPr>
          <a:xfrm>
            <a:off x="5841907" y="5425858"/>
            <a:ext cx="1716107" cy="847458"/>
            <a:chOff x="8729849" y="5322196"/>
            <a:chExt cx="1716107" cy="8474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8759300" y="5646434"/>
                  <a:ext cx="3600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9300" y="5646434"/>
                  <a:ext cx="360040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Group 39"/>
            <p:cNvGrpSpPr/>
            <p:nvPr/>
          </p:nvGrpSpPr>
          <p:grpSpPr>
            <a:xfrm>
              <a:off x="8729849" y="5322196"/>
              <a:ext cx="1716107" cy="803928"/>
              <a:chOff x="8782531" y="3601198"/>
              <a:chExt cx="1716107" cy="803928"/>
            </a:xfrm>
          </p:grpSpPr>
          <p:cxnSp>
            <p:nvCxnSpPr>
              <p:cNvPr id="41" name="Straight Connector 40"/>
              <p:cNvCxnSpPr>
                <a:stCxn id="30" idx="3"/>
                <a:endCxn id="42" idx="6"/>
              </p:cNvCxnSpPr>
              <p:nvPr/>
            </p:nvCxnSpPr>
            <p:spPr>
              <a:xfrm flipH="1">
                <a:off x="9214579" y="3601198"/>
                <a:ext cx="1284059" cy="587904"/>
              </a:xfrm>
              <a:prstGeom prst="line">
                <a:avLst/>
              </a:prstGeom>
              <a:ln w="76200">
                <a:solidFill>
                  <a:srgbClr val="0000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Oval 41"/>
              <p:cNvSpPr/>
              <p:nvPr/>
            </p:nvSpPr>
            <p:spPr>
              <a:xfrm>
                <a:off x="8782531" y="3973078"/>
                <a:ext cx="432048" cy="432048"/>
              </a:xfrm>
              <a:prstGeom prst="ellipse">
                <a:avLst/>
              </a:prstGeom>
              <a:solidFill>
                <a:srgbClr val="0000FF">
                  <a:alpha val="30196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43" name="Straight Connector 42"/>
          <p:cNvCxnSpPr>
            <a:stCxn id="42" idx="6"/>
          </p:cNvCxnSpPr>
          <p:nvPr/>
        </p:nvCxnSpPr>
        <p:spPr>
          <a:xfrm flipV="1">
            <a:off x="6273955" y="5395145"/>
            <a:ext cx="1280462" cy="618617"/>
          </a:xfrm>
          <a:prstGeom prst="line">
            <a:avLst/>
          </a:prstGeom>
          <a:ln w="152400">
            <a:solidFill>
              <a:srgbClr val="FF00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269891" y="4450629"/>
            <a:ext cx="1287609" cy="627504"/>
          </a:xfrm>
          <a:prstGeom prst="line">
            <a:avLst/>
          </a:prstGeom>
          <a:ln w="152400">
            <a:solidFill>
              <a:srgbClr val="FF00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6097525" y="2647945"/>
            <a:ext cx="21492" cy="1464664"/>
          </a:xfrm>
          <a:prstGeom prst="line">
            <a:avLst/>
          </a:prstGeom>
          <a:ln w="152400">
            <a:solidFill>
              <a:srgbClr val="FF00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513351" y="3927717"/>
            <a:ext cx="432048" cy="43204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/>
          <p:cNvCxnSpPr>
            <a:stCxn id="46" idx="7"/>
            <a:endCxn id="7" idx="3"/>
          </p:cNvCxnSpPr>
          <p:nvPr/>
        </p:nvCxnSpPr>
        <p:spPr>
          <a:xfrm flipV="1">
            <a:off x="4882127" y="2566514"/>
            <a:ext cx="1064770" cy="14244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/>
          <p:cNvGrpSpPr/>
          <p:nvPr/>
        </p:nvGrpSpPr>
        <p:grpSpPr>
          <a:xfrm>
            <a:off x="4511824" y="2602659"/>
            <a:ext cx="1417270" cy="1801244"/>
            <a:chOff x="7461194" y="2593388"/>
            <a:chExt cx="1417270" cy="18012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7469733" y="3871412"/>
                  <a:ext cx="3600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9" name="TextBox 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9733" y="3871412"/>
                  <a:ext cx="360040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0" name="Group 49"/>
            <p:cNvGrpSpPr/>
            <p:nvPr/>
          </p:nvGrpSpPr>
          <p:grpSpPr>
            <a:xfrm>
              <a:off x="7461194" y="2593388"/>
              <a:ext cx="1417270" cy="1754607"/>
              <a:chOff x="8341580" y="1498205"/>
              <a:chExt cx="1417270" cy="1754607"/>
            </a:xfrm>
          </p:grpSpPr>
          <p:sp>
            <p:nvSpPr>
              <p:cNvPr id="51" name="Oval 50"/>
              <p:cNvSpPr/>
              <p:nvPr/>
            </p:nvSpPr>
            <p:spPr>
              <a:xfrm>
                <a:off x="8341580" y="2820764"/>
                <a:ext cx="432048" cy="432048"/>
              </a:xfrm>
              <a:prstGeom prst="ellipse">
                <a:avLst/>
              </a:prstGeom>
              <a:solidFill>
                <a:srgbClr val="0000FF">
                  <a:alpha val="30196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Connector 51"/>
              <p:cNvCxnSpPr>
                <a:stCxn id="21" idx="3"/>
                <a:endCxn id="51" idx="7"/>
              </p:cNvCxnSpPr>
              <p:nvPr/>
            </p:nvCxnSpPr>
            <p:spPr>
              <a:xfrm flipH="1">
                <a:off x="8710356" y="1498205"/>
                <a:ext cx="1048494" cy="1385831"/>
              </a:xfrm>
              <a:prstGeom prst="line">
                <a:avLst/>
              </a:prstGeom>
              <a:ln w="76200">
                <a:solidFill>
                  <a:srgbClr val="0000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3" name="Straight Connector 52"/>
          <p:cNvCxnSpPr>
            <a:stCxn id="21" idx="3"/>
            <a:endCxn id="51" idx="7"/>
          </p:cNvCxnSpPr>
          <p:nvPr/>
        </p:nvCxnSpPr>
        <p:spPr>
          <a:xfrm flipH="1">
            <a:off x="4880600" y="2566655"/>
            <a:ext cx="1048494" cy="1421835"/>
          </a:xfrm>
          <a:prstGeom prst="line">
            <a:avLst/>
          </a:prstGeom>
          <a:ln w="152400">
            <a:solidFill>
              <a:srgbClr val="FF00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5296071" y="2620999"/>
            <a:ext cx="707035" cy="3254978"/>
          </a:xfrm>
          <a:custGeom>
            <a:avLst/>
            <a:gdLst>
              <a:gd name="connsiteX0" fmla="*/ 565500 w 652585"/>
              <a:gd name="connsiteY0" fmla="*/ 3316514 h 3316514"/>
              <a:gd name="connsiteX1" fmla="*/ 126443 w 652585"/>
              <a:gd name="connsiteY1" fmla="*/ 2543629 h 3316514"/>
              <a:gd name="connsiteX2" fmla="*/ 13957 w 652585"/>
              <a:gd name="connsiteY2" fmla="*/ 1549400 h 3316514"/>
              <a:gd name="connsiteX3" fmla="*/ 387700 w 652585"/>
              <a:gd name="connsiteY3" fmla="*/ 540657 h 3316514"/>
              <a:gd name="connsiteX4" fmla="*/ 652585 w 652585"/>
              <a:gd name="connsiteY4" fmla="*/ 0 h 3316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585" h="3316514">
                <a:moveTo>
                  <a:pt x="565500" y="3316514"/>
                </a:moveTo>
                <a:cubicBezTo>
                  <a:pt x="391933" y="3077331"/>
                  <a:pt x="218367" y="2838148"/>
                  <a:pt x="126443" y="2543629"/>
                </a:cubicBezTo>
                <a:cubicBezTo>
                  <a:pt x="34519" y="2249110"/>
                  <a:pt x="-29586" y="1883229"/>
                  <a:pt x="13957" y="1549400"/>
                </a:cubicBezTo>
                <a:cubicBezTo>
                  <a:pt x="57500" y="1215571"/>
                  <a:pt x="281262" y="798890"/>
                  <a:pt x="387700" y="540657"/>
                </a:cubicBezTo>
                <a:cubicBezTo>
                  <a:pt x="494138" y="282424"/>
                  <a:pt x="573361" y="141212"/>
                  <a:pt x="652585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8F7F9EA-B00D-46D6-334A-9A4CBFDD2FFD}"/>
                  </a:ext>
                </a:extLst>
              </p:cNvPr>
              <p:cNvSpPr txBox="1"/>
              <p:nvPr/>
            </p:nvSpPr>
            <p:spPr>
              <a:xfrm>
                <a:off x="6326437" y="1850586"/>
                <a:ext cx="3179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IL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8F7F9EA-B00D-46D6-334A-9A4CBFDD2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437" y="1850586"/>
                <a:ext cx="31793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41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47428" y="1111442"/>
                <a:ext cx="10237516" cy="4635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 smtClean="0">
                        <a:latin typeface="Cambria Math" panose="02040503050406030204" pitchFamily="18" charset="0"/>
                      </a:rPr>
                      <m:t>DFS</m:t>
                    </m:r>
                  </m:oMath>
                </a14:m>
                <a:r>
                  <a:rPr lang="en-US" sz="2800" dirty="0"/>
                  <a:t> explores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incident to most recently visited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is yet unvisited, exploration proceeds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800" dirty="0"/>
                  <a:t> further “deeper” in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If all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800" dirty="0"/>
                  <a:t>’s neighbors are visited,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800" dirty="0"/>
                  <a:t> backtracks to the vertex from where it was first visited.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DFS</m:t>
                    </m:r>
                  </m:oMath>
                </a14:m>
                <a:r>
                  <a:rPr lang="en-US" sz="2800" dirty="0"/>
                  <a:t> visits all vertices, all edges are explored.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Backtracked </a:t>
                </a:r>
                <a:r>
                  <a:rPr lang="en-US" sz="2800" dirty="0"/>
                  <a:t>edges constitutes a spanning tree.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28" y="1111442"/>
                <a:ext cx="10237516" cy="4635115"/>
              </a:xfrm>
              <a:prstGeom prst="rect">
                <a:avLst/>
              </a:prstGeom>
              <a:blipFill>
                <a:blip r:embed="rId3"/>
                <a:stretch>
                  <a:fillRect l="-1190" t="-131" r="-1190" b="-197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17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1217458" y="926721"/>
            <a:ext cx="9757084" cy="5349212"/>
            <a:chOff x="1217458" y="926721"/>
            <a:chExt cx="9757084" cy="53492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1343750" y="1012954"/>
                  <a:ext cx="6858484" cy="52629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i="0" dirty="0" smtClean="0">
                            <a:latin typeface="Cambria Math" panose="02040503050406030204" pitchFamily="18" charset="0"/>
                          </a:rPr>
                          <m:t>Procedure</m:t>
                        </m:r>
                        <m:r>
                          <m:rPr>
                            <m:nor/>
                          </m:rPr>
                          <a:rPr lang="en-US" sz="280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i="0" dirty="0" smtClean="0">
                            <a:latin typeface="Cambria Math" panose="02040503050406030204" pitchFamily="18" charset="0"/>
                          </a:rPr>
                          <m:t>DFS</m:t>
                        </m:r>
                        <m:d>
                          <m:d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d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𝓚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𝓕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  <a:p>
                  <a:pPr algn="just"/>
                  <a:r>
                    <a:rPr lang="en-US" sz="2800" dirty="0"/>
                    <a:t>      </a:t>
                  </a:r>
                  <a14:m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mark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new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</m:oMath>
                  </a14:m>
                  <a:endParaRPr lang="en-US" sz="2800" dirty="0"/>
                </a:p>
                <a:p>
                  <a:pPr algn="just"/>
                  <a:r>
                    <a:rPr lang="en-US" sz="2800" dirty="0">
                      <a:ea typeface="Cambria Math" panose="02040503050406030204" pitchFamily="18" charset="0"/>
                    </a:rPr>
                    <a:t>     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do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𝓚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; 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𝓕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en-US" sz="2800" i="1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  <a:p>
                  <a:pPr algn="just"/>
                  <a:r>
                    <a:rPr lang="en-US" sz="2800" dirty="0">
                      <a:ea typeface="Cambria Math" panose="02040503050406030204" pitchFamily="18" charset="0"/>
                    </a:rPr>
                    <a:t>     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𝓚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 ;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;</m:t>
                      </m:r>
                    </m:oMath>
                  </a14:m>
                  <a:endParaRPr lang="en-US" sz="2800" dirty="0"/>
                </a:p>
                <a:p>
                  <a:pPr algn="just"/>
                  <a:endParaRPr lang="en-US" sz="2800" dirty="0"/>
                </a:p>
                <a:p>
                  <a:r>
                    <a:rPr lang="en-US" sz="2800" dirty="0"/>
                    <a:t>     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latin typeface="Cambria Math" panose="02040503050406030204" pitchFamily="18" charset="0"/>
                        </a:rPr>
                        <m:t>while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 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new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/>
                        <m:t>||</m:t>
                      </m:r>
                      <m:r>
                        <m:rPr>
                          <m:nor/>
                        </m:rPr>
                        <a:rPr lang="en-US" sz="2800" b="0" i="0" dirty="0" smtClean="0"/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𝓕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a14:m>
                  <a:endParaRPr lang="en-US" sz="2800" dirty="0"/>
                </a:p>
                <a:p>
                  <a:r>
                    <a:rPr lang="en-US" sz="2800" b="0" dirty="0"/>
                    <a:t>           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 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new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a14:m>
                  <a:endParaRPr lang="en-US" sz="2800" dirty="0"/>
                </a:p>
                <a:p>
                  <a:pPr algn="just"/>
                  <a:r>
                    <a:rPr lang="en-US" sz="2800" dirty="0"/>
                    <a:t>                 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mark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old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“</m:t>
                      </m:r>
                    </m:oMath>
                  </a14:m>
                  <a:endParaRPr lang="en-US" sz="2800" dirty="0"/>
                </a:p>
                <a:p>
                  <a:pPr algn="just"/>
                  <a:r>
                    <a:rPr lang="en-US" sz="2800" dirty="0"/>
                    <a:t>                 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>
                          <a:latin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𝓚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lang="en-US" sz="2800" dirty="0"/>
                </a:p>
                <a:p>
                  <a:pPr algn="just"/>
                  <a:endParaRPr lang="en-US" sz="2800" dirty="0"/>
                </a:p>
                <a:p>
                  <a:pPr algn="just"/>
                  <a:r>
                    <a:rPr lang="en-US" sz="2800" dirty="0"/>
                    <a:t>                     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𝓕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;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𝓚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++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;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a14:m>
                  <a:endParaRPr lang="en-US" sz="2800" dirty="0"/>
                </a:p>
                <a:p>
                  <a:pPr algn="just"/>
                  <a:r>
                    <a:rPr lang="en-US" sz="2800" dirty="0"/>
                    <a:t>           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latin typeface="Cambria Math" panose="02040503050406030204" pitchFamily="18" charset="0"/>
                        </a:rPr>
                        <m:t>else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𝓕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3750" y="1012954"/>
                  <a:ext cx="6858484" cy="526297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Rectangle 13"/>
            <p:cNvSpPr/>
            <p:nvPr/>
          </p:nvSpPr>
          <p:spPr>
            <a:xfrm>
              <a:off x="1217458" y="926721"/>
              <a:ext cx="9685077" cy="5349211"/>
            </a:xfrm>
            <a:prstGeom prst="rect">
              <a:avLst/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1811244" y="1452127"/>
              <a:ext cx="9163298" cy="4772428"/>
              <a:chOff x="1811244" y="1452127"/>
              <a:chExt cx="9163298" cy="47724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6870085" y="1452127"/>
                    <a:ext cx="4104457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</a:t>
                    </a:r>
                    <a14:m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𝓚</m:t>
                        </m:r>
                      </m:oMath>
                    </a14:m>
                    <a:r>
                      <a:rPr lang="en-US" sz="2800" dirty="0">
                        <a:solidFill>
                          <a:srgbClr val="009900"/>
                        </a:solidFill>
                      </a:rPr>
                      <a:t>: first visit time stamp</a:t>
                    </a:r>
                  </a:p>
                </p:txBody>
              </p:sp>
            </mc:Choice>
            <mc:Fallback xmlns="">
              <p:sp>
                <p:nvSpPr>
                  <p:cNvPr id="8" name="TextBox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70085" y="1452127"/>
                    <a:ext cx="4104457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120" t="-10465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6851033" y="1873700"/>
                    <a:ext cx="4123509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800" dirty="0">
                        <a:solidFill>
                          <a:srgbClr val="009900"/>
                        </a:solidFill>
                      </a:rPr>
                      <a:t>// </a:t>
                    </a:r>
                    <a14:m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𝓕</m:t>
                        </m:r>
                      </m:oMath>
                    </a14:m>
                    <a:r>
                      <a:rPr lang="en-US" sz="2800" dirty="0">
                        <a:solidFill>
                          <a:srgbClr val="009900"/>
                        </a:solidFill>
                      </a:rPr>
                      <a:t>: where visited from </a:t>
                    </a:r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51033" y="1873700"/>
                    <a:ext cx="4123509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107" t="-10465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TextBox 9"/>
              <p:cNvSpPr txBox="1"/>
              <p:nvPr/>
            </p:nvSpPr>
            <p:spPr>
              <a:xfrm>
                <a:off x="4619557" y="4416645"/>
                <a:ext cx="25385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first time visit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811244" y="2748702"/>
                <a:ext cx="457362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explore all vertex neighbors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547828" y="5701335"/>
                <a:ext cx="205334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backtrack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3179676" y="4896915"/>
                <a:ext cx="64447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set time stamp and proceed forward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96381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757443" y="819265"/>
                <a:ext cx="10261140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Lemma </a:t>
                </a:r>
                <a:r>
                  <a:rPr lang="en-US" sz="2800" dirty="0"/>
                  <a:t>2: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DFS</m:t>
                    </m:r>
                  </m:oMath>
                </a14:m>
                <a:r>
                  <a:rPr lang="en-US" sz="2800" dirty="0"/>
                  <a:t> halts.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: Otherwise, loop iterates infinitely.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sz="2800" dirty="0"/>
                  <a:t>At every iteration either of the two occurs:</a:t>
                </a:r>
              </a:p>
              <a:p>
                <a:pPr marL="514350" indent="-514350" algn="just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800" dirty="0"/>
                  <a:t>a “new” edge is changed to “old” or,</a:t>
                </a:r>
              </a:p>
              <a:p>
                <a:pPr marL="514350" indent="-514350" algn="just">
                  <a:lnSpc>
                    <a:spcPct val="120000"/>
                  </a:lnSpc>
                  <a:spcAft>
                    <a:spcPts val="1800"/>
                  </a:spcAft>
                  <a:buFont typeface="+mj-lt"/>
                  <a:buAutoNum type="arabicPeriod"/>
                </a:pPr>
                <a:r>
                  <a:rPr lang="en-US" sz="2800" dirty="0"/>
                  <a:t>an already visited vertex backtracks.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43" y="819265"/>
                <a:ext cx="10261140" cy="3139321"/>
              </a:xfrm>
              <a:prstGeom prst="rect">
                <a:avLst/>
              </a:prstGeom>
              <a:blipFill>
                <a:blip r:embed="rId3"/>
                <a:stretch>
                  <a:fillRect l="-1247" t="-194" b="-368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65430" y="3861048"/>
            <a:ext cx="7110790" cy="1837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dirty="0"/>
              <a:t>Since the loop is conditioned by 1 or 2, 1 cannot occur infinite times. </a:t>
            </a:r>
          </a:p>
          <a:p>
            <a:pPr algn="just">
              <a:lnSpc>
                <a:spcPct val="120000"/>
              </a:lnSpc>
              <a:spcAft>
                <a:spcPts val="1800"/>
              </a:spcAft>
            </a:pPr>
            <a:r>
              <a:rPr lang="en-US" sz="2800" dirty="0"/>
              <a:t>So, 2 occur infinitely, 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⇒</a:t>
            </a:r>
            <a:r>
              <a:rPr lang="en-US" sz="2800" dirty="0"/>
              <a:t> a cyclic backtracking.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8805769" y="1946485"/>
            <a:ext cx="2323841" cy="1069818"/>
            <a:chOff x="8805769" y="3389489"/>
            <a:chExt cx="2323841" cy="10698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9282354" y="3933056"/>
                  <a:ext cx="34203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2354" y="3933056"/>
                  <a:ext cx="342038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10406048" y="3936087"/>
                  <a:ext cx="34203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6048" y="3936087"/>
                  <a:ext cx="342038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Oval 5"/>
            <p:cNvSpPr/>
            <p:nvPr/>
          </p:nvSpPr>
          <p:spPr>
            <a:xfrm>
              <a:off x="9189820" y="4007908"/>
              <a:ext cx="432048" cy="4343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0313514" y="3994099"/>
              <a:ext cx="432048" cy="45121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>
              <a:cxnSpLocks/>
              <a:stCxn id="6" idx="6"/>
              <a:endCxn id="9" idx="2"/>
            </p:cNvCxnSpPr>
            <p:nvPr/>
          </p:nvCxnSpPr>
          <p:spPr>
            <a:xfrm flipV="1">
              <a:off x="9621868" y="4219705"/>
              <a:ext cx="691646" cy="538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8805769" y="3389489"/>
                  <a:ext cx="232384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𝓚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𝓚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5769" y="3389489"/>
                  <a:ext cx="2323841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DDC510B-B482-4D40-B9E0-7D9BA51861F1}"/>
              </a:ext>
            </a:extLst>
          </p:cNvPr>
          <p:cNvGrpSpPr/>
          <p:nvPr/>
        </p:nvGrpSpPr>
        <p:grpSpPr>
          <a:xfrm>
            <a:off x="8484747" y="2707813"/>
            <a:ext cx="2673878" cy="1962904"/>
            <a:chOff x="8484747" y="2707813"/>
            <a:chExt cx="2673878" cy="196290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E066624-350C-9779-3846-15D02F06F76D}"/>
                </a:ext>
              </a:extLst>
            </p:cNvPr>
            <p:cNvGrpSpPr/>
            <p:nvPr/>
          </p:nvGrpSpPr>
          <p:grpSpPr>
            <a:xfrm>
              <a:off x="8544272" y="2707813"/>
              <a:ext cx="2614353" cy="1962904"/>
              <a:chOff x="8544272" y="2707813"/>
              <a:chExt cx="2614353" cy="1962904"/>
            </a:xfrm>
          </p:grpSpPr>
          <p:grpSp>
            <p:nvGrpSpPr>
              <p:cNvPr id="21" name="Group 20"/>
              <p:cNvGrpSpPr/>
              <p:nvPr/>
            </p:nvGrpSpPr>
            <p:grpSpPr>
              <a:xfrm>
                <a:off x="8544272" y="2707813"/>
                <a:ext cx="2614353" cy="1447525"/>
                <a:chOff x="8544272" y="4150817"/>
                <a:chExt cx="2614353" cy="1447525"/>
              </a:xfrm>
            </p:grpSpPr>
            <p:sp>
              <p:nvSpPr>
                <p:cNvPr id="17" name="Arc 16"/>
                <p:cNvSpPr/>
                <p:nvPr/>
              </p:nvSpPr>
              <p:spPr>
                <a:xfrm rot="16200000" flipH="1">
                  <a:off x="9127686" y="3567403"/>
                  <a:ext cx="1447525" cy="2614353"/>
                </a:xfrm>
                <a:prstGeom prst="arc">
                  <a:avLst>
                    <a:gd name="adj1" fmla="val 13697635"/>
                    <a:gd name="adj2" fmla="val 11759491"/>
                  </a:avLst>
                </a:prstGeom>
                <a:ln w="28575">
                  <a:solidFill>
                    <a:srgbClr val="FF0000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/>
                    <p:cNvSpPr/>
                    <p:nvPr/>
                  </p:nvSpPr>
                  <p:spPr>
                    <a:xfrm>
                      <a:off x="8805770" y="4641892"/>
                      <a:ext cx="2323841" cy="52322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𝓚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𝓚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oMath>
                        </m:oMathPara>
                      </a14:m>
                      <a:endParaRPr lang="en-US" sz="28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Rectangle 1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05770" y="4641892"/>
                      <a:ext cx="2323841" cy="52322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DE7067-8F92-51CF-66D5-56EF0B674B80}"/>
                  </a:ext>
                </a:extLst>
              </p:cNvPr>
              <p:cNvSpPr txBox="1"/>
              <p:nvPr/>
            </p:nvSpPr>
            <p:spPr>
              <a:xfrm>
                <a:off x="8916795" y="4147497"/>
                <a:ext cx="210178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backtracking</a:t>
                </a:r>
                <a:endParaRPr lang="en-IL" sz="28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C1A2381-AFF6-29C9-A65E-853CB53FCEBA}"/>
                </a:ext>
              </a:extLst>
            </p:cNvPr>
            <p:cNvSpPr/>
            <p:nvPr/>
          </p:nvSpPr>
          <p:spPr>
            <a:xfrm>
              <a:off x="8484747" y="2903343"/>
              <a:ext cx="432048" cy="43437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057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872716"/>
                <a:ext cx="10261140" cy="5152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Once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𝓕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800" dirty="0"/>
                  <a:t> changed to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𝓕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800" dirty="0"/>
                  <a:t> already visited before, so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𝓚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𝓚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 dirty="0"/>
                  <a:t>, contradicting cyclic backtracking.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sz="2800" dirty="0"/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Lemma </a:t>
                </a:r>
                <a:r>
                  <a:rPr lang="en-US" sz="2800" dirty="0"/>
                  <a:t>3: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DFS</m:t>
                    </m:r>
                  </m:oMath>
                </a14:m>
                <a:r>
                  <a:rPr lang="en-US" sz="2800" dirty="0"/>
                  <a:t> visits all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: Assume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is unvisited after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DFS</m:t>
                    </m:r>
                  </m:oMath>
                </a14:m>
                <a:r>
                  <a:rPr lang="en-US" sz="2800" dirty="0"/>
                  <a:t> halts.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Let 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be the last visited and consider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, which all edges are “new”, particularly the edge incident to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Since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𝓕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≠∅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800" dirty="0"/>
                  <a:t> couldn’t be backtracked unless all its incident edges are “old”, hence it cannot be the last visited along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.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872716"/>
                <a:ext cx="10261140" cy="5152180"/>
              </a:xfrm>
              <a:prstGeom prst="rect">
                <a:avLst/>
              </a:prstGeom>
              <a:blipFill>
                <a:blip r:embed="rId3"/>
                <a:stretch>
                  <a:fillRect l="-1188" t="-118" r="-1188" b="-17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44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1134145"/>
                <a:ext cx="10261140" cy="4599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Lemma </a:t>
                </a:r>
                <a:r>
                  <a:rPr lang="en-US" sz="2800" dirty="0"/>
                  <a:t>4: Backtracked edges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800" dirty="0"/>
                  <a:t> yield a spanning tree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DFS</m:t>
                    </m:r>
                  </m:oMath>
                </a14:m>
                <a:r>
                  <a:rPr lang="en-US" sz="2800" dirty="0"/>
                  <a:t> visits all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of solely backtracked edges.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800" dirty="0"/>
                  <a:t> have cycle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:r>
                  <a:rPr lang="en-US" sz="2800" dirty="0"/>
                  <a:t>cyclic indexing of vertices along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/>
                  <a:t>, impossible by Lemma 2.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Thus,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/>
                  <a:t> obtained by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supHide m:val="on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800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800" dirty="0"/>
                  <a:t> is cycle-free, hence a tree.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sz="2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DFS</m:t>
                    </m:r>
                  </m:oMath>
                </a14:m>
                <a:r>
                  <a:rPr lang="en-US" sz="2800" dirty="0"/>
                  <a:t> examines edge once. Some are backtracked once. Initialization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l-GR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l-GR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. DFS runtime is 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l-GR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l-GR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. 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134145"/>
                <a:ext cx="10261140" cy="4599529"/>
              </a:xfrm>
              <a:prstGeom prst="rect">
                <a:avLst/>
              </a:prstGeom>
              <a:blipFill>
                <a:blip r:embed="rId3"/>
                <a:stretch>
                  <a:fillRect l="-1188" t="-132" r="-1188" b="-278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913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728700"/>
                <a:ext cx="10261140" cy="5444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i="1" dirty="0"/>
                  <a:t>Directed graph </a:t>
                </a:r>
                <a:r>
                  <a:rPr lang="en-US" sz="2800" dirty="0"/>
                  <a:t>(</a:t>
                </a:r>
                <a:r>
                  <a:rPr lang="en-US" sz="2800" b="1" i="1" dirty="0"/>
                  <a:t>digraph</a:t>
                </a:r>
                <a:r>
                  <a:rPr lang="en-US" sz="2800" dirty="0"/>
                  <a:t>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800" dirty="0"/>
                  <a:t> defined similarly to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800" dirty="0"/>
                  <a:t> except that end-vertices are ordered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sz="2800" dirty="0"/>
                  <a:t> is called </a:t>
                </a:r>
                <a:r>
                  <a:rPr lang="en-US" sz="2800" b="1" i="1" dirty="0"/>
                  <a:t>arc</a:t>
                </a:r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Arcs can also have </a:t>
                </a:r>
                <a:r>
                  <a:rPr lang="en-US" sz="2800" b="1" i="1" dirty="0"/>
                  <a:t>weight</a:t>
                </a:r>
                <a:r>
                  <a:rPr lang="en-US" sz="2800" dirty="0"/>
                  <a:t> defined by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: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The </a:t>
                </a:r>
                <a:r>
                  <a:rPr lang="en-US" sz="2800" b="1" i="1" dirty="0"/>
                  <a:t>in-degree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is the number of arcs entering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. </a:t>
                </a:r>
                <a:r>
                  <a:rPr lang="en-US" sz="2800" b="1" i="1" dirty="0"/>
                  <a:t>Out-degree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is the number of leaving arcs. A finite digraph satisfies</a:t>
                </a:r>
              </a:p>
              <a:p>
                <a:pPr algn="ctr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nary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800" dirty="0"/>
                  <a:t>-length arc sequence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,…,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8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is called </a:t>
                </a:r>
                <a:r>
                  <a:rPr lang="en-US" sz="2800" b="1" i="1" dirty="0"/>
                  <a:t>directed path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. </a:t>
                </a:r>
                <a:r>
                  <a:rPr lang="en-US" sz="2800" b="1" i="1" dirty="0"/>
                  <a:t>Cycle</a:t>
                </a:r>
                <a:r>
                  <a:rPr lang="en-US" sz="2800" dirty="0"/>
                  <a:t> is defined accordingly.</a:t>
                </a: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728700"/>
                <a:ext cx="10261140" cy="5444504"/>
              </a:xfrm>
              <a:prstGeom prst="rect">
                <a:avLst/>
              </a:prstGeom>
              <a:blipFill>
                <a:blip r:embed="rId3"/>
                <a:stretch>
                  <a:fillRect l="-1188" r="-1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405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22" y="692696"/>
            <a:ext cx="3520097" cy="1935024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7428148" y="698987"/>
            <a:ext cx="2847975" cy="3102050"/>
            <a:chOff x="7428148" y="698987"/>
            <a:chExt cx="2847975" cy="3102050"/>
          </a:xfrm>
        </p:grpSpPr>
        <p:sp>
          <p:nvSpPr>
            <p:cNvPr id="9" name="TextBox 8"/>
            <p:cNvSpPr txBox="1"/>
            <p:nvPr/>
          </p:nvSpPr>
          <p:spPr>
            <a:xfrm>
              <a:off x="7428148" y="3277817"/>
              <a:ext cx="22682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Adjacency list</a:t>
              </a:r>
              <a:endParaRPr lang="en-US" sz="2800" b="1" i="1" dirty="0">
                <a:latin typeface="Cambria Math" panose="02040503050406030204" pitchFamily="18" charset="0"/>
              </a:endParaRP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28148" y="698987"/>
              <a:ext cx="2847975" cy="2638425"/>
            </a:xfrm>
            <a:prstGeom prst="rect">
              <a:avLst/>
            </a:prstGeom>
          </p:spPr>
        </p:pic>
      </p:grpSp>
      <p:grpSp>
        <p:nvGrpSpPr>
          <p:cNvPr id="15" name="Group 14"/>
          <p:cNvGrpSpPr/>
          <p:nvPr/>
        </p:nvGrpSpPr>
        <p:grpSpPr>
          <a:xfrm>
            <a:off x="969567" y="2708920"/>
            <a:ext cx="5666493" cy="2905125"/>
            <a:chOff x="969567" y="3212976"/>
            <a:chExt cx="5666493" cy="2905125"/>
          </a:xfrm>
        </p:grpSpPr>
        <p:sp>
          <p:nvSpPr>
            <p:cNvPr id="12" name="TextBox 11"/>
            <p:cNvSpPr txBox="1"/>
            <p:nvPr/>
          </p:nvSpPr>
          <p:spPr>
            <a:xfrm>
              <a:off x="3863752" y="4905164"/>
              <a:ext cx="27723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Adjacency matrix</a:t>
              </a: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9567" y="3212976"/>
              <a:ext cx="2809875" cy="290512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965430" y="5697252"/>
                <a:ext cx="10261140" cy="6093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DFS</m:t>
                    </m:r>
                  </m:oMath>
                </a14:m>
                <a:r>
                  <a:rPr lang="en-US" sz="2800" dirty="0"/>
                  <a:t> applicable to digraphs except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800" dirty="0"/>
                  <a:t> replaces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800" dirty="0"/>
                  <a:t>. 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5697252"/>
                <a:ext cx="10261140" cy="609398"/>
              </a:xfrm>
              <a:prstGeom prst="rect">
                <a:avLst/>
              </a:prstGeom>
              <a:blipFill>
                <a:blip r:embed="rId5"/>
                <a:stretch>
                  <a:fillRect t="-2000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489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965430" y="925854"/>
                <a:ext cx="7578842" cy="29711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Lemma </a:t>
                </a:r>
                <a:r>
                  <a:rPr lang="en-US" sz="2800" dirty="0"/>
                  <a:t>5: Let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b="0" dirty="0"/>
                  <a:t> discovered first time and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already discovered, and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800" dirty="0"/>
                  <a:t> be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DFS</m:t>
                    </m:r>
                  </m:oMath>
                </a14:m>
                <a:r>
                  <a:rPr lang="en-US" sz="2800" dirty="0"/>
                  <a:t> subtree rooted at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If upon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800" dirty="0"/>
                  <a:t> discovery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2800" b="0" dirty="0"/>
                  <a:t> s.t.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2800" b="0" dirty="0"/>
                  <a:t>,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800" b="0" dirty="0"/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800" b="0" dirty="0"/>
                  <a:t> already </a:t>
                </a:r>
                <a:r>
                  <a:rPr lang="en-US" sz="2800" dirty="0"/>
                  <a:t>discovered, then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800" b="0" dirty="0"/>
                  <a:t>.</a:t>
                </a:r>
                <a:endParaRPr lang="en-US" sz="2800" b="1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925854"/>
                <a:ext cx="7578842" cy="2971198"/>
              </a:xfrm>
              <a:prstGeom prst="rect">
                <a:avLst/>
              </a:prstGeom>
              <a:blipFill>
                <a:blip r:embed="rId3"/>
                <a:stretch>
                  <a:fillRect l="-1608" t="-411" r="-1608" b="-1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4041068"/>
                <a:ext cx="10261140" cy="1837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: 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800" dirty="0"/>
                  <a:t>, 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2800" dirty="0"/>
                  <a:t>, s.t.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800" dirty="0"/>
                  <a:t> but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Since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DFS</m:t>
                    </m:r>
                  </m:oMath>
                </a14:m>
                <a:r>
                  <a:rPr lang="en-US" sz="2800" dirty="0"/>
                  <a:t> explored all arcs incident at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before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backtracked,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800" dirty="0"/>
                  <a:t> has been explored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/>
                  <a:t> discovered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800" dirty="0"/>
                  <a:t>, contradiction.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4041068"/>
                <a:ext cx="10261140" cy="1837041"/>
              </a:xfrm>
              <a:prstGeom prst="rect">
                <a:avLst/>
              </a:prstGeom>
              <a:blipFill>
                <a:blip r:embed="rId4"/>
                <a:stretch>
                  <a:fillRect l="-1188" t="-664" b="-8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/>
          <p:cNvGrpSpPr/>
          <p:nvPr/>
        </p:nvGrpSpPr>
        <p:grpSpPr>
          <a:xfrm>
            <a:off x="9464556" y="1052736"/>
            <a:ext cx="1889244" cy="3092468"/>
            <a:chOff x="9192345" y="933838"/>
            <a:chExt cx="1889244" cy="3092468"/>
          </a:xfrm>
        </p:grpSpPr>
        <p:grpSp>
          <p:nvGrpSpPr>
            <p:cNvPr id="18" name="Group 17"/>
            <p:cNvGrpSpPr/>
            <p:nvPr/>
          </p:nvGrpSpPr>
          <p:grpSpPr>
            <a:xfrm>
              <a:off x="9670550" y="933838"/>
              <a:ext cx="432048" cy="523220"/>
              <a:chOff x="10794522" y="3808269"/>
              <a:chExt cx="432048" cy="52322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10876744" y="3808269"/>
                    <a:ext cx="34203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8" name="TextBox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76744" y="3808269"/>
                    <a:ext cx="342038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/>
              <p:cNvSpPr/>
              <p:nvPr/>
            </p:nvSpPr>
            <p:spPr>
              <a:xfrm>
                <a:off x="10794522" y="3860380"/>
                <a:ext cx="432048" cy="4512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9920943" y="3503086"/>
              <a:ext cx="434572" cy="523220"/>
              <a:chOff x="10313514" y="872903"/>
              <a:chExt cx="434572" cy="52322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10406048" y="872903"/>
                    <a:ext cx="34203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6048" y="872903"/>
                    <a:ext cx="342038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Oval 10"/>
              <p:cNvSpPr/>
              <p:nvPr/>
            </p:nvSpPr>
            <p:spPr>
              <a:xfrm>
                <a:off x="10313514" y="930915"/>
                <a:ext cx="432048" cy="4512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2" name="Straight Arrow Connector 11"/>
            <p:cNvCxnSpPr>
              <a:stCxn id="11" idx="2"/>
            </p:cNvCxnSpPr>
            <p:nvPr/>
          </p:nvCxnSpPr>
          <p:spPr>
            <a:xfrm flipH="1" flipV="1">
              <a:off x="9264352" y="3727162"/>
              <a:ext cx="656591" cy="5954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9920943" y="2584569"/>
              <a:ext cx="432048" cy="45121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>
              <a:stCxn id="11" idx="1"/>
            </p:cNvCxnSpPr>
            <p:nvPr/>
          </p:nvCxnSpPr>
          <p:spPr>
            <a:xfrm flipH="1" flipV="1">
              <a:off x="9356886" y="3402617"/>
              <a:ext cx="627329" cy="22455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1" idx="7"/>
            </p:cNvCxnSpPr>
            <p:nvPr/>
          </p:nvCxnSpPr>
          <p:spPr>
            <a:xfrm flipV="1">
              <a:off x="10289719" y="3209305"/>
              <a:ext cx="351087" cy="41787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17" idx="2"/>
            </p:cNvCxnSpPr>
            <p:nvPr/>
          </p:nvCxnSpPr>
          <p:spPr>
            <a:xfrm flipH="1" flipV="1">
              <a:off x="9192345" y="2746423"/>
              <a:ext cx="728598" cy="6375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1" idx="0"/>
            </p:cNvCxnSpPr>
            <p:nvPr/>
          </p:nvCxnSpPr>
          <p:spPr>
            <a:xfrm flipH="1" flipV="1">
              <a:off x="10126469" y="3058385"/>
              <a:ext cx="10498" cy="502713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10258144" y="1652565"/>
              <a:ext cx="432048" cy="45121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>
              <a:stCxn id="17" idx="0"/>
              <a:endCxn id="34" idx="4"/>
            </p:cNvCxnSpPr>
            <p:nvPr/>
          </p:nvCxnSpPr>
          <p:spPr>
            <a:xfrm flipV="1">
              <a:off x="10136967" y="2103777"/>
              <a:ext cx="337201" cy="48079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17" idx="6"/>
            </p:cNvCxnSpPr>
            <p:nvPr/>
          </p:nvCxnSpPr>
          <p:spPr>
            <a:xfrm flipV="1">
              <a:off x="10352991" y="2644250"/>
              <a:ext cx="728598" cy="16592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1" idx="6"/>
            </p:cNvCxnSpPr>
            <p:nvPr/>
          </p:nvCxnSpPr>
          <p:spPr>
            <a:xfrm flipV="1">
              <a:off x="10352991" y="3627176"/>
              <a:ext cx="656591" cy="15952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34" idx="7"/>
            </p:cNvCxnSpPr>
            <p:nvPr/>
          </p:nvCxnSpPr>
          <p:spPr>
            <a:xfrm flipV="1">
              <a:off x="10626920" y="1369244"/>
              <a:ext cx="414359" cy="34939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54" idx="0"/>
              <a:endCxn id="10" idx="3"/>
            </p:cNvCxnSpPr>
            <p:nvPr/>
          </p:nvCxnSpPr>
          <p:spPr>
            <a:xfrm flipV="1">
              <a:off x="9474659" y="1371083"/>
              <a:ext cx="259163" cy="38661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 53"/>
            <p:cNvSpPr/>
            <p:nvPr/>
          </p:nvSpPr>
          <p:spPr>
            <a:xfrm>
              <a:off x="9258635" y="1757693"/>
              <a:ext cx="432048" cy="45121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Arrow Connector 54"/>
            <p:cNvCxnSpPr>
              <a:stCxn id="34" idx="2"/>
              <a:endCxn id="54" idx="6"/>
            </p:cNvCxnSpPr>
            <p:nvPr/>
          </p:nvCxnSpPr>
          <p:spPr>
            <a:xfrm flipH="1">
              <a:off x="9690683" y="1878171"/>
              <a:ext cx="567461" cy="10512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Freeform 92"/>
            <p:cNvSpPr/>
            <p:nvPr/>
          </p:nvSpPr>
          <p:spPr>
            <a:xfrm>
              <a:off x="9419458" y="1304764"/>
              <a:ext cx="865424" cy="2286931"/>
            </a:xfrm>
            <a:custGeom>
              <a:avLst/>
              <a:gdLst>
                <a:gd name="connsiteX0" fmla="*/ 612816 w 1007225"/>
                <a:gd name="connsiteY0" fmla="*/ 2183363 h 2183363"/>
                <a:gd name="connsiteX1" fmla="*/ 553100 w 1007225"/>
                <a:gd name="connsiteY1" fmla="*/ 1776549 h 2183363"/>
                <a:gd name="connsiteX2" fmla="*/ 668800 w 1007225"/>
                <a:gd name="connsiteY2" fmla="*/ 1395860 h 2183363"/>
                <a:gd name="connsiteX3" fmla="*/ 986041 w 1007225"/>
                <a:gd name="connsiteY3" fmla="*/ 977848 h 2183363"/>
                <a:gd name="connsiteX4" fmla="*/ 952451 w 1007225"/>
                <a:gd name="connsiteY4" fmla="*/ 806165 h 2183363"/>
                <a:gd name="connsiteX5" fmla="*/ 747177 w 1007225"/>
                <a:gd name="connsiteY5" fmla="*/ 697930 h 2183363"/>
                <a:gd name="connsiteX6" fmla="*/ 403811 w 1007225"/>
                <a:gd name="connsiteY6" fmla="*/ 727788 h 2183363"/>
                <a:gd name="connsiteX7" fmla="*/ 138821 w 1007225"/>
                <a:gd name="connsiteY7" fmla="*/ 742717 h 2183363"/>
                <a:gd name="connsiteX8" fmla="*/ 15657 w 1007225"/>
                <a:gd name="connsiteY8" fmla="*/ 600892 h 2183363"/>
                <a:gd name="connsiteX9" fmla="*/ 8193 w 1007225"/>
                <a:gd name="connsiteY9" fmla="*/ 429208 h 2183363"/>
                <a:gd name="connsiteX10" fmla="*/ 75373 w 1007225"/>
                <a:gd name="connsiteY10" fmla="*/ 212738 h 2183363"/>
                <a:gd name="connsiteX11" fmla="*/ 243324 w 1007225"/>
                <a:gd name="connsiteY11" fmla="*/ 0 h 2183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7225" h="2183363">
                  <a:moveTo>
                    <a:pt x="612816" y="2183363"/>
                  </a:moveTo>
                  <a:cubicBezTo>
                    <a:pt x="578292" y="2045581"/>
                    <a:pt x="543769" y="1907799"/>
                    <a:pt x="553100" y="1776549"/>
                  </a:cubicBezTo>
                  <a:cubicBezTo>
                    <a:pt x="562431" y="1645299"/>
                    <a:pt x="596643" y="1528977"/>
                    <a:pt x="668800" y="1395860"/>
                  </a:cubicBezTo>
                  <a:cubicBezTo>
                    <a:pt x="740957" y="1262743"/>
                    <a:pt x="938766" y="1076130"/>
                    <a:pt x="986041" y="977848"/>
                  </a:cubicBezTo>
                  <a:cubicBezTo>
                    <a:pt x="1033316" y="879565"/>
                    <a:pt x="992262" y="852818"/>
                    <a:pt x="952451" y="806165"/>
                  </a:cubicBezTo>
                  <a:cubicBezTo>
                    <a:pt x="912640" y="759512"/>
                    <a:pt x="838617" y="710993"/>
                    <a:pt x="747177" y="697930"/>
                  </a:cubicBezTo>
                  <a:cubicBezTo>
                    <a:pt x="655737" y="684867"/>
                    <a:pt x="505204" y="720323"/>
                    <a:pt x="403811" y="727788"/>
                  </a:cubicBezTo>
                  <a:cubicBezTo>
                    <a:pt x="302418" y="735252"/>
                    <a:pt x="203513" y="763866"/>
                    <a:pt x="138821" y="742717"/>
                  </a:cubicBezTo>
                  <a:cubicBezTo>
                    <a:pt x="74129" y="721568"/>
                    <a:pt x="37428" y="653143"/>
                    <a:pt x="15657" y="600892"/>
                  </a:cubicBezTo>
                  <a:cubicBezTo>
                    <a:pt x="-6114" y="548641"/>
                    <a:pt x="-1760" y="493900"/>
                    <a:pt x="8193" y="429208"/>
                  </a:cubicBezTo>
                  <a:cubicBezTo>
                    <a:pt x="18146" y="364516"/>
                    <a:pt x="36185" y="284273"/>
                    <a:pt x="75373" y="212738"/>
                  </a:cubicBezTo>
                  <a:cubicBezTo>
                    <a:pt x="114561" y="141203"/>
                    <a:pt x="178942" y="70601"/>
                    <a:pt x="243324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prstDash val="sysDot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/>
                <p:cNvSpPr txBox="1"/>
                <p:nvPr/>
              </p:nvSpPr>
              <p:spPr>
                <a:xfrm>
                  <a:off x="10352991" y="1608515"/>
                  <a:ext cx="34203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4" name="Text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2991" y="1608515"/>
                  <a:ext cx="342038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/>
                <p:cNvSpPr txBox="1"/>
                <p:nvPr/>
              </p:nvSpPr>
              <p:spPr>
                <a:xfrm>
                  <a:off x="9340180" y="1697783"/>
                  <a:ext cx="34203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5" name="TextBox 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40180" y="1697783"/>
                  <a:ext cx="342038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8969269" y="2224279"/>
                <a:ext cx="14205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269" y="2224279"/>
                <a:ext cx="142051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306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120353" y="454734"/>
            <a:ext cx="5951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Topological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1194256"/>
                <a:ext cx="10261140" cy="4466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 </a:t>
                </a:r>
                <a:r>
                  <a:rPr lang="en-US" sz="2800" b="1" i="1" dirty="0"/>
                  <a:t>topological sort </a:t>
                </a:r>
                <a:r>
                  <a:rPr lang="en-US" sz="2800" dirty="0"/>
                  <a:t>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is a linear ordering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→</m:t>
                    </m:r>
                    <m:d>
                      <m:dPr>
                        <m:begChr m:val="{"/>
                        <m:endChr m:val="}"/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s.t.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Useful for scheduling when only partial precedence relations are defined between tasks.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Let Distrait Yuval </a:t>
                </a:r>
                <a:r>
                  <a:rPr lang="he-IL" sz="2800" dirty="0"/>
                  <a:t>(יובל המבולבל)</a:t>
                </a:r>
                <a:r>
                  <a:rPr lang="en-US" sz="2800" dirty="0"/>
                  <a:t> get dressed, knowing pants precede belt, shirt precede tie, etc.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How should he schedule dressing tasks?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194256"/>
                <a:ext cx="10261140" cy="4466992"/>
              </a:xfrm>
              <a:prstGeom prst="rect">
                <a:avLst/>
              </a:prstGeom>
              <a:blipFill>
                <a:blip r:embed="rId2"/>
                <a:stretch>
                  <a:fillRect l="-1188" t="-273" r="-1188" b="-2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905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25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875420" y="4112859"/>
            <a:ext cx="10448323" cy="1908429"/>
            <a:chOff x="875420" y="4112859"/>
            <a:chExt cx="10448323" cy="1908429"/>
          </a:xfrm>
        </p:grpSpPr>
        <p:grpSp>
          <p:nvGrpSpPr>
            <p:cNvPr id="128" name="Group 127"/>
            <p:cNvGrpSpPr/>
            <p:nvPr/>
          </p:nvGrpSpPr>
          <p:grpSpPr>
            <a:xfrm>
              <a:off x="875420" y="4961690"/>
              <a:ext cx="10448323" cy="1059598"/>
              <a:chOff x="875420" y="4745323"/>
              <a:chExt cx="10448323" cy="1059598"/>
            </a:xfrm>
          </p:grpSpPr>
          <p:grpSp>
            <p:nvGrpSpPr>
              <p:cNvPr id="126" name="Group 125"/>
              <p:cNvGrpSpPr/>
              <p:nvPr/>
            </p:nvGrpSpPr>
            <p:grpSpPr>
              <a:xfrm>
                <a:off x="875420" y="5264324"/>
                <a:ext cx="10448323" cy="540597"/>
                <a:chOff x="875420" y="5264324"/>
                <a:chExt cx="10448323" cy="540597"/>
              </a:xfrm>
            </p:grpSpPr>
            <p:sp>
              <p:nvSpPr>
                <p:cNvPr id="86" name="TextBox 85"/>
                <p:cNvSpPr txBox="1"/>
                <p:nvPr/>
              </p:nvSpPr>
              <p:spPr>
                <a:xfrm>
                  <a:off x="875420" y="5265204"/>
                  <a:ext cx="1237890" cy="523220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/>
                    <a:t>socks</a:t>
                  </a:r>
                </a:p>
              </p:txBody>
            </p:sp>
            <p:sp>
              <p:nvSpPr>
                <p:cNvPr id="87" name="TextBox 86"/>
                <p:cNvSpPr txBox="1"/>
                <p:nvPr/>
              </p:nvSpPr>
              <p:spPr>
                <a:xfrm>
                  <a:off x="5883047" y="5264324"/>
                  <a:ext cx="1080120" cy="523220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/>
                    <a:t>shoes</a:t>
                  </a:r>
                </a:p>
              </p:txBody>
            </p:sp>
            <p:sp>
              <p:nvSpPr>
                <p:cNvPr id="88" name="TextBox 87"/>
                <p:cNvSpPr txBox="1"/>
                <p:nvPr/>
              </p:nvSpPr>
              <p:spPr>
                <a:xfrm>
                  <a:off x="2208592" y="5265204"/>
                  <a:ext cx="2088232" cy="523220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/>
                    <a:t>undershorts</a:t>
                  </a:r>
                </a:p>
              </p:txBody>
            </p:sp>
            <p:sp>
              <p:nvSpPr>
                <p:cNvPr id="89" name="TextBox 88"/>
                <p:cNvSpPr txBox="1"/>
                <p:nvPr/>
              </p:nvSpPr>
              <p:spPr>
                <a:xfrm>
                  <a:off x="4549876" y="5265204"/>
                  <a:ext cx="1080119" cy="523220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/>
                    <a:t>pants</a:t>
                  </a:r>
                </a:p>
              </p:txBody>
            </p:sp>
            <p:sp>
              <p:nvSpPr>
                <p:cNvPr id="90" name="TextBox 89"/>
                <p:cNvSpPr txBox="1"/>
                <p:nvPr/>
              </p:nvSpPr>
              <p:spPr>
                <a:xfrm>
                  <a:off x="7216218" y="5264324"/>
                  <a:ext cx="864096" cy="523220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/>
                    <a:t>shirt</a:t>
                  </a:r>
                </a:p>
              </p:txBody>
            </p:sp>
            <p:sp>
              <p:nvSpPr>
                <p:cNvPr id="92" name="TextBox 91"/>
                <p:cNvSpPr txBox="1"/>
                <p:nvPr/>
              </p:nvSpPr>
              <p:spPr>
                <a:xfrm>
                  <a:off x="8333365" y="5264324"/>
                  <a:ext cx="792088" cy="523220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/>
                    <a:t>belt</a:t>
                  </a:r>
                </a:p>
              </p:txBody>
            </p:sp>
            <p:sp>
              <p:nvSpPr>
                <p:cNvPr id="93" name="TextBox 92"/>
                <p:cNvSpPr txBox="1"/>
                <p:nvPr/>
              </p:nvSpPr>
              <p:spPr>
                <a:xfrm>
                  <a:off x="9378504" y="5264324"/>
                  <a:ext cx="612068" cy="523220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/>
                    <a:t>tie</a:t>
                  </a:r>
                </a:p>
              </p:txBody>
            </p:sp>
            <p:sp>
              <p:nvSpPr>
                <p:cNvPr id="94" name="TextBox 93"/>
                <p:cNvSpPr txBox="1"/>
                <p:nvPr/>
              </p:nvSpPr>
              <p:spPr>
                <a:xfrm>
                  <a:off x="10243623" y="5281701"/>
                  <a:ext cx="1080120" cy="523220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800" dirty="0"/>
                    <a:t>jacket</a:t>
                  </a:r>
                </a:p>
              </p:txBody>
            </p:sp>
            <p:cxnSp>
              <p:nvCxnSpPr>
                <p:cNvPr id="95" name="Straight Arrow Connector 94"/>
                <p:cNvCxnSpPr>
                  <a:endCxn id="89" idx="1"/>
                </p:cNvCxnSpPr>
                <p:nvPr/>
              </p:nvCxnSpPr>
              <p:spPr>
                <a:xfrm flipV="1">
                  <a:off x="4298358" y="5526814"/>
                  <a:ext cx="251518" cy="754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Arrow Connector 96"/>
                <p:cNvCxnSpPr/>
                <p:nvPr/>
              </p:nvCxnSpPr>
              <p:spPr>
                <a:xfrm flipV="1">
                  <a:off x="5638131" y="5543311"/>
                  <a:ext cx="251518" cy="754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Arrow Connector 97"/>
                <p:cNvCxnSpPr/>
                <p:nvPr/>
              </p:nvCxnSpPr>
              <p:spPr>
                <a:xfrm flipV="1">
                  <a:off x="8092037" y="5550851"/>
                  <a:ext cx="251518" cy="754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Arrow Connector 98"/>
                <p:cNvCxnSpPr/>
                <p:nvPr/>
              </p:nvCxnSpPr>
              <p:spPr>
                <a:xfrm flipV="1">
                  <a:off x="9996842" y="5554621"/>
                  <a:ext cx="251518" cy="754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7" name="Group 126"/>
              <p:cNvGrpSpPr/>
              <p:nvPr/>
            </p:nvGrpSpPr>
            <p:grpSpPr>
              <a:xfrm>
                <a:off x="1415480" y="4745323"/>
                <a:ext cx="9292102" cy="523220"/>
                <a:chOff x="1415480" y="4745323"/>
                <a:chExt cx="9292102" cy="523220"/>
              </a:xfrm>
            </p:grpSpPr>
            <p:grpSp>
              <p:nvGrpSpPr>
                <p:cNvPr id="107" name="Group 106"/>
                <p:cNvGrpSpPr/>
                <p:nvPr/>
              </p:nvGrpSpPr>
              <p:grpSpPr>
                <a:xfrm>
                  <a:off x="1415480" y="4944507"/>
                  <a:ext cx="4824536" cy="324036"/>
                  <a:chOff x="1594476" y="4725144"/>
                  <a:chExt cx="3204356" cy="324036"/>
                </a:xfrm>
              </p:grpSpPr>
              <p:cxnSp>
                <p:nvCxnSpPr>
                  <p:cNvPr id="102" name="Straight Connector 101"/>
                  <p:cNvCxnSpPr/>
                  <p:nvPr/>
                </p:nvCxnSpPr>
                <p:spPr>
                  <a:xfrm flipV="1">
                    <a:off x="1594476" y="4725144"/>
                    <a:ext cx="0" cy="32403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/>
                  <p:cNvCxnSpPr/>
                  <p:nvPr/>
                </p:nvCxnSpPr>
                <p:spPr>
                  <a:xfrm>
                    <a:off x="1594476" y="4725144"/>
                    <a:ext cx="320435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/>
                  <p:cNvCxnSpPr/>
                  <p:nvPr/>
                </p:nvCxnSpPr>
                <p:spPr>
                  <a:xfrm flipV="1">
                    <a:off x="4798832" y="4725144"/>
                    <a:ext cx="0" cy="32403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9" name="Group 108"/>
                <p:cNvGrpSpPr/>
                <p:nvPr/>
              </p:nvGrpSpPr>
              <p:grpSpPr>
                <a:xfrm>
                  <a:off x="3251684" y="4745323"/>
                  <a:ext cx="3204356" cy="507385"/>
                  <a:chOff x="1594476" y="4725144"/>
                  <a:chExt cx="3204356" cy="324036"/>
                </a:xfrm>
              </p:grpSpPr>
              <p:cxnSp>
                <p:nvCxnSpPr>
                  <p:cNvPr id="110" name="Straight Connector 109"/>
                  <p:cNvCxnSpPr/>
                  <p:nvPr/>
                </p:nvCxnSpPr>
                <p:spPr>
                  <a:xfrm flipV="1">
                    <a:off x="1594476" y="4725144"/>
                    <a:ext cx="0" cy="32403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Straight Connector 110"/>
                  <p:cNvCxnSpPr/>
                  <p:nvPr/>
                </p:nvCxnSpPr>
                <p:spPr>
                  <a:xfrm>
                    <a:off x="1594476" y="4725144"/>
                    <a:ext cx="320435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Connector 111"/>
                  <p:cNvCxnSpPr/>
                  <p:nvPr/>
                </p:nvCxnSpPr>
                <p:spPr>
                  <a:xfrm flipV="1">
                    <a:off x="4798832" y="4725144"/>
                    <a:ext cx="0" cy="32403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3" name="Group 112"/>
                <p:cNvGrpSpPr/>
                <p:nvPr/>
              </p:nvGrpSpPr>
              <p:grpSpPr>
                <a:xfrm>
                  <a:off x="5087888" y="5085183"/>
                  <a:ext cx="3492388" cy="174933"/>
                  <a:chOff x="1594476" y="4725144"/>
                  <a:chExt cx="3204356" cy="324036"/>
                </a:xfrm>
              </p:grpSpPr>
              <p:cxnSp>
                <p:nvCxnSpPr>
                  <p:cNvPr id="114" name="Straight Connector 113"/>
                  <p:cNvCxnSpPr/>
                  <p:nvPr/>
                </p:nvCxnSpPr>
                <p:spPr>
                  <a:xfrm flipV="1">
                    <a:off x="1594476" y="4725144"/>
                    <a:ext cx="0" cy="32403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Straight Connector 114"/>
                  <p:cNvCxnSpPr/>
                  <p:nvPr/>
                </p:nvCxnSpPr>
                <p:spPr>
                  <a:xfrm>
                    <a:off x="1594476" y="4725144"/>
                    <a:ext cx="320435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Straight Connector 115"/>
                  <p:cNvCxnSpPr/>
                  <p:nvPr/>
                </p:nvCxnSpPr>
                <p:spPr>
                  <a:xfrm flipV="1">
                    <a:off x="4798832" y="4725144"/>
                    <a:ext cx="0" cy="32403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7" name="Group 116"/>
                <p:cNvGrpSpPr/>
                <p:nvPr/>
              </p:nvGrpSpPr>
              <p:grpSpPr>
                <a:xfrm>
                  <a:off x="7651198" y="4941168"/>
                  <a:ext cx="2009198" cy="324036"/>
                  <a:chOff x="1594476" y="4725144"/>
                  <a:chExt cx="3204356" cy="324036"/>
                </a:xfrm>
              </p:grpSpPr>
              <p:cxnSp>
                <p:nvCxnSpPr>
                  <p:cNvPr id="118" name="Straight Connector 117"/>
                  <p:cNvCxnSpPr/>
                  <p:nvPr/>
                </p:nvCxnSpPr>
                <p:spPr>
                  <a:xfrm flipV="1">
                    <a:off x="1594476" y="4725144"/>
                    <a:ext cx="0" cy="32403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/>
                  <p:cNvCxnSpPr/>
                  <p:nvPr/>
                </p:nvCxnSpPr>
                <p:spPr>
                  <a:xfrm>
                    <a:off x="1594476" y="4725144"/>
                    <a:ext cx="320435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Straight Connector 119"/>
                  <p:cNvCxnSpPr/>
                  <p:nvPr/>
                </p:nvCxnSpPr>
                <p:spPr>
                  <a:xfrm flipV="1">
                    <a:off x="4798832" y="4725144"/>
                    <a:ext cx="0" cy="32403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1" name="Group 120"/>
                <p:cNvGrpSpPr/>
                <p:nvPr/>
              </p:nvGrpSpPr>
              <p:grpSpPr>
                <a:xfrm>
                  <a:off x="8796299" y="5085183"/>
                  <a:ext cx="1911283" cy="174204"/>
                  <a:chOff x="1594476" y="4725144"/>
                  <a:chExt cx="3204356" cy="324036"/>
                </a:xfrm>
              </p:grpSpPr>
              <p:cxnSp>
                <p:nvCxnSpPr>
                  <p:cNvPr id="122" name="Straight Connector 121"/>
                  <p:cNvCxnSpPr/>
                  <p:nvPr/>
                </p:nvCxnSpPr>
                <p:spPr>
                  <a:xfrm flipV="1">
                    <a:off x="1594476" y="4725144"/>
                    <a:ext cx="0" cy="32403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" name="Straight Connector 122"/>
                  <p:cNvCxnSpPr/>
                  <p:nvPr/>
                </p:nvCxnSpPr>
                <p:spPr>
                  <a:xfrm>
                    <a:off x="1594476" y="4725144"/>
                    <a:ext cx="3204356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23"/>
                  <p:cNvCxnSpPr/>
                  <p:nvPr/>
                </p:nvCxnSpPr>
                <p:spPr>
                  <a:xfrm flipV="1">
                    <a:off x="4798832" y="4725144"/>
                    <a:ext cx="0" cy="32403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132" name="Group 131"/>
            <p:cNvGrpSpPr/>
            <p:nvPr/>
          </p:nvGrpSpPr>
          <p:grpSpPr>
            <a:xfrm>
              <a:off x="875420" y="4112859"/>
              <a:ext cx="1656184" cy="543664"/>
              <a:chOff x="1235460" y="3814182"/>
              <a:chExt cx="1656184" cy="543664"/>
            </a:xfrm>
          </p:grpSpPr>
          <p:cxnSp>
            <p:nvCxnSpPr>
              <p:cNvPr id="130" name="Straight Arrow Connector 129"/>
              <p:cNvCxnSpPr/>
              <p:nvPr/>
            </p:nvCxnSpPr>
            <p:spPr>
              <a:xfrm>
                <a:off x="1235460" y="4357846"/>
                <a:ext cx="165618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TextBox 130"/>
              <p:cNvSpPr txBox="1"/>
              <p:nvPr/>
            </p:nvSpPr>
            <p:spPr>
              <a:xfrm>
                <a:off x="1473601" y="3814182"/>
                <a:ext cx="111612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time</a:t>
                </a: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2748140" y="661150"/>
            <a:ext cx="6695720" cy="3890756"/>
            <a:chOff x="1344496" y="728700"/>
            <a:chExt cx="6695720" cy="3890756"/>
          </a:xfrm>
        </p:grpSpPr>
        <p:grpSp>
          <p:nvGrpSpPr>
            <p:cNvPr id="56" name="Group 55"/>
            <p:cNvGrpSpPr/>
            <p:nvPr/>
          </p:nvGrpSpPr>
          <p:grpSpPr>
            <a:xfrm>
              <a:off x="4151784" y="728700"/>
              <a:ext cx="3888432" cy="3890756"/>
              <a:chOff x="2748652" y="637528"/>
              <a:chExt cx="3888432" cy="3890756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2748652" y="637528"/>
                <a:ext cx="2088232" cy="523220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undershorts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252708" y="1501624"/>
                <a:ext cx="1080119" cy="523220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pants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395700" y="2329716"/>
                <a:ext cx="792088" cy="523220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belt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5663952" y="2329716"/>
                <a:ext cx="864096" cy="523220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shirt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789966" y="3174648"/>
                <a:ext cx="612068" cy="523220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tie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556964" y="4005064"/>
                <a:ext cx="1080120" cy="523220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jacket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5556964" y="1484784"/>
                <a:ext cx="1080120" cy="523220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shoes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5556964" y="656692"/>
                <a:ext cx="1080120" cy="523220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socks</a:t>
                </a:r>
              </a:p>
            </p:txBody>
          </p:sp>
          <p:cxnSp>
            <p:nvCxnSpPr>
              <p:cNvPr id="17" name="Straight Arrow Connector 16"/>
              <p:cNvCxnSpPr>
                <a:stCxn id="5" idx="3"/>
                <a:endCxn id="11" idx="1"/>
              </p:cNvCxnSpPr>
              <p:nvPr/>
            </p:nvCxnSpPr>
            <p:spPr>
              <a:xfrm>
                <a:off x="4836884" y="899138"/>
                <a:ext cx="720080" cy="84725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>
                <a:stCxn id="11" idx="0"/>
                <a:endCxn id="12" idx="2"/>
              </p:cNvCxnSpPr>
              <p:nvPr/>
            </p:nvCxnSpPr>
            <p:spPr>
              <a:xfrm flipV="1">
                <a:off x="6097024" y="1179912"/>
                <a:ext cx="0" cy="304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>
                <a:stCxn id="5" idx="2"/>
                <a:endCxn id="6" idx="0"/>
              </p:cNvCxnSpPr>
              <p:nvPr/>
            </p:nvCxnSpPr>
            <p:spPr>
              <a:xfrm>
                <a:off x="3792768" y="1160748"/>
                <a:ext cx="0" cy="34087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>
                <a:stCxn id="6" idx="2"/>
                <a:endCxn id="7" idx="0"/>
              </p:cNvCxnSpPr>
              <p:nvPr/>
            </p:nvCxnSpPr>
            <p:spPr>
              <a:xfrm flipH="1">
                <a:off x="3791744" y="2024844"/>
                <a:ext cx="1024" cy="30487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>
                <a:stCxn id="8" idx="1"/>
                <a:endCxn id="7" idx="3"/>
              </p:cNvCxnSpPr>
              <p:nvPr/>
            </p:nvCxnSpPr>
            <p:spPr>
              <a:xfrm flipH="1">
                <a:off x="4187788" y="2591326"/>
                <a:ext cx="1476164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>
                <a:stCxn id="8" idx="2"/>
                <a:endCxn id="9" idx="0"/>
              </p:cNvCxnSpPr>
              <p:nvPr/>
            </p:nvCxnSpPr>
            <p:spPr>
              <a:xfrm>
                <a:off x="6096000" y="2852936"/>
                <a:ext cx="0" cy="32171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>
                <a:stCxn id="9" idx="2"/>
                <a:endCxn id="10" idx="0"/>
              </p:cNvCxnSpPr>
              <p:nvPr/>
            </p:nvCxnSpPr>
            <p:spPr>
              <a:xfrm>
                <a:off x="6096000" y="3697868"/>
                <a:ext cx="1024" cy="30719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>
                <a:stCxn id="7" idx="2"/>
                <a:endCxn id="10" idx="1"/>
              </p:cNvCxnSpPr>
              <p:nvPr/>
            </p:nvCxnSpPr>
            <p:spPr>
              <a:xfrm>
                <a:off x="3791744" y="2852936"/>
                <a:ext cx="1765220" cy="141373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stCxn id="6" idx="3"/>
                <a:endCxn id="11" idx="1"/>
              </p:cNvCxnSpPr>
              <p:nvPr/>
            </p:nvCxnSpPr>
            <p:spPr>
              <a:xfrm flipV="1">
                <a:off x="4332827" y="1746394"/>
                <a:ext cx="1224137" cy="1684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60"/>
                <p:cNvSpPr/>
                <p:nvPr/>
              </p:nvSpPr>
              <p:spPr>
                <a:xfrm>
                  <a:off x="1344496" y="1873410"/>
                  <a:ext cx="2411244" cy="123065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20000"/>
                    </a:lnSpc>
                    <a:spcAft>
                      <a:spcPts val="1800"/>
                    </a:spcAft>
                  </a:pP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</m:d>
                    </m:oMath>
                  </a14:m>
                  <a:r>
                    <a:rPr lang="en-US" sz="2800" dirty="0"/>
                    <a:t> acyclic digraph (DAG). </a:t>
                  </a:r>
                </a:p>
              </p:txBody>
            </p:sp>
          </mc:Choice>
          <mc:Fallback xmlns="">
            <p:sp>
              <p:nvSpPr>
                <p:cNvPr id="61" name="Rectangle 6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4496" y="1873410"/>
                  <a:ext cx="2411244" cy="1230658"/>
                </a:xfrm>
                <a:prstGeom prst="rect">
                  <a:avLst/>
                </a:prstGeom>
                <a:blipFill>
                  <a:blip r:embed="rId2"/>
                  <a:stretch>
                    <a:fillRect l="-5316" r="-5063" b="-103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729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833104"/>
                <a:ext cx="10261140" cy="5152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Topological sort can be performed by applying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DFS</m:t>
                    </m:r>
                  </m:oMath>
                </a14:m>
                <a:r>
                  <a:rPr lang="en-US" sz="2800" dirty="0"/>
                  <a:t> for DAG.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Lemma 6</a:t>
                </a:r>
                <a:r>
                  <a:rPr lang="en-US" sz="2800" dirty="0"/>
                  <a:t>: A DAG has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s.t.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: Else, starting from any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we could backtrack infinitely.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is finite so some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repeats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:r>
                  <a:rPr lang="en-US" sz="2800" dirty="0"/>
                  <a:t>a cycle exists, contradicting DAG.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sz="2800" dirty="0"/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DFS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TOPO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supplaments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DFS</m:t>
                    </m:r>
                  </m:oMath>
                </a14:m>
                <a:r>
                  <a:rPr lang="en-US" sz="2800" dirty="0"/>
                  <a:t> with stack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/>
                  <a:t>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LIFO</m:t>
                    </m:r>
                  </m:oMath>
                </a14:m>
                <a:r>
                  <a:rPr lang="en-US" sz="2800" dirty="0"/>
                  <a:t>) to which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PUSH</m:t>
                    </m:r>
                  </m:oMath>
                </a14:m>
                <a:r>
                  <a:rPr lang="en-US" sz="2800" dirty="0"/>
                  <a:t> (insert) at backtrack.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It also supports few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, where all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 dirty="0"/>
                  <a:t> are first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ENQUEUE</m:t>
                    </m:r>
                  </m:oMath>
                </a14:m>
                <a:r>
                  <a:rPr lang="en-US" sz="2800" dirty="0"/>
                  <a:t> and then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DEQUEUE</m:t>
                    </m:r>
                  </m:oMath>
                </a14:m>
                <a:r>
                  <a:rPr lang="en-US" sz="2800" dirty="0"/>
                  <a:t> one by one.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833104"/>
                <a:ext cx="10261140" cy="5152180"/>
              </a:xfrm>
              <a:prstGeom prst="rect">
                <a:avLst/>
              </a:prstGeom>
              <a:blipFill>
                <a:blip r:embed="rId2"/>
                <a:stretch>
                  <a:fillRect l="-1188" t="-237" r="-1188" b="-1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46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27</a:t>
            </a:fld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1559496" y="742046"/>
            <a:ext cx="9056416" cy="5349798"/>
            <a:chOff x="1481851" y="582067"/>
            <a:chExt cx="9056416" cy="5349798"/>
          </a:xfrm>
        </p:grpSpPr>
        <p:grpSp>
          <p:nvGrpSpPr>
            <p:cNvPr id="18" name="Group 17"/>
            <p:cNvGrpSpPr/>
            <p:nvPr/>
          </p:nvGrpSpPr>
          <p:grpSpPr>
            <a:xfrm>
              <a:off x="1481853" y="582067"/>
              <a:ext cx="9056414" cy="5349798"/>
              <a:chOff x="1884647" y="584684"/>
              <a:chExt cx="9056414" cy="53497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1884647" y="584684"/>
                    <a:ext cx="7688261" cy="53497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2800" i="0" dirty="0" smtClean="0">
                              <a:latin typeface="Cambria Math" panose="02040503050406030204" pitchFamily="18" charset="0"/>
                            </a:rPr>
                            <m:t>Procedure</m:t>
                          </m:r>
                          <m:r>
                            <m:rPr>
                              <m:nor/>
                            </m:rPr>
                            <a:rPr lang="en-US" sz="280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DFS</m:t>
                          </m:r>
                          <m:r>
                            <m:rPr>
                              <m:nor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TOPO</m:t>
                          </m:r>
                          <m:d>
                            <m:dPr>
                              <m:ctrlP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𝓕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oMath>
                      </m:oMathPara>
                    </a14:m>
                    <a:endParaRPr lang="en-US" sz="2800" dirty="0"/>
                  </a:p>
                  <a:p>
                    <a:pPr algn="just"/>
                    <a:r>
                      <a:rPr lang="en-US" sz="2800" dirty="0"/>
                      <a:t>      </a:t>
                    </a:r>
                    <a14:m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a14:m>
                    <a:r>
                      <a:rPr lang="en-US" sz="2800" dirty="0"/>
                      <a:t> s.t.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a14:m>
                    <a:r>
                      <a:rPr lang="en-US" sz="2800" dirty="0"/>
                      <a:t> 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ENQUEUE</m:t>
                        </m:r>
                        <m:d>
                          <m:d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a14:m>
                    <a:endParaRPr lang="en-US" sz="2800" dirty="0"/>
                  </a:p>
                  <a:p>
                    <a:pPr algn="just"/>
                    <a:r>
                      <a:rPr lang="en-US" sz="2800" dirty="0">
                        <a:ea typeface="Cambria Math" panose="02040503050406030204" pitchFamily="18" charset="0"/>
                      </a:rPr>
                      <a:t>      </a:t>
                    </a:r>
                    <a14:m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mark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new</m:t>
                        </m:r>
                        <m:r>
                          <m:rPr>
                            <m:nor/>
                          </m:rPr>
                          <a:rPr lang="en-US" sz="28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</m:oMath>
                    </a14:m>
                    <a:endParaRPr lang="en-US" sz="2800" dirty="0"/>
                  </a:p>
                  <a:p>
                    <a:pPr algn="just"/>
                    <a:r>
                      <a:rPr lang="en-US" sz="2800" dirty="0">
                        <a:ea typeface="Cambria Math" panose="02040503050406030204" pitchFamily="18" charset="0"/>
                      </a:rPr>
                      <a:t>      </a:t>
                    </a:r>
                    <a14:m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do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𝓕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sz="2800" b="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 algn="just"/>
                    <a:r>
                      <a:rPr lang="en-US" sz="2800" dirty="0"/>
                      <a:t>     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i="0" dirty="0">
                            <a:latin typeface="Cambria Math" panose="02040503050406030204" pitchFamily="18" charset="0"/>
                          </a:rPr>
                          <m:t>while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DEQUEUE</m:t>
                        </m:r>
                        <m:d>
                          <m:d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sz="2800" i="1" dirty="0">
                      <a:latin typeface="Cambria Math" panose="02040503050406030204" pitchFamily="18" charset="0"/>
                    </a:endParaRPr>
                  </a:p>
                  <a:p>
                    <a:pPr algn="just"/>
                    <a:r>
                      <a:rPr lang="en-US" sz="2800" b="0" dirty="0"/>
                      <a:t>            </a:t>
                    </a:r>
                    <a14:m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a14:m>
                    <a:endParaRPr lang="en-US" sz="2800" b="0" i="0" dirty="0">
                      <a:latin typeface="Cambria Math" panose="02040503050406030204" pitchFamily="18" charset="0"/>
                    </a:endParaRPr>
                  </a:p>
                  <a:p>
                    <a:pPr algn="just"/>
                    <a:endParaRPr lang="en-US" sz="2800" b="0" i="0" dirty="0">
                      <a:latin typeface="Cambria Math" panose="02040503050406030204" pitchFamily="18" charset="0"/>
                    </a:endParaRPr>
                  </a:p>
                  <a:p>
                    <a:pPr algn="just"/>
                    <a:r>
                      <a:rPr lang="en-US" sz="2800" dirty="0"/>
                      <a:t>           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i="0" dirty="0" smtClean="0">
                            <a:latin typeface="Cambria Math" panose="02040503050406030204" pitchFamily="18" charset="0"/>
                          </a:rPr>
                          <m:t>while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has</m:t>
                        </m:r>
                        <m: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new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 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edge</m:t>
                        </m:r>
                        <m: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⃗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  <m:d>
                          <m:d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nor/>
                              </m:rPr>
                              <a:rPr lang="en-US" sz="28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a14:m>
                    <a:r>
                      <a:rPr lang="en-US" sz="2800" dirty="0"/>
                      <a:t> ||</a:t>
                    </a:r>
                    <a14:m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𝓕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sz="2800" dirty="0"/>
                  </a:p>
                  <a:p>
                    <a:pPr algn="just"/>
                    <a:r>
                      <a:rPr lang="en-US" sz="2800" b="0" dirty="0"/>
                      <a:t>                 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if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has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new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  <m: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edge</m:t>
                        </m:r>
                        <m: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⃗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  <m:d>
                          <m:d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nor/>
                              </m:rPr>
                              <a:rPr lang="en-US" sz="28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a14:m>
                    <a:endParaRPr lang="en-US" sz="2800" dirty="0"/>
                  </a:p>
                  <a:p>
                    <a:pPr algn="just"/>
                    <a:r>
                      <a:rPr lang="en-US" sz="2800" dirty="0"/>
                      <a:t>                       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mark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old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“</m:t>
                        </m:r>
                      </m:oMath>
                    </a14:m>
                    <a:endParaRPr lang="en-US" sz="2800" dirty="0"/>
                  </a:p>
                  <a:p>
                    <a:pPr algn="just"/>
                    <a:r>
                      <a:rPr lang="en-US" sz="2800" dirty="0"/>
                      <a:t>                       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i="0" dirty="0">
                            <a:latin typeface="Cambria Math" panose="02040503050406030204" pitchFamily="18" charset="0"/>
                          </a:rPr>
                          <m:t>if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𝓕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𝓕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;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oMath>
                    </a14:m>
                    <a:endParaRPr lang="en-US" sz="2800" dirty="0"/>
                  </a:p>
                  <a:p>
                    <a:pPr algn="just"/>
                    <a:r>
                      <a:rPr lang="en-US" sz="2800" dirty="0"/>
                      <a:t>                 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i="0" dirty="0" smtClean="0">
                            <a:latin typeface="Cambria Math" panose="02040503050406030204" pitchFamily="18" charset="0"/>
                          </a:rPr>
                          <m:t>else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PUSH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𝓕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</m:oMath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84647" y="584684"/>
                    <a:ext cx="7688261" cy="534979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" name="Group 6"/>
              <p:cNvGrpSpPr/>
              <p:nvPr/>
            </p:nvGrpSpPr>
            <p:grpSpPr>
              <a:xfrm>
                <a:off x="2855640" y="1939490"/>
                <a:ext cx="8085421" cy="3943600"/>
                <a:chOff x="-1517986" y="1419466"/>
                <a:chExt cx="8085421" cy="39436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Box 8"/>
                    <p:cNvSpPr txBox="1"/>
                    <p:nvPr/>
                  </p:nvSpPr>
                  <p:spPr>
                    <a:xfrm>
                      <a:off x="1136511" y="1419466"/>
                      <a:ext cx="335928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//</a:t>
                      </a:r>
                      <a14:m>
                        <m:oMath xmlns:m="http://schemas.openxmlformats.org/officeDocument/2006/math"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smtClean="0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𝓕</m:t>
                          </m:r>
                        </m:oMath>
                      </a14:m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 visit wherefrom</a:t>
                      </a:r>
                    </a:p>
                  </p:txBody>
                </p:sp>
              </mc:Choice>
              <mc:Fallback xmlns="">
                <p:sp>
                  <p:nvSpPr>
                    <p:cNvPr id="9" name="TextBox 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36511" y="1419466"/>
                      <a:ext cx="3359284" cy="52322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3811" t="-11628" b="-3255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" name="TextBox 9"/>
                <p:cNvSpPr txBox="1"/>
                <p:nvPr/>
              </p:nvSpPr>
              <p:spPr>
                <a:xfrm>
                  <a:off x="4047155" y="4443802"/>
                  <a:ext cx="252028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first time visit</a:t>
                  </a:r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-1517986" y="2696446"/>
                  <a:ext cx="463368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explore all vertex neighbors </a:t>
                  </a:r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2929915" y="4839846"/>
                  <a:ext cx="205334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backtrack</a:t>
                  </a:r>
                </a:p>
              </p:txBody>
            </p:sp>
          </p:grpSp>
        </p:grpSp>
        <p:sp>
          <p:nvSpPr>
            <p:cNvPr id="19" name="Rectangle 18"/>
            <p:cNvSpPr/>
            <p:nvPr/>
          </p:nvSpPr>
          <p:spPr>
            <a:xfrm>
              <a:off x="1481851" y="582067"/>
              <a:ext cx="9056415" cy="5331210"/>
            </a:xfrm>
            <a:prstGeom prst="rect">
              <a:avLst/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9637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65430" y="1256965"/>
                <a:ext cx="10261140" cy="440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Theorem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DFS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TOPO</m:t>
                    </m:r>
                  </m:oMath>
                </a14:m>
                <a:r>
                  <a:rPr lang="en-US" sz="2800" dirty="0"/>
                  <a:t> yields topological sort when applied to DAG.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dirty="0"/>
                  <a:t>Proof</a:t>
                </a:r>
                <a:r>
                  <a:rPr lang="en-US" sz="2800" dirty="0"/>
                  <a:t>: We show that if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then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PUSH</m:t>
                    </m:r>
                    <m:d>
                      <m:d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occurs later than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PUSH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traversed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800" dirty="0"/>
                  <a:t> was backtracked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800" dirty="0"/>
                  <a:t> is then backtracked later.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PUSH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800" dirty="0"/>
                  <a:t> occurs later than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PUSH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So 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not traversed, and assume in contrary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PUSH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800" dirty="0"/>
                  <a:t> occurs earlier than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PUSH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800" dirty="0"/>
                  <a:t> backtracked after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800" dirty="0"/>
                  <a:t>).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1256965"/>
                <a:ext cx="10261140" cy="4404283"/>
              </a:xfrm>
              <a:prstGeom prst="rect">
                <a:avLst/>
              </a:prstGeom>
              <a:blipFill>
                <a:blip r:embed="rId2"/>
                <a:stretch>
                  <a:fillRect l="-1188" t="-138" r="-1188" b="-221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207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65430" y="620688"/>
                <a:ext cx="10261140" cy="3103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be implied by a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DFS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TOPO</m:t>
                    </m:r>
                  </m:oMath>
                </a14:m>
                <a:r>
                  <a:rPr lang="en-US" sz="2800" dirty="0"/>
                  <a:t> spanning tree.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At time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backtracked,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800" dirty="0"/>
                  <a:t> not visited yet because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DFS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TOPO</m:t>
                    </m:r>
                  </m:oMath>
                </a14:m>
                <a:r>
                  <a:rPr lang="en-US" sz="2800" dirty="0"/>
                  <a:t> traverses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800" dirty="0"/>
                  <a:t> before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however backtracked only after all its outgoing arcs explored, in particular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, so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800" dirty="0"/>
                  <a:t> must be reached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800" dirty="0"/>
                  <a:t>, a contradiction.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620688"/>
                <a:ext cx="10261140" cy="3103735"/>
              </a:xfrm>
              <a:prstGeom prst="rect">
                <a:avLst/>
              </a:prstGeom>
              <a:blipFill>
                <a:blip r:embed="rId2"/>
                <a:stretch>
                  <a:fillRect l="-1188" t="-393" r="-1188" b="-471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3408288" y="4175203"/>
            <a:ext cx="5375423" cy="1891371"/>
            <a:chOff x="3890175" y="4129917"/>
            <a:chExt cx="5375423" cy="1891371"/>
          </a:xfrm>
        </p:grpSpPr>
        <p:grpSp>
          <p:nvGrpSpPr>
            <p:cNvPr id="37" name="Group 36"/>
            <p:cNvGrpSpPr/>
            <p:nvPr/>
          </p:nvGrpSpPr>
          <p:grpSpPr>
            <a:xfrm rot="16200000">
              <a:off x="5150316" y="2869776"/>
              <a:ext cx="1891371" cy="4411653"/>
              <a:chOff x="8888718" y="1187170"/>
              <a:chExt cx="1891371" cy="4411653"/>
            </a:xfrm>
          </p:grpSpPr>
          <p:grpSp>
            <p:nvGrpSpPr>
              <p:cNvPr id="9" name="Group 8"/>
              <p:cNvGrpSpPr/>
              <p:nvPr/>
            </p:nvGrpSpPr>
            <p:grpSpPr>
              <a:xfrm rot="5400000">
                <a:off x="9755323" y="1177588"/>
                <a:ext cx="504056" cy="523220"/>
                <a:chOff x="5843972" y="3167389"/>
                <a:chExt cx="504056" cy="523220"/>
              </a:xfrm>
            </p:grpSpPr>
            <p:sp>
              <p:nvSpPr>
                <p:cNvPr id="6" name="Oval 5"/>
                <p:cNvSpPr/>
                <p:nvPr/>
              </p:nvSpPr>
              <p:spPr>
                <a:xfrm>
                  <a:off x="5843972" y="3176971"/>
                  <a:ext cx="504056" cy="50405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TextBox 7"/>
                    <p:cNvSpPr txBox="1"/>
                    <p:nvPr/>
                  </p:nvSpPr>
                  <p:spPr>
                    <a:xfrm>
                      <a:off x="5843972" y="3167389"/>
                      <a:ext cx="504056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8" name="TextBox 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43972" y="3167389"/>
                      <a:ext cx="504056" cy="52322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0" name="Group 9"/>
              <p:cNvGrpSpPr/>
              <p:nvPr/>
            </p:nvGrpSpPr>
            <p:grpSpPr>
              <a:xfrm rot="5400000">
                <a:off x="9755323" y="3059379"/>
                <a:ext cx="504056" cy="523220"/>
                <a:chOff x="5843972" y="3167389"/>
                <a:chExt cx="504056" cy="523220"/>
              </a:xfrm>
            </p:grpSpPr>
            <p:sp>
              <p:nvSpPr>
                <p:cNvPr id="11" name="Oval 10"/>
                <p:cNvSpPr/>
                <p:nvPr/>
              </p:nvSpPr>
              <p:spPr>
                <a:xfrm>
                  <a:off x="5843972" y="3176971"/>
                  <a:ext cx="504056" cy="50405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/>
                    <p:cNvSpPr txBox="1"/>
                    <p:nvPr/>
                  </p:nvSpPr>
                  <p:spPr>
                    <a:xfrm>
                      <a:off x="5843972" y="3167389"/>
                      <a:ext cx="504056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2" name="TextBox 1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43972" y="3167389"/>
                      <a:ext cx="504056" cy="52322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Freeform 18"/>
              <p:cNvSpPr/>
              <p:nvPr/>
            </p:nvSpPr>
            <p:spPr>
              <a:xfrm rot="5189402">
                <a:off x="9149209" y="2110086"/>
                <a:ext cx="1559740" cy="722024"/>
              </a:xfrm>
              <a:custGeom>
                <a:avLst/>
                <a:gdLst>
                  <a:gd name="connsiteX0" fmla="*/ 0 w 1997242"/>
                  <a:gd name="connsiteY0" fmla="*/ 261855 h 851533"/>
                  <a:gd name="connsiteX1" fmla="*/ 348916 w 1997242"/>
                  <a:gd name="connsiteY1" fmla="*/ 15208 h 851533"/>
                  <a:gd name="connsiteX2" fmla="*/ 1082842 w 1997242"/>
                  <a:gd name="connsiteY2" fmla="*/ 652882 h 851533"/>
                  <a:gd name="connsiteX3" fmla="*/ 1509963 w 1997242"/>
                  <a:gd name="connsiteY3" fmla="*/ 851403 h 851533"/>
                  <a:gd name="connsiteX4" fmla="*/ 1997242 w 1997242"/>
                  <a:gd name="connsiteY4" fmla="*/ 676945 h 851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7242" h="851533">
                    <a:moveTo>
                      <a:pt x="0" y="261855"/>
                    </a:moveTo>
                    <a:cubicBezTo>
                      <a:pt x="84221" y="105946"/>
                      <a:pt x="168442" y="-49963"/>
                      <a:pt x="348916" y="15208"/>
                    </a:cubicBezTo>
                    <a:cubicBezTo>
                      <a:pt x="529390" y="80379"/>
                      <a:pt x="889334" y="513516"/>
                      <a:pt x="1082842" y="652882"/>
                    </a:cubicBezTo>
                    <a:cubicBezTo>
                      <a:pt x="1276350" y="792248"/>
                      <a:pt x="1357563" y="847393"/>
                      <a:pt x="1509963" y="851403"/>
                    </a:cubicBezTo>
                    <a:cubicBezTo>
                      <a:pt x="1662363" y="855414"/>
                      <a:pt x="1829802" y="766179"/>
                      <a:pt x="1997242" y="676945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dash"/>
                <a:headEnd type="none" w="med" len="med"/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 20"/>
              <p:cNvSpPr/>
              <p:nvPr/>
            </p:nvSpPr>
            <p:spPr>
              <a:xfrm rot="5772223">
                <a:off x="9721115" y="3874934"/>
                <a:ext cx="1507369" cy="572258"/>
              </a:xfrm>
              <a:custGeom>
                <a:avLst/>
                <a:gdLst>
                  <a:gd name="connsiteX0" fmla="*/ 0 w 1919037"/>
                  <a:gd name="connsiteY0" fmla="*/ 758985 h 758985"/>
                  <a:gd name="connsiteX1" fmla="*/ 228600 w 1919037"/>
                  <a:gd name="connsiteY1" fmla="*/ 7011 h 758985"/>
                  <a:gd name="connsiteX2" fmla="*/ 1070810 w 1919037"/>
                  <a:gd name="connsiteY2" fmla="*/ 379990 h 758985"/>
                  <a:gd name="connsiteX3" fmla="*/ 1919037 w 1919037"/>
                  <a:gd name="connsiteY3" fmla="*/ 325848 h 75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19037" h="758985">
                    <a:moveTo>
                      <a:pt x="0" y="758985"/>
                    </a:moveTo>
                    <a:cubicBezTo>
                      <a:pt x="25066" y="414581"/>
                      <a:pt x="50132" y="70177"/>
                      <a:pt x="228600" y="7011"/>
                    </a:cubicBezTo>
                    <a:cubicBezTo>
                      <a:pt x="407068" y="-56155"/>
                      <a:pt x="789071" y="326850"/>
                      <a:pt x="1070810" y="379990"/>
                    </a:cubicBezTo>
                    <a:cubicBezTo>
                      <a:pt x="1352550" y="433129"/>
                      <a:pt x="1635793" y="379488"/>
                      <a:pt x="1919037" y="325848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dash"/>
                <a:headEnd type="none" w="med" len="med"/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 21"/>
              <p:cNvSpPr/>
              <p:nvPr/>
            </p:nvSpPr>
            <p:spPr>
              <a:xfrm rot="6383756">
                <a:off x="8379280" y="3984409"/>
                <a:ext cx="1768594" cy="464840"/>
              </a:xfrm>
              <a:custGeom>
                <a:avLst/>
                <a:gdLst>
                  <a:gd name="connsiteX0" fmla="*/ 0 w 2213810"/>
                  <a:gd name="connsiteY0" fmla="*/ 0 h 1172049"/>
                  <a:gd name="connsiteX1" fmla="*/ 559468 w 2213810"/>
                  <a:gd name="connsiteY1" fmla="*/ 926431 h 1172049"/>
                  <a:gd name="connsiteX2" fmla="*/ 1257300 w 2213810"/>
                  <a:gd name="connsiteY2" fmla="*/ 1143000 h 1172049"/>
                  <a:gd name="connsiteX3" fmla="*/ 1726531 w 2213810"/>
                  <a:gd name="connsiteY3" fmla="*/ 415089 h 1172049"/>
                  <a:gd name="connsiteX4" fmla="*/ 2213810 w 2213810"/>
                  <a:gd name="connsiteY4" fmla="*/ 264695 h 1172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13810" h="1172049">
                    <a:moveTo>
                      <a:pt x="0" y="0"/>
                    </a:moveTo>
                    <a:cubicBezTo>
                      <a:pt x="174959" y="367965"/>
                      <a:pt x="349918" y="735931"/>
                      <a:pt x="559468" y="926431"/>
                    </a:cubicBezTo>
                    <a:cubicBezTo>
                      <a:pt x="769018" y="1116931"/>
                      <a:pt x="1062790" y="1228224"/>
                      <a:pt x="1257300" y="1143000"/>
                    </a:cubicBezTo>
                    <a:cubicBezTo>
                      <a:pt x="1451811" y="1057776"/>
                      <a:pt x="1567113" y="561473"/>
                      <a:pt x="1726531" y="415089"/>
                    </a:cubicBezTo>
                    <a:cubicBezTo>
                      <a:pt x="1885949" y="268705"/>
                      <a:pt x="2049879" y="266700"/>
                      <a:pt x="2213810" y="264695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dash"/>
                <a:headEnd type="none" w="med" len="med"/>
                <a:tailEnd type="arrow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" name="Group 12"/>
              <p:cNvGrpSpPr/>
              <p:nvPr/>
            </p:nvGrpSpPr>
            <p:grpSpPr>
              <a:xfrm rot="5400000">
                <a:off x="10266451" y="4905165"/>
                <a:ext cx="504056" cy="523220"/>
                <a:chOff x="5843972" y="3474770"/>
                <a:chExt cx="504056" cy="523220"/>
              </a:xfrm>
            </p:grpSpPr>
            <p:sp>
              <p:nvSpPr>
                <p:cNvPr id="14" name="Oval 13"/>
                <p:cNvSpPr/>
                <p:nvPr/>
              </p:nvSpPr>
              <p:spPr>
                <a:xfrm>
                  <a:off x="5843972" y="3493933"/>
                  <a:ext cx="504056" cy="50405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/>
                    <p:cNvSpPr txBox="1"/>
                    <p:nvPr/>
                  </p:nvSpPr>
                  <p:spPr>
                    <a:xfrm>
                      <a:off x="5843972" y="3474770"/>
                      <a:ext cx="504056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5" name="TextBox 1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43972" y="3474770"/>
                      <a:ext cx="504056" cy="52322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6" name="Group 15"/>
              <p:cNvGrpSpPr/>
              <p:nvPr/>
            </p:nvGrpSpPr>
            <p:grpSpPr>
              <a:xfrm rot="5400000">
                <a:off x="8898300" y="5085185"/>
                <a:ext cx="504056" cy="523220"/>
                <a:chOff x="5843972" y="3500194"/>
                <a:chExt cx="504056" cy="523220"/>
              </a:xfrm>
            </p:grpSpPr>
            <p:sp>
              <p:nvSpPr>
                <p:cNvPr id="17" name="Oval 16"/>
                <p:cNvSpPr/>
                <p:nvPr/>
              </p:nvSpPr>
              <p:spPr>
                <a:xfrm>
                  <a:off x="5843972" y="3519357"/>
                  <a:ext cx="504056" cy="50405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/>
                    <p:cNvSpPr txBox="1"/>
                    <p:nvPr/>
                  </p:nvSpPr>
                  <p:spPr>
                    <a:xfrm>
                      <a:off x="5843972" y="3500194"/>
                      <a:ext cx="504056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8" name="TextBox 1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43972" y="3500194"/>
                      <a:ext cx="504056" cy="52322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6" name="Straight Arrow Connector 25"/>
              <p:cNvCxnSpPr>
                <a:stCxn id="14" idx="4"/>
                <a:endCxn id="17" idx="0"/>
              </p:cNvCxnSpPr>
              <p:nvPr/>
            </p:nvCxnSpPr>
            <p:spPr>
              <a:xfrm rot="5400000">
                <a:off x="9734812" y="4824739"/>
                <a:ext cx="180020" cy="86409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7959791" y="4844564"/>
                  <a:ext cx="130580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9791" y="4844564"/>
                  <a:ext cx="1305807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5890497" y="3802463"/>
            <a:ext cx="1497396" cy="1968496"/>
            <a:chOff x="5890497" y="3802463"/>
            <a:chExt cx="1497396" cy="19684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5977186" y="3802463"/>
                  <a:ext cx="141070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7186" y="3802463"/>
                  <a:ext cx="1410707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5890497" y="5247739"/>
                  <a:ext cx="141070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0497" y="5247739"/>
                  <a:ext cx="1410707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8837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965429" y="870565"/>
                <a:ext cx="10279143" cy="1874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Iterative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POP</m:t>
                    </m:r>
                  </m:oMath>
                </a14:m>
                <a:r>
                  <a:rPr lang="en-US" sz="2800" dirty="0"/>
                  <a:t> of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yields the topological sort.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Runtime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l-G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l-GR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l-GR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, same as ordinary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DFS</m:t>
                    </m:r>
                  </m:oMath>
                </a14:m>
                <a:r>
                  <a:rPr lang="en-US" sz="2800" dirty="0"/>
                  <a:t>, given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are known prior.</a:t>
                </a: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" y="870565"/>
                <a:ext cx="10279143" cy="1874359"/>
              </a:xfrm>
              <a:prstGeom prst="rect">
                <a:avLst/>
              </a:prstGeom>
              <a:blipFill>
                <a:blip r:embed="rId2"/>
                <a:stretch>
                  <a:fillRect l="-1186" t="-651" b="-6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75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015106" y="3936403"/>
            <a:ext cx="5738143" cy="2228901"/>
            <a:chOff x="1015106" y="4008411"/>
            <a:chExt cx="5738143" cy="2228901"/>
          </a:xfrm>
        </p:grpSpPr>
        <p:grpSp>
          <p:nvGrpSpPr>
            <p:cNvPr id="179" name="Group 178"/>
            <p:cNvGrpSpPr/>
            <p:nvPr/>
          </p:nvGrpSpPr>
          <p:grpSpPr>
            <a:xfrm>
              <a:off x="1015106" y="4149078"/>
              <a:ext cx="2356882" cy="1905771"/>
              <a:chOff x="1015106" y="3969058"/>
              <a:chExt cx="2356882" cy="1905771"/>
            </a:xfrm>
            <a:solidFill>
              <a:schemeClr val="bg1">
                <a:lumMod val="75000"/>
              </a:schemeClr>
            </a:solidFill>
          </p:grpSpPr>
          <p:sp>
            <p:nvSpPr>
              <p:cNvPr id="176" name="Rounded Rectangle 175"/>
              <p:cNvSpPr/>
              <p:nvPr/>
            </p:nvSpPr>
            <p:spPr>
              <a:xfrm>
                <a:off x="1019436" y="3969058"/>
                <a:ext cx="715249" cy="190577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ounded Rectangle 176"/>
              <p:cNvSpPr/>
              <p:nvPr/>
            </p:nvSpPr>
            <p:spPr>
              <a:xfrm rot="5400000">
                <a:off x="1865121" y="3119044"/>
                <a:ext cx="656851" cy="2356882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ight Triangle 177"/>
              <p:cNvSpPr/>
              <p:nvPr/>
            </p:nvSpPr>
            <p:spPr>
              <a:xfrm rot="5400000">
                <a:off x="1901276" y="4417375"/>
                <a:ext cx="1214890" cy="161441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/>
            <p:cNvGrpSpPr/>
            <p:nvPr/>
          </p:nvGrpSpPr>
          <p:grpSpPr>
            <a:xfrm>
              <a:off x="2680276" y="4008411"/>
              <a:ext cx="4072973" cy="2228901"/>
              <a:chOff x="4876520" y="2616887"/>
              <a:chExt cx="4072973" cy="2228901"/>
            </a:xfrm>
          </p:grpSpPr>
          <p:sp>
            <p:nvSpPr>
              <p:cNvPr id="129" name="Oval 128"/>
              <p:cNvSpPr/>
              <p:nvPr/>
            </p:nvSpPr>
            <p:spPr>
              <a:xfrm>
                <a:off x="4876520" y="3837676"/>
                <a:ext cx="2376264" cy="1008112"/>
              </a:xfrm>
              <a:prstGeom prst="ellipse">
                <a:avLst/>
              </a:prstGeom>
              <a:solidFill>
                <a:srgbClr val="777777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/>
              <p:cNvSpPr/>
              <p:nvPr/>
            </p:nvSpPr>
            <p:spPr>
              <a:xfrm>
                <a:off x="6528512" y="2616887"/>
                <a:ext cx="2376264" cy="1008112"/>
              </a:xfrm>
              <a:prstGeom prst="ellipse">
                <a:avLst/>
              </a:prstGeom>
              <a:solidFill>
                <a:srgbClr val="777777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8048145" y="3922017"/>
                <a:ext cx="901348" cy="855966"/>
              </a:xfrm>
              <a:prstGeom prst="ellipse">
                <a:avLst/>
              </a:prstGeom>
              <a:solidFill>
                <a:srgbClr val="777777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65430" y="454734"/>
            <a:ext cx="1026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Strongly Connected Components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969656" y="1163511"/>
                <a:ext cx="10261140" cy="2525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1" i="1" dirty="0"/>
                  <a:t>Strongly connected component </a:t>
                </a:r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1">
                        <a:latin typeface="Cambria Math" panose="02040503050406030204" pitchFamily="18" charset="0"/>
                      </a:rPr>
                      <m:t>SCC</m:t>
                    </m:r>
                  </m:oMath>
                </a14:m>
                <a:r>
                  <a:rPr lang="en-US" sz="2800" dirty="0"/>
                  <a:t>) of digraph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800" dirty="0"/>
                  <a:t> is maximal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s.t.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/>
                  <a:t>, </a:t>
                </a:r>
                <a:r>
                  <a:rPr lang="he-IL" sz="2800" dirty="0"/>
                  <a:t> </a:t>
                </a:r>
                <a:r>
                  <a:rPr lang="he-IL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∃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and </a:t>
                </a:r>
                <a:r>
                  <a:rPr lang="he-IL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∃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800" dirty="0"/>
                  <a:t>, denoted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800" dirty="0"/>
                  <a:t>.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800" dirty="0"/>
                  <a:t> is equivalence relations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/>
                  <a:t> is equivalence  class. (</a:t>
                </a:r>
                <a:r>
                  <a:rPr lang="en-US" sz="2800" dirty="0">
                    <a:solidFill>
                      <a:srgbClr val="FF0000"/>
                    </a:solidFill>
                  </a:rPr>
                  <a:t>HW</a:t>
                </a:r>
                <a:r>
                  <a:rPr lang="en-US" sz="2800" dirty="0"/>
                  <a:t>: prove)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Contraction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SCC</m:t>
                    </m:r>
                  </m:oMath>
                </a14:m>
                <a:r>
                  <a:rPr lang="en-US" sz="2800" dirty="0"/>
                  <a:t>s yields the acyclic component graph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SCC</m:t>
                        </m:r>
                      </m:sup>
                    </m:sSup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56" y="1163511"/>
                <a:ext cx="10261140" cy="2525948"/>
              </a:xfrm>
              <a:prstGeom prst="rect">
                <a:avLst/>
              </a:prstGeom>
              <a:blipFill>
                <a:blip r:embed="rId2"/>
                <a:stretch>
                  <a:fillRect l="-1188" r="-1248" b="-6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1091444" y="4121279"/>
            <a:ext cx="5945062" cy="1864005"/>
            <a:chOff x="1091444" y="4190844"/>
            <a:chExt cx="5945062" cy="1864005"/>
          </a:xfrm>
        </p:grpSpPr>
        <p:grpSp>
          <p:nvGrpSpPr>
            <p:cNvPr id="124" name="Group 123"/>
            <p:cNvGrpSpPr/>
            <p:nvPr/>
          </p:nvGrpSpPr>
          <p:grpSpPr>
            <a:xfrm>
              <a:off x="1091444" y="4190844"/>
              <a:ext cx="5945062" cy="1864005"/>
              <a:chOff x="4332162" y="2106920"/>
              <a:chExt cx="5945062" cy="1864005"/>
            </a:xfrm>
          </p:grpSpPr>
          <p:grpSp>
            <p:nvGrpSpPr>
              <p:cNvPr id="47" name="Group 46"/>
              <p:cNvGrpSpPr/>
              <p:nvPr/>
            </p:nvGrpSpPr>
            <p:grpSpPr>
              <a:xfrm>
                <a:off x="4332162" y="2153675"/>
                <a:ext cx="541276" cy="1757267"/>
                <a:chOff x="4835860" y="2153675"/>
                <a:chExt cx="541276" cy="1757267"/>
              </a:xfrm>
            </p:grpSpPr>
            <p:grpSp>
              <p:nvGrpSpPr>
                <p:cNvPr id="12" name="Group 11"/>
                <p:cNvGrpSpPr/>
                <p:nvPr/>
              </p:nvGrpSpPr>
              <p:grpSpPr>
                <a:xfrm>
                  <a:off x="4835860" y="2153675"/>
                  <a:ext cx="541276" cy="523220"/>
                  <a:chOff x="2621006" y="1691226"/>
                  <a:chExt cx="541276" cy="52322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5" name="TextBox 34"/>
                      <p:cNvSpPr txBox="1"/>
                      <p:nvPr/>
                    </p:nvSpPr>
                    <p:spPr>
                      <a:xfrm>
                        <a:off x="2621006" y="1691226"/>
                        <a:ext cx="541276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35" name="TextBox 34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21006" y="1691226"/>
                        <a:ext cx="541276" cy="523220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6" name="Oval 35"/>
                  <p:cNvSpPr/>
                  <p:nvPr/>
                </p:nvSpPr>
                <p:spPr>
                  <a:xfrm>
                    <a:off x="2675620" y="1736812"/>
                    <a:ext cx="432048" cy="43204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4" name="Group 43"/>
                <p:cNvGrpSpPr/>
                <p:nvPr/>
              </p:nvGrpSpPr>
              <p:grpSpPr>
                <a:xfrm>
                  <a:off x="4835860" y="3387722"/>
                  <a:ext cx="541276" cy="523220"/>
                  <a:chOff x="2615007" y="1970522"/>
                  <a:chExt cx="541276" cy="52322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5" name="TextBox 44"/>
                      <p:cNvSpPr txBox="1"/>
                      <p:nvPr/>
                    </p:nvSpPr>
                    <p:spPr>
                      <a:xfrm>
                        <a:off x="2615007" y="1970522"/>
                        <a:ext cx="541276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45" name="TextBox 44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15007" y="1970522"/>
                        <a:ext cx="541276" cy="523220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6" name="Oval 45"/>
                  <p:cNvSpPr/>
                  <p:nvPr/>
                </p:nvSpPr>
                <p:spPr>
                  <a:xfrm>
                    <a:off x="2669621" y="2024376"/>
                    <a:ext cx="432048" cy="43204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48" name="Group 47"/>
              <p:cNvGrpSpPr/>
              <p:nvPr/>
            </p:nvGrpSpPr>
            <p:grpSpPr>
              <a:xfrm>
                <a:off x="5978993" y="2153675"/>
                <a:ext cx="559327" cy="1736505"/>
                <a:chOff x="4835860" y="2153675"/>
                <a:chExt cx="559327" cy="1736505"/>
              </a:xfrm>
            </p:grpSpPr>
            <p:grpSp>
              <p:nvGrpSpPr>
                <p:cNvPr id="49" name="Group 48"/>
                <p:cNvGrpSpPr/>
                <p:nvPr/>
              </p:nvGrpSpPr>
              <p:grpSpPr>
                <a:xfrm>
                  <a:off x="4835860" y="2153675"/>
                  <a:ext cx="541276" cy="523220"/>
                  <a:chOff x="2621006" y="1691226"/>
                  <a:chExt cx="541276" cy="52322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3" name="TextBox 52"/>
                      <p:cNvSpPr txBox="1"/>
                      <p:nvPr/>
                    </p:nvSpPr>
                    <p:spPr>
                      <a:xfrm>
                        <a:off x="2621006" y="1691226"/>
                        <a:ext cx="541276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53" name="TextBox 52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21006" y="1691226"/>
                        <a:ext cx="541276" cy="52322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54" name="Oval 53"/>
                  <p:cNvSpPr/>
                  <p:nvPr/>
                </p:nvSpPr>
                <p:spPr>
                  <a:xfrm>
                    <a:off x="2688175" y="1734276"/>
                    <a:ext cx="432048" cy="43204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0" name="Group 49"/>
                <p:cNvGrpSpPr/>
                <p:nvPr/>
              </p:nvGrpSpPr>
              <p:grpSpPr>
                <a:xfrm>
                  <a:off x="4853911" y="3366960"/>
                  <a:ext cx="541276" cy="523220"/>
                  <a:chOff x="2633058" y="1949760"/>
                  <a:chExt cx="541276" cy="52322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1" name="TextBox 50"/>
                      <p:cNvSpPr txBox="1"/>
                      <p:nvPr/>
                    </p:nvSpPr>
                    <p:spPr>
                      <a:xfrm>
                        <a:off x="2633058" y="1949760"/>
                        <a:ext cx="541276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51" name="TextBox 50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33058" y="1949760"/>
                        <a:ext cx="541276" cy="523220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52" name="Oval 51"/>
                  <p:cNvSpPr/>
                  <p:nvPr/>
                </p:nvSpPr>
                <p:spPr>
                  <a:xfrm>
                    <a:off x="2682176" y="2024376"/>
                    <a:ext cx="432048" cy="43204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55" name="Group 54"/>
              <p:cNvGrpSpPr/>
              <p:nvPr/>
            </p:nvGrpSpPr>
            <p:grpSpPr>
              <a:xfrm>
                <a:off x="7628851" y="2153674"/>
                <a:ext cx="550274" cy="1719950"/>
                <a:chOff x="4835860" y="2153675"/>
                <a:chExt cx="550274" cy="1719950"/>
              </a:xfrm>
            </p:grpSpPr>
            <p:grpSp>
              <p:nvGrpSpPr>
                <p:cNvPr id="56" name="Group 55"/>
                <p:cNvGrpSpPr/>
                <p:nvPr/>
              </p:nvGrpSpPr>
              <p:grpSpPr>
                <a:xfrm>
                  <a:off x="4835860" y="2153675"/>
                  <a:ext cx="541276" cy="523220"/>
                  <a:chOff x="2621006" y="1691226"/>
                  <a:chExt cx="541276" cy="52322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0" name="TextBox 59"/>
                      <p:cNvSpPr txBox="1"/>
                      <p:nvPr/>
                    </p:nvSpPr>
                    <p:spPr>
                      <a:xfrm>
                        <a:off x="2621006" y="1691226"/>
                        <a:ext cx="541276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60" name="TextBox 5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21006" y="1691226"/>
                        <a:ext cx="541276" cy="523220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1" name="Oval 60"/>
                  <p:cNvSpPr/>
                  <p:nvPr/>
                </p:nvSpPr>
                <p:spPr>
                  <a:xfrm>
                    <a:off x="2675620" y="1736812"/>
                    <a:ext cx="432048" cy="43204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7" name="Group 56"/>
                <p:cNvGrpSpPr/>
                <p:nvPr/>
              </p:nvGrpSpPr>
              <p:grpSpPr>
                <a:xfrm>
                  <a:off x="4844858" y="3343428"/>
                  <a:ext cx="541276" cy="530197"/>
                  <a:chOff x="2624005" y="1926228"/>
                  <a:chExt cx="541276" cy="530197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8" name="TextBox 57"/>
                      <p:cNvSpPr txBox="1"/>
                      <p:nvPr/>
                    </p:nvSpPr>
                    <p:spPr>
                      <a:xfrm>
                        <a:off x="2624005" y="1926228"/>
                        <a:ext cx="541276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58" name="TextBox 57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24005" y="1926228"/>
                        <a:ext cx="541276" cy="523220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59" name="Oval 58"/>
                  <p:cNvSpPr/>
                  <p:nvPr/>
                </p:nvSpPr>
                <p:spPr>
                  <a:xfrm>
                    <a:off x="2669621" y="2024377"/>
                    <a:ext cx="432048" cy="43204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2" name="Group 61"/>
              <p:cNvGrpSpPr/>
              <p:nvPr/>
            </p:nvGrpSpPr>
            <p:grpSpPr>
              <a:xfrm>
                <a:off x="9272655" y="2153674"/>
                <a:ext cx="541276" cy="1757268"/>
                <a:chOff x="4835860" y="2153675"/>
                <a:chExt cx="541276" cy="1757268"/>
              </a:xfrm>
            </p:grpSpPr>
            <p:grpSp>
              <p:nvGrpSpPr>
                <p:cNvPr id="63" name="Group 62"/>
                <p:cNvGrpSpPr/>
                <p:nvPr/>
              </p:nvGrpSpPr>
              <p:grpSpPr>
                <a:xfrm>
                  <a:off x="4835860" y="2153675"/>
                  <a:ext cx="541276" cy="523220"/>
                  <a:chOff x="2621006" y="1691226"/>
                  <a:chExt cx="541276" cy="52322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7" name="TextBox 66"/>
                      <p:cNvSpPr txBox="1"/>
                      <p:nvPr/>
                    </p:nvSpPr>
                    <p:spPr>
                      <a:xfrm>
                        <a:off x="2621006" y="1691226"/>
                        <a:ext cx="541276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67" name="TextBox 66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21006" y="1691226"/>
                        <a:ext cx="541276" cy="523220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8" name="Oval 67"/>
                  <p:cNvSpPr/>
                  <p:nvPr/>
                </p:nvSpPr>
                <p:spPr>
                  <a:xfrm>
                    <a:off x="2675620" y="1736812"/>
                    <a:ext cx="432048" cy="43204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4" name="Group 63"/>
                <p:cNvGrpSpPr/>
                <p:nvPr/>
              </p:nvGrpSpPr>
              <p:grpSpPr>
                <a:xfrm>
                  <a:off x="4835860" y="3387723"/>
                  <a:ext cx="541276" cy="523220"/>
                  <a:chOff x="2615007" y="1970523"/>
                  <a:chExt cx="541276" cy="52322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5" name="TextBox 64"/>
                      <p:cNvSpPr txBox="1"/>
                      <p:nvPr/>
                    </p:nvSpPr>
                    <p:spPr>
                      <a:xfrm>
                        <a:off x="2615007" y="1970523"/>
                        <a:ext cx="541276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65" name="TextBox 64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15007" y="1970523"/>
                        <a:ext cx="541276" cy="523220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6" name="Oval 65"/>
                  <p:cNvSpPr/>
                  <p:nvPr/>
                </p:nvSpPr>
                <p:spPr>
                  <a:xfrm>
                    <a:off x="2669621" y="2024377"/>
                    <a:ext cx="432048" cy="43204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76" name="Straight Arrow Connector 75"/>
              <p:cNvCxnSpPr>
                <a:stCxn id="46" idx="0"/>
                <a:endCxn id="36" idx="4"/>
              </p:cNvCxnSpPr>
              <p:nvPr/>
            </p:nvCxnSpPr>
            <p:spPr>
              <a:xfrm flipV="1">
                <a:off x="4602800" y="2631309"/>
                <a:ext cx="0" cy="810267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stCxn id="36" idx="6"/>
                <a:endCxn id="54" idx="2"/>
              </p:cNvCxnSpPr>
              <p:nvPr/>
            </p:nvCxnSpPr>
            <p:spPr>
              <a:xfrm flipV="1">
                <a:off x="4818824" y="2412749"/>
                <a:ext cx="1227338" cy="2536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/>
              <p:cNvCxnSpPr>
                <a:stCxn id="54" idx="3"/>
                <a:endCxn id="46" idx="7"/>
              </p:cNvCxnSpPr>
              <p:nvPr/>
            </p:nvCxnSpPr>
            <p:spPr>
              <a:xfrm flipH="1">
                <a:off x="4755552" y="2565501"/>
                <a:ext cx="1353882" cy="939347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/>
              <p:cNvCxnSpPr>
                <a:stCxn id="46" idx="6"/>
                <a:endCxn id="52" idx="2"/>
              </p:cNvCxnSpPr>
              <p:nvPr/>
            </p:nvCxnSpPr>
            <p:spPr>
              <a:xfrm>
                <a:off x="4818824" y="3657600"/>
                <a:ext cx="1227338" cy="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/>
              <p:cNvCxnSpPr>
                <a:stCxn id="54" idx="6"/>
                <a:endCxn id="61" idx="2"/>
              </p:cNvCxnSpPr>
              <p:nvPr/>
            </p:nvCxnSpPr>
            <p:spPr>
              <a:xfrm>
                <a:off x="6478210" y="2412749"/>
                <a:ext cx="1205255" cy="2535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3" name="Group 102"/>
              <p:cNvGrpSpPr/>
              <p:nvPr/>
            </p:nvGrpSpPr>
            <p:grpSpPr>
              <a:xfrm>
                <a:off x="7983309" y="2106920"/>
                <a:ext cx="1476164" cy="615087"/>
                <a:chOff x="7983309" y="2106920"/>
                <a:chExt cx="1476164" cy="615087"/>
              </a:xfrm>
            </p:grpSpPr>
            <p:sp>
              <p:nvSpPr>
                <p:cNvPr id="94" name="Arc 93"/>
                <p:cNvSpPr/>
                <p:nvPr/>
              </p:nvSpPr>
              <p:spPr>
                <a:xfrm>
                  <a:off x="7983309" y="2106920"/>
                  <a:ext cx="1476164" cy="481893"/>
                </a:xfrm>
                <a:prstGeom prst="arc">
                  <a:avLst>
                    <a:gd name="adj1" fmla="val 11293691"/>
                    <a:gd name="adj2" fmla="val 21133742"/>
                  </a:avLst>
                </a:prstGeom>
                <a:ln w="19050">
                  <a:solidFill>
                    <a:schemeClr val="tx1"/>
                  </a:solidFill>
                  <a:headEnd type="none" w="med" len="med"/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Arc 101"/>
                <p:cNvSpPr/>
                <p:nvPr/>
              </p:nvSpPr>
              <p:spPr>
                <a:xfrm flipH="1" flipV="1">
                  <a:off x="7983309" y="2240114"/>
                  <a:ext cx="1476164" cy="481893"/>
                </a:xfrm>
                <a:prstGeom prst="arc">
                  <a:avLst>
                    <a:gd name="adj1" fmla="val 11293691"/>
                    <a:gd name="adj2" fmla="val 21132157"/>
                  </a:avLst>
                </a:prstGeom>
                <a:ln w="19050">
                  <a:solidFill>
                    <a:schemeClr val="tx1"/>
                  </a:solidFill>
                  <a:headEnd type="none" w="med" len="med"/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4" name="Group 103"/>
              <p:cNvGrpSpPr/>
              <p:nvPr/>
            </p:nvGrpSpPr>
            <p:grpSpPr>
              <a:xfrm>
                <a:off x="6336478" y="3355838"/>
                <a:ext cx="1476164" cy="615087"/>
                <a:chOff x="7983309" y="2106920"/>
                <a:chExt cx="1476164" cy="615087"/>
              </a:xfrm>
            </p:grpSpPr>
            <p:sp>
              <p:nvSpPr>
                <p:cNvPr id="105" name="Arc 104"/>
                <p:cNvSpPr/>
                <p:nvPr/>
              </p:nvSpPr>
              <p:spPr>
                <a:xfrm>
                  <a:off x="7983309" y="2106920"/>
                  <a:ext cx="1476164" cy="481893"/>
                </a:xfrm>
                <a:prstGeom prst="arc">
                  <a:avLst>
                    <a:gd name="adj1" fmla="val 11293691"/>
                    <a:gd name="adj2" fmla="val 21133742"/>
                  </a:avLst>
                </a:prstGeom>
                <a:ln w="19050">
                  <a:solidFill>
                    <a:schemeClr val="tx1"/>
                  </a:solidFill>
                  <a:headEnd type="none" w="med" len="med"/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Arc 105"/>
                <p:cNvSpPr/>
                <p:nvPr/>
              </p:nvSpPr>
              <p:spPr>
                <a:xfrm flipH="1" flipV="1">
                  <a:off x="7983309" y="2240114"/>
                  <a:ext cx="1476164" cy="481893"/>
                </a:xfrm>
                <a:prstGeom prst="arc">
                  <a:avLst>
                    <a:gd name="adj1" fmla="val 11293691"/>
                    <a:gd name="adj2" fmla="val 21133742"/>
                  </a:avLst>
                </a:prstGeom>
                <a:ln w="19050">
                  <a:solidFill>
                    <a:schemeClr val="tx1"/>
                  </a:solidFill>
                  <a:headEnd type="none" w="med" len="med"/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07" name="Straight Arrow Connector 106"/>
              <p:cNvCxnSpPr>
                <a:stCxn id="54" idx="4"/>
                <a:endCxn id="52" idx="0"/>
              </p:cNvCxnSpPr>
              <p:nvPr/>
            </p:nvCxnSpPr>
            <p:spPr>
              <a:xfrm>
                <a:off x="6262186" y="2628773"/>
                <a:ext cx="0" cy="812803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/>
              <p:cNvCxnSpPr>
                <a:stCxn id="61" idx="4"/>
                <a:endCxn id="59" idx="0"/>
              </p:cNvCxnSpPr>
              <p:nvPr/>
            </p:nvCxnSpPr>
            <p:spPr>
              <a:xfrm>
                <a:off x="7899489" y="2631308"/>
                <a:ext cx="0" cy="810268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/>
              <p:cNvCxnSpPr>
                <a:stCxn id="68" idx="4"/>
                <a:endCxn id="66" idx="0"/>
              </p:cNvCxnSpPr>
              <p:nvPr/>
            </p:nvCxnSpPr>
            <p:spPr>
              <a:xfrm>
                <a:off x="9543293" y="2631308"/>
                <a:ext cx="0" cy="810268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/>
              <p:cNvCxnSpPr>
                <a:stCxn id="59" idx="6"/>
                <a:endCxn id="66" idx="2"/>
              </p:cNvCxnSpPr>
              <p:nvPr/>
            </p:nvCxnSpPr>
            <p:spPr>
              <a:xfrm>
                <a:off x="8115513" y="3657600"/>
                <a:ext cx="1211756" cy="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Arc 122"/>
              <p:cNvSpPr/>
              <p:nvPr/>
            </p:nvSpPr>
            <p:spPr>
              <a:xfrm flipV="1">
                <a:off x="9621276" y="3433795"/>
                <a:ext cx="655948" cy="487424"/>
              </a:xfrm>
              <a:prstGeom prst="arc">
                <a:avLst>
                  <a:gd name="adj1" fmla="val 12641152"/>
                  <a:gd name="adj2" fmla="val 8720833"/>
                </a:avLst>
              </a:prstGeom>
              <a:ln w="19050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/>
                <p:cNvSpPr txBox="1"/>
                <p:nvPr/>
              </p:nvSpPr>
              <p:spPr>
                <a:xfrm>
                  <a:off x="3160705" y="4671065"/>
                  <a:ext cx="1282778" cy="6100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82" name="TextBox 1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0705" y="4671065"/>
                  <a:ext cx="1282778" cy="61003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/>
          <p:cNvGrpSpPr/>
          <p:nvPr/>
        </p:nvGrpSpPr>
        <p:grpSpPr>
          <a:xfrm>
            <a:off x="7006570" y="4077070"/>
            <a:ext cx="4220000" cy="1715118"/>
            <a:chOff x="6690112" y="4255697"/>
            <a:chExt cx="4220000" cy="1715118"/>
          </a:xfrm>
        </p:grpSpPr>
        <p:grpSp>
          <p:nvGrpSpPr>
            <p:cNvPr id="7" name="Group 6"/>
            <p:cNvGrpSpPr/>
            <p:nvPr/>
          </p:nvGrpSpPr>
          <p:grpSpPr>
            <a:xfrm>
              <a:off x="7166478" y="4255697"/>
              <a:ext cx="3743634" cy="1715118"/>
              <a:chOff x="7166478" y="4255697"/>
              <a:chExt cx="3743634" cy="1715118"/>
            </a:xfrm>
          </p:grpSpPr>
          <p:grpSp>
            <p:nvGrpSpPr>
              <p:cNvPr id="175" name="Group 174"/>
              <p:cNvGrpSpPr/>
              <p:nvPr/>
            </p:nvGrpSpPr>
            <p:grpSpPr>
              <a:xfrm>
                <a:off x="7662300" y="4255697"/>
                <a:ext cx="3247812" cy="1715118"/>
                <a:chOff x="7811060" y="4081602"/>
                <a:chExt cx="3247812" cy="1715118"/>
              </a:xfrm>
            </p:grpSpPr>
            <p:grpSp>
              <p:nvGrpSpPr>
                <p:cNvPr id="171" name="Group 170"/>
                <p:cNvGrpSpPr/>
                <p:nvPr/>
              </p:nvGrpSpPr>
              <p:grpSpPr>
                <a:xfrm>
                  <a:off x="7811060" y="4081602"/>
                  <a:ext cx="894420" cy="541784"/>
                  <a:chOff x="7811060" y="4081602"/>
                  <a:chExt cx="894420" cy="541784"/>
                </a:xfrm>
              </p:grpSpPr>
              <p:sp>
                <p:nvSpPr>
                  <p:cNvPr id="134" name="Oval 133"/>
                  <p:cNvSpPr/>
                  <p:nvPr/>
                </p:nvSpPr>
                <p:spPr>
                  <a:xfrm>
                    <a:off x="7811060" y="4081602"/>
                    <a:ext cx="894420" cy="540060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5" name="TextBox 134"/>
                      <p:cNvSpPr txBox="1"/>
                      <p:nvPr/>
                    </p:nvSpPr>
                    <p:spPr>
                      <a:xfrm>
                        <a:off x="7935759" y="4100166"/>
                        <a:ext cx="689231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𝑎𝑏𝑒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35" name="TextBox 134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935759" y="4100166"/>
                        <a:ext cx="689231" cy="523220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74" name="Group 173"/>
                <p:cNvGrpSpPr/>
                <p:nvPr/>
              </p:nvGrpSpPr>
              <p:grpSpPr>
                <a:xfrm>
                  <a:off x="8646039" y="5254936"/>
                  <a:ext cx="894420" cy="541784"/>
                  <a:chOff x="8646039" y="5254936"/>
                  <a:chExt cx="894420" cy="541784"/>
                </a:xfrm>
              </p:grpSpPr>
              <p:sp>
                <p:nvSpPr>
                  <p:cNvPr id="139" name="Oval 138"/>
                  <p:cNvSpPr/>
                  <p:nvPr/>
                </p:nvSpPr>
                <p:spPr>
                  <a:xfrm>
                    <a:off x="8646039" y="5254936"/>
                    <a:ext cx="894420" cy="540060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0" name="TextBox 139"/>
                      <p:cNvSpPr txBox="1"/>
                      <p:nvPr/>
                    </p:nvSpPr>
                    <p:spPr>
                      <a:xfrm>
                        <a:off x="8770738" y="5273500"/>
                        <a:ext cx="689231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𝑓𝑔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40" name="TextBox 13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770738" y="5273500"/>
                        <a:ext cx="689231" cy="523220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72" name="Group 171"/>
                <p:cNvGrpSpPr/>
                <p:nvPr/>
              </p:nvGrpSpPr>
              <p:grpSpPr>
                <a:xfrm>
                  <a:off x="9562683" y="4081602"/>
                  <a:ext cx="894420" cy="541784"/>
                  <a:chOff x="9562683" y="4081602"/>
                  <a:chExt cx="894420" cy="541784"/>
                </a:xfrm>
              </p:grpSpPr>
              <p:sp>
                <p:nvSpPr>
                  <p:cNvPr id="142" name="Oval 141"/>
                  <p:cNvSpPr/>
                  <p:nvPr/>
                </p:nvSpPr>
                <p:spPr>
                  <a:xfrm>
                    <a:off x="9562683" y="4081602"/>
                    <a:ext cx="894420" cy="540060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3" name="TextBox 142"/>
                      <p:cNvSpPr txBox="1"/>
                      <p:nvPr/>
                    </p:nvSpPr>
                    <p:spPr>
                      <a:xfrm>
                        <a:off x="9687382" y="4100166"/>
                        <a:ext cx="689231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𝑐𝑑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43" name="TextBox 142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687382" y="4100166"/>
                        <a:ext cx="689231" cy="523220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73" name="Group 172"/>
                <p:cNvGrpSpPr/>
                <p:nvPr/>
              </p:nvGrpSpPr>
              <p:grpSpPr>
                <a:xfrm>
                  <a:off x="10164452" y="5246516"/>
                  <a:ext cx="894420" cy="540060"/>
                  <a:chOff x="10164452" y="5246516"/>
                  <a:chExt cx="894420" cy="540060"/>
                </a:xfrm>
              </p:grpSpPr>
              <p:sp>
                <p:nvSpPr>
                  <p:cNvPr id="145" name="Oval 144"/>
                  <p:cNvSpPr/>
                  <p:nvPr/>
                </p:nvSpPr>
                <p:spPr>
                  <a:xfrm>
                    <a:off x="10164452" y="5246516"/>
                    <a:ext cx="894420" cy="540060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6" name="TextBox 145"/>
                      <p:cNvSpPr txBox="1"/>
                      <p:nvPr/>
                    </p:nvSpPr>
                    <p:spPr>
                      <a:xfrm>
                        <a:off x="10289151" y="5254936"/>
                        <a:ext cx="689231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46" name="TextBox 145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289151" y="5254936"/>
                        <a:ext cx="689231" cy="523220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148" name="Straight Arrow Connector 147"/>
                <p:cNvCxnSpPr>
                  <a:stCxn id="134" idx="6"/>
                  <a:endCxn id="142" idx="2"/>
                </p:cNvCxnSpPr>
                <p:nvPr/>
              </p:nvCxnSpPr>
              <p:spPr>
                <a:xfrm>
                  <a:off x="8705480" y="4351632"/>
                  <a:ext cx="857203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Arrow Connector 148"/>
                <p:cNvCxnSpPr>
                  <a:stCxn id="134" idx="4"/>
                  <a:endCxn id="139" idx="1"/>
                </p:cNvCxnSpPr>
                <p:nvPr/>
              </p:nvCxnSpPr>
              <p:spPr>
                <a:xfrm>
                  <a:off x="8258270" y="4621662"/>
                  <a:ext cx="518754" cy="712364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Arrow Connector 154"/>
                <p:cNvCxnSpPr>
                  <a:stCxn id="142" idx="3"/>
                  <a:endCxn id="139" idx="7"/>
                </p:cNvCxnSpPr>
                <p:nvPr/>
              </p:nvCxnSpPr>
              <p:spPr>
                <a:xfrm flipH="1">
                  <a:off x="9409474" y="4542572"/>
                  <a:ext cx="284194" cy="791454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Arrow Connector 159"/>
                <p:cNvCxnSpPr>
                  <a:stCxn id="142" idx="5"/>
                  <a:endCxn id="145" idx="0"/>
                </p:cNvCxnSpPr>
                <p:nvPr/>
              </p:nvCxnSpPr>
              <p:spPr>
                <a:xfrm>
                  <a:off x="10326118" y="4542572"/>
                  <a:ext cx="285544" cy="703944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Arrow Connector 162"/>
                <p:cNvCxnSpPr>
                  <a:stCxn id="139" idx="6"/>
                  <a:endCxn id="145" idx="2"/>
                </p:cNvCxnSpPr>
                <p:nvPr/>
              </p:nvCxnSpPr>
              <p:spPr>
                <a:xfrm flipV="1">
                  <a:off x="9540459" y="5516546"/>
                  <a:ext cx="623993" cy="842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1" name="TextBox 180"/>
                  <p:cNvSpPr txBox="1"/>
                  <p:nvPr/>
                </p:nvSpPr>
                <p:spPr>
                  <a:xfrm>
                    <a:off x="7166478" y="4862296"/>
                    <a:ext cx="1026114" cy="598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SCC</m:t>
                              </m:r>
                            </m:sup>
                          </m:sSup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81" name="TextBox 18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6478" y="4862296"/>
                    <a:ext cx="1026114" cy="598305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84" name="Right Arrow 183"/>
            <p:cNvSpPr/>
            <p:nvPr/>
          </p:nvSpPr>
          <p:spPr>
            <a:xfrm>
              <a:off x="6690112" y="4970036"/>
              <a:ext cx="506888" cy="284716"/>
            </a:xfrm>
            <a:prstGeom prst="rightArrow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361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val 84"/>
          <p:cNvSpPr/>
          <p:nvPr/>
        </p:nvSpPr>
        <p:spPr>
          <a:xfrm>
            <a:off x="6509696" y="1486670"/>
            <a:ext cx="432048" cy="432048"/>
          </a:xfrm>
          <a:prstGeom prst="ellipse">
            <a:avLst/>
          </a:prstGeom>
          <a:solidFill>
            <a:srgbClr val="0000FF">
              <a:alpha val="30196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32</a:t>
            </a:fld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3215680" y="1384090"/>
            <a:ext cx="5890448" cy="1864005"/>
            <a:chOff x="1074050" y="872716"/>
            <a:chExt cx="5890448" cy="1864005"/>
          </a:xfrm>
        </p:grpSpPr>
        <p:grpSp>
          <p:nvGrpSpPr>
            <p:cNvPr id="47" name="Group 46"/>
            <p:cNvGrpSpPr/>
            <p:nvPr/>
          </p:nvGrpSpPr>
          <p:grpSpPr>
            <a:xfrm>
              <a:off x="1074050" y="965057"/>
              <a:ext cx="432048" cy="1674363"/>
              <a:chOff x="4890474" y="2199261"/>
              <a:chExt cx="432048" cy="1674363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4890474" y="2199261"/>
                <a:ext cx="432048" cy="43204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4890474" y="3441576"/>
                <a:ext cx="432048" cy="43204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2684318" y="962521"/>
              <a:ext cx="541276" cy="1693455"/>
              <a:chOff x="4853911" y="2196725"/>
              <a:chExt cx="541276" cy="1693455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4903029" y="2196725"/>
                <a:ext cx="432048" cy="43204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0" name="Group 49"/>
              <p:cNvGrpSpPr/>
              <p:nvPr/>
            </p:nvGrpSpPr>
            <p:grpSpPr>
              <a:xfrm>
                <a:off x="4853911" y="3366960"/>
                <a:ext cx="541276" cy="523220"/>
                <a:chOff x="2633058" y="1949760"/>
                <a:chExt cx="541276" cy="523220"/>
              </a:xfrm>
            </p:grpSpPr>
            <p:sp>
              <p:nvSpPr>
                <p:cNvPr id="51" name="TextBox 50"/>
                <p:cNvSpPr txBox="1"/>
                <p:nvPr/>
              </p:nvSpPr>
              <p:spPr>
                <a:xfrm>
                  <a:off x="2633058" y="1949760"/>
                  <a:ext cx="54127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2800" dirty="0"/>
                </a:p>
              </p:txBody>
            </p:sp>
            <p:sp>
              <p:nvSpPr>
                <p:cNvPr id="52" name="Oval 51"/>
                <p:cNvSpPr/>
                <p:nvPr/>
              </p:nvSpPr>
              <p:spPr>
                <a:xfrm>
                  <a:off x="2682176" y="2024376"/>
                  <a:ext cx="432048" cy="43204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5" name="Group 54"/>
            <p:cNvGrpSpPr/>
            <p:nvPr/>
          </p:nvGrpSpPr>
          <p:grpSpPr>
            <a:xfrm>
              <a:off x="4370739" y="965056"/>
              <a:ext cx="432048" cy="1674364"/>
              <a:chOff x="4890474" y="2199261"/>
              <a:chExt cx="432048" cy="1674364"/>
            </a:xfrm>
          </p:grpSpPr>
          <p:sp>
            <p:nvSpPr>
              <p:cNvPr id="61" name="Oval 60"/>
              <p:cNvSpPr/>
              <p:nvPr/>
            </p:nvSpPr>
            <p:spPr>
              <a:xfrm>
                <a:off x="4890474" y="2199261"/>
                <a:ext cx="432048" cy="43204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4890474" y="3441577"/>
                <a:ext cx="432048" cy="43204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6014543" y="965056"/>
              <a:ext cx="432048" cy="1674364"/>
              <a:chOff x="4890474" y="2199261"/>
              <a:chExt cx="432048" cy="1674364"/>
            </a:xfrm>
          </p:grpSpPr>
          <p:sp>
            <p:nvSpPr>
              <p:cNvPr id="68" name="Oval 67"/>
              <p:cNvSpPr/>
              <p:nvPr/>
            </p:nvSpPr>
            <p:spPr>
              <a:xfrm>
                <a:off x="4890474" y="2199261"/>
                <a:ext cx="432048" cy="43204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4890474" y="3441577"/>
                <a:ext cx="432048" cy="43204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6" name="Straight Arrow Connector 75"/>
            <p:cNvCxnSpPr>
              <a:stCxn id="46" idx="0"/>
              <a:endCxn id="36" idx="4"/>
            </p:cNvCxnSpPr>
            <p:nvPr/>
          </p:nvCxnSpPr>
          <p:spPr>
            <a:xfrm flipV="1">
              <a:off x="1290074" y="1397105"/>
              <a:ext cx="0" cy="810267"/>
            </a:xfrm>
            <a:prstGeom prst="straightConnector1">
              <a:avLst/>
            </a:prstGeom>
            <a:ln w="19050">
              <a:solidFill>
                <a:srgbClr val="000000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36" idx="6"/>
              <a:endCxn id="54" idx="2"/>
            </p:cNvCxnSpPr>
            <p:nvPr/>
          </p:nvCxnSpPr>
          <p:spPr>
            <a:xfrm flipV="1">
              <a:off x="1506098" y="1178545"/>
              <a:ext cx="1227338" cy="2536"/>
            </a:xfrm>
            <a:prstGeom prst="straightConnector1">
              <a:avLst/>
            </a:prstGeom>
            <a:ln w="19050">
              <a:solidFill>
                <a:srgbClr val="000000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54" idx="3"/>
              <a:endCxn id="46" idx="7"/>
            </p:cNvCxnSpPr>
            <p:nvPr/>
          </p:nvCxnSpPr>
          <p:spPr>
            <a:xfrm flipH="1">
              <a:off x="1442826" y="1331297"/>
              <a:ext cx="1353882" cy="939347"/>
            </a:xfrm>
            <a:prstGeom prst="straightConnector1">
              <a:avLst/>
            </a:prstGeom>
            <a:ln w="19050">
              <a:solidFill>
                <a:srgbClr val="000000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>
              <a:stCxn id="46" idx="6"/>
              <a:endCxn id="52" idx="2"/>
            </p:cNvCxnSpPr>
            <p:nvPr/>
          </p:nvCxnSpPr>
          <p:spPr>
            <a:xfrm>
              <a:off x="1506098" y="2423396"/>
              <a:ext cx="1227338" cy="0"/>
            </a:xfrm>
            <a:prstGeom prst="straightConnector1">
              <a:avLst/>
            </a:prstGeom>
            <a:ln w="19050">
              <a:solidFill>
                <a:srgbClr val="000000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>
              <a:stCxn id="54" idx="6"/>
              <a:endCxn id="61" idx="2"/>
            </p:cNvCxnSpPr>
            <p:nvPr/>
          </p:nvCxnSpPr>
          <p:spPr>
            <a:xfrm>
              <a:off x="3165484" y="1178545"/>
              <a:ext cx="1205255" cy="2535"/>
            </a:xfrm>
            <a:prstGeom prst="straightConnector1">
              <a:avLst/>
            </a:prstGeom>
            <a:ln w="19050">
              <a:solidFill>
                <a:srgbClr val="000000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4670583" y="872716"/>
              <a:ext cx="1476164" cy="615087"/>
              <a:chOff x="7983309" y="2106920"/>
              <a:chExt cx="1476164" cy="615087"/>
            </a:xfrm>
          </p:grpSpPr>
          <p:sp>
            <p:nvSpPr>
              <p:cNvPr id="94" name="Arc 93"/>
              <p:cNvSpPr/>
              <p:nvPr/>
            </p:nvSpPr>
            <p:spPr>
              <a:xfrm>
                <a:off x="7983309" y="2106920"/>
                <a:ext cx="1476164" cy="481893"/>
              </a:xfrm>
              <a:prstGeom prst="arc">
                <a:avLst>
                  <a:gd name="adj1" fmla="val 11293691"/>
                  <a:gd name="adj2" fmla="val 21133742"/>
                </a:avLst>
              </a:prstGeom>
              <a:ln w="19050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Arc 101"/>
              <p:cNvSpPr/>
              <p:nvPr/>
            </p:nvSpPr>
            <p:spPr>
              <a:xfrm flipH="1" flipV="1">
                <a:off x="7983309" y="2240114"/>
                <a:ext cx="1476164" cy="481893"/>
              </a:xfrm>
              <a:prstGeom prst="arc">
                <a:avLst>
                  <a:gd name="adj1" fmla="val 11293691"/>
                  <a:gd name="adj2" fmla="val 21132157"/>
                </a:avLst>
              </a:prstGeom>
              <a:ln w="19050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3023752" y="2121634"/>
              <a:ext cx="1476164" cy="615087"/>
              <a:chOff x="7983309" y="2106920"/>
              <a:chExt cx="1476164" cy="615087"/>
            </a:xfrm>
          </p:grpSpPr>
          <p:sp>
            <p:nvSpPr>
              <p:cNvPr id="105" name="Arc 104"/>
              <p:cNvSpPr/>
              <p:nvPr/>
            </p:nvSpPr>
            <p:spPr>
              <a:xfrm>
                <a:off x="7983309" y="2106920"/>
                <a:ext cx="1476164" cy="481893"/>
              </a:xfrm>
              <a:prstGeom prst="arc">
                <a:avLst>
                  <a:gd name="adj1" fmla="val 11293691"/>
                  <a:gd name="adj2" fmla="val 21133742"/>
                </a:avLst>
              </a:prstGeom>
              <a:ln w="19050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Arc 105"/>
              <p:cNvSpPr/>
              <p:nvPr/>
            </p:nvSpPr>
            <p:spPr>
              <a:xfrm flipH="1" flipV="1">
                <a:off x="7983309" y="2240114"/>
                <a:ext cx="1476164" cy="481893"/>
              </a:xfrm>
              <a:prstGeom prst="arc">
                <a:avLst>
                  <a:gd name="adj1" fmla="val 11293691"/>
                  <a:gd name="adj2" fmla="val 21133742"/>
                </a:avLst>
              </a:prstGeom>
              <a:ln w="19050">
                <a:solidFill>
                  <a:schemeClr val="tx1"/>
                </a:solidFill>
                <a:headEnd type="none" w="med" len="med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07" name="Straight Arrow Connector 106"/>
            <p:cNvCxnSpPr>
              <a:stCxn id="54" idx="4"/>
              <a:endCxn id="52" idx="0"/>
            </p:cNvCxnSpPr>
            <p:nvPr/>
          </p:nvCxnSpPr>
          <p:spPr>
            <a:xfrm>
              <a:off x="2949460" y="1394569"/>
              <a:ext cx="0" cy="812803"/>
            </a:xfrm>
            <a:prstGeom prst="straightConnector1">
              <a:avLst/>
            </a:prstGeom>
            <a:ln w="19050">
              <a:solidFill>
                <a:srgbClr val="000000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/>
            <p:cNvCxnSpPr>
              <a:stCxn id="61" idx="4"/>
              <a:endCxn id="59" idx="0"/>
            </p:cNvCxnSpPr>
            <p:nvPr/>
          </p:nvCxnSpPr>
          <p:spPr>
            <a:xfrm>
              <a:off x="4586763" y="1397104"/>
              <a:ext cx="0" cy="810268"/>
            </a:xfrm>
            <a:prstGeom prst="straightConnector1">
              <a:avLst/>
            </a:prstGeom>
            <a:ln w="19050">
              <a:solidFill>
                <a:srgbClr val="000000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>
              <a:stCxn id="68" idx="4"/>
              <a:endCxn id="66" idx="0"/>
            </p:cNvCxnSpPr>
            <p:nvPr/>
          </p:nvCxnSpPr>
          <p:spPr>
            <a:xfrm>
              <a:off x="6230567" y="1397104"/>
              <a:ext cx="0" cy="810268"/>
            </a:xfrm>
            <a:prstGeom prst="straightConnector1">
              <a:avLst/>
            </a:prstGeom>
            <a:ln w="19050">
              <a:solidFill>
                <a:srgbClr val="000000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>
              <a:stCxn id="59" idx="6"/>
              <a:endCxn id="66" idx="2"/>
            </p:cNvCxnSpPr>
            <p:nvPr/>
          </p:nvCxnSpPr>
          <p:spPr>
            <a:xfrm>
              <a:off x="4802787" y="2423396"/>
              <a:ext cx="1211756" cy="0"/>
            </a:xfrm>
            <a:prstGeom prst="straightConnector1">
              <a:avLst/>
            </a:prstGeom>
            <a:ln w="19050">
              <a:solidFill>
                <a:srgbClr val="000000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Arc 122"/>
            <p:cNvSpPr/>
            <p:nvPr/>
          </p:nvSpPr>
          <p:spPr>
            <a:xfrm flipV="1">
              <a:off x="6308550" y="2199591"/>
              <a:ext cx="655948" cy="487424"/>
            </a:xfrm>
            <a:prstGeom prst="arc">
              <a:avLst>
                <a:gd name="adj1" fmla="val 12641152"/>
                <a:gd name="adj2" fmla="val 8720833"/>
              </a:avLst>
            </a:prstGeom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7" name="Arc 86"/>
          <p:cNvSpPr/>
          <p:nvPr/>
        </p:nvSpPr>
        <p:spPr>
          <a:xfrm flipH="1" flipV="1">
            <a:off x="5172722" y="2767087"/>
            <a:ext cx="1476164" cy="481893"/>
          </a:xfrm>
          <a:prstGeom prst="arc">
            <a:avLst>
              <a:gd name="adj1" fmla="val 11293691"/>
              <a:gd name="adj2" fmla="val 21133742"/>
            </a:avLst>
          </a:prstGeom>
          <a:ln w="76200">
            <a:solidFill>
              <a:srgbClr val="0000FF">
                <a:alpha val="30196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889134" y="2679085"/>
                <a:ext cx="35427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134" y="2679085"/>
                <a:ext cx="35427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Straight Arrow Connector 88"/>
          <p:cNvCxnSpPr/>
          <p:nvPr/>
        </p:nvCxnSpPr>
        <p:spPr>
          <a:xfrm>
            <a:off x="6928722" y="2934770"/>
            <a:ext cx="1211756" cy="0"/>
          </a:xfrm>
          <a:prstGeom prst="straightConnector1">
            <a:avLst/>
          </a:prstGeom>
          <a:ln w="76200">
            <a:solidFill>
              <a:srgbClr val="0000FF">
                <a:alpha val="30196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8175415" y="2668470"/>
                <a:ext cx="35427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5415" y="2668470"/>
                <a:ext cx="35427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Arc 91"/>
          <p:cNvSpPr/>
          <p:nvPr/>
        </p:nvSpPr>
        <p:spPr>
          <a:xfrm>
            <a:off x="6796518" y="1389263"/>
            <a:ext cx="1476164" cy="481893"/>
          </a:xfrm>
          <a:prstGeom prst="arc">
            <a:avLst>
              <a:gd name="adj1" fmla="val 11293691"/>
              <a:gd name="adj2" fmla="val 21133742"/>
            </a:avLst>
          </a:prstGeom>
          <a:ln w="76200">
            <a:solidFill>
              <a:srgbClr val="0000FF">
                <a:alpha val="30196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Arrow Connector 97"/>
          <p:cNvCxnSpPr/>
          <p:nvPr/>
        </p:nvCxnSpPr>
        <p:spPr>
          <a:xfrm>
            <a:off x="6729704" y="1914220"/>
            <a:ext cx="0" cy="810268"/>
          </a:xfrm>
          <a:prstGeom prst="straightConnector1">
            <a:avLst/>
          </a:prstGeom>
          <a:ln w="76200">
            <a:solidFill>
              <a:srgbClr val="0000FF">
                <a:alpha val="30196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6538112" y="2675169"/>
                <a:ext cx="35427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112" y="2675169"/>
                <a:ext cx="35427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8183212" y="1424322"/>
                <a:ext cx="35427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212" y="1424322"/>
                <a:ext cx="35427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6524209" y="1445706"/>
                <a:ext cx="35427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209" y="1445706"/>
                <a:ext cx="35427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3226602" y="1429153"/>
            <a:ext cx="2076931" cy="1782329"/>
            <a:chOff x="1084972" y="917779"/>
            <a:chExt cx="2076931" cy="1782329"/>
          </a:xfrm>
        </p:grpSpPr>
        <p:sp>
          <p:nvSpPr>
            <p:cNvPr id="93" name="Oval 92"/>
            <p:cNvSpPr/>
            <p:nvPr/>
          </p:nvSpPr>
          <p:spPr>
            <a:xfrm>
              <a:off x="2729855" y="970799"/>
              <a:ext cx="432048" cy="432048"/>
            </a:xfrm>
            <a:prstGeom prst="ellipse">
              <a:avLst/>
            </a:prstGeom>
            <a:solidFill>
              <a:srgbClr val="0000FF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Arrow Connector 94"/>
            <p:cNvCxnSpPr/>
            <p:nvPr/>
          </p:nvCxnSpPr>
          <p:spPr>
            <a:xfrm flipH="1">
              <a:off x="1445499" y="1331297"/>
              <a:ext cx="1353882" cy="939347"/>
            </a:xfrm>
            <a:prstGeom prst="straightConnector1">
              <a:avLst/>
            </a:prstGeom>
            <a:ln w="76200">
              <a:solidFill>
                <a:srgbClr val="0000FF">
                  <a:alpha val="30196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 flipV="1">
              <a:off x="1290074" y="1402847"/>
              <a:ext cx="0" cy="810267"/>
            </a:xfrm>
            <a:prstGeom prst="straightConnector1">
              <a:avLst/>
            </a:prstGeom>
            <a:ln w="76200">
              <a:solidFill>
                <a:srgbClr val="0000FF">
                  <a:alpha val="30196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/>
                <p:cNvSpPr txBox="1"/>
                <p:nvPr/>
              </p:nvSpPr>
              <p:spPr>
                <a:xfrm>
                  <a:off x="1105012" y="2176888"/>
                  <a:ext cx="35427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11" name="Text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5012" y="2176888"/>
                  <a:ext cx="354273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/>
                <p:cNvSpPr txBox="1"/>
                <p:nvPr/>
              </p:nvSpPr>
              <p:spPr>
                <a:xfrm>
                  <a:off x="1084972" y="927337"/>
                  <a:ext cx="35427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12" name="TextBox 1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972" y="927337"/>
                  <a:ext cx="354273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/>
                <p:cNvSpPr txBox="1"/>
                <p:nvPr/>
              </p:nvSpPr>
              <p:spPr>
                <a:xfrm>
                  <a:off x="2755430" y="917779"/>
                  <a:ext cx="35427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13" name="TextBox 1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5430" y="917779"/>
                  <a:ext cx="354273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965430" y="4318344"/>
                <a:ext cx="10261140" cy="1090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sz="2800" b="0" dirty="0"/>
                  <a:t>1</a:t>
                </a:r>
                <a:r>
                  <a:rPr lang="en-US" sz="2800" b="0" baseline="30000" dirty="0"/>
                  <a:t>st</a:t>
                </a:r>
                <a:r>
                  <a:rPr lang="en-US" sz="2800" b="0" dirty="0"/>
                  <a:t> pass: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b="0" dirty="0"/>
                  <a:t>Run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DFS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and label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by backtrack time.</a:t>
                </a:r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4318344"/>
                <a:ext cx="10261140" cy="1090876"/>
              </a:xfrm>
              <a:prstGeom prst="rect">
                <a:avLst/>
              </a:prstGeom>
              <a:blipFill>
                <a:blip r:embed="rId10"/>
                <a:stretch>
                  <a:fillRect l="-1188" t="-559" b="-15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324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7" grpId="0" animBg="1"/>
      <p:bldP spid="10" grpId="0"/>
      <p:bldP spid="90" grpId="0"/>
      <p:bldP spid="92" grpId="0" animBg="1"/>
      <p:bldP spid="99" grpId="0"/>
      <p:bldP spid="100" grpId="0"/>
      <p:bldP spid="10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/>
          <p:cNvGrpSpPr/>
          <p:nvPr/>
        </p:nvGrpSpPr>
        <p:grpSpPr>
          <a:xfrm>
            <a:off x="3107668" y="908720"/>
            <a:ext cx="5738143" cy="2228901"/>
            <a:chOff x="1167506" y="4160811"/>
            <a:chExt cx="5738143" cy="2228901"/>
          </a:xfrm>
        </p:grpSpPr>
        <p:sp>
          <p:nvSpPr>
            <p:cNvPr id="204" name="Rounded Rectangle 203"/>
            <p:cNvSpPr/>
            <p:nvPr/>
          </p:nvSpPr>
          <p:spPr>
            <a:xfrm>
              <a:off x="1171836" y="4301478"/>
              <a:ext cx="715249" cy="1905771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ounded Rectangle 204"/>
            <p:cNvSpPr/>
            <p:nvPr/>
          </p:nvSpPr>
          <p:spPr>
            <a:xfrm rot="5400000">
              <a:off x="2017521" y="3451464"/>
              <a:ext cx="656851" cy="2356882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ight Triangle 205"/>
            <p:cNvSpPr/>
            <p:nvPr/>
          </p:nvSpPr>
          <p:spPr>
            <a:xfrm rot="5400000">
              <a:off x="2053676" y="4749795"/>
              <a:ext cx="1214890" cy="1614410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/>
            <p:cNvSpPr/>
            <p:nvPr/>
          </p:nvSpPr>
          <p:spPr>
            <a:xfrm>
              <a:off x="2832676" y="5381600"/>
              <a:ext cx="2376264" cy="1008112"/>
            </a:xfrm>
            <a:prstGeom prst="ellipse">
              <a:avLst/>
            </a:prstGeom>
            <a:solidFill>
              <a:srgbClr val="777777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/>
            <p:cNvSpPr/>
            <p:nvPr/>
          </p:nvSpPr>
          <p:spPr>
            <a:xfrm>
              <a:off x="4484668" y="4160811"/>
              <a:ext cx="2376264" cy="1008112"/>
            </a:xfrm>
            <a:prstGeom prst="ellipse">
              <a:avLst/>
            </a:prstGeom>
            <a:solidFill>
              <a:srgbClr val="777777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/>
            <p:cNvSpPr/>
            <p:nvPr/>
          </p:nvSpPr>
          <p:spPr>
            <a:xfrm>
              <a:off x="6004301" y="5465941"/>
              <a:ext cx="901348" cy="855966"/>
            </a:xfrm>
            <a:prstGeom prst="ellipse">
              <a:avLst/>
            </a:prstGeom>
            <a:solidFill>
              <a:srgbClr val="777777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33</a:t>
            </a:fld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3225608" y="1062347"/>
            <a:ext cx="5890448" cy="1864005"/>
            <a:chOff x="3935760" y="3745860"/>
            <a:chExt cx="5890448" cy="1864005"/>
          </a:xfrm>
        </p:grpSpPr>
        <p:grpSp>
          <p:nvGrpSpPr>
            <p:cNvPr id="115" name="Group 114"/>
            <p:cNvGrpSpPr/>
            <p:nvPr/>
          </p:nvGrpSpPr>
          <p:grpSpPr>
            <a:xfrm>
              <a:off x="3935760" y="3745860"/>
              <a:ext cx="5890448" cy="1864005"/>
              <a:chOff x="1074050" y="872716"/>
              <a:chExt cx="5890448" cy="1864005"/>
            </a:xfrm>
          </p:grpSpPr>
          <p:grpSp>
            <p:nvGrpSpPr>
              <p:cNvPr id="116" name="Group 115"/>
              <p:cNvGrpSpPr/>
              <p:nvPr/>
            </p:nvGrpSpPr>
            <p:grpSpPr>
              <a:xfrm>
                <a:off x="1074050" y="965057"/>
                <a:ext cx="432048" cy="1674363"/>
                <a:chOff x="4890474" y="2199261"/>
                <a:chExt cx="432048" cy="1674363"/>
              </a:xfrm>
            </p:grpSpPr>
            <p:sp>
              <p:nvSpPr>
                <p:cNvPr id="164" name="Oval 163"/>
                <p:cNvSpPr/>
                <p:nvPr/>
              </p:nvSpPr>
              <p:spPr>
                <a:xfrm>
                  <a:off x="4890474" y="2199261"/>
                  <a:ext cx="432048" cy="43204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Oval 164"/>
                <p:cNvSpPr/>
                <p:nvPr/>
              </p:nvSpPr>
              <p:spPr>
                <a:xfrm>
                  <a:off x="4890474" y="3441576"/>
                  <a:ext cx="432048" cy="43204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7" name="Group 116"/>
              <p:cNvGrpSpPr/>
              <p:nvPr/>
            </p:nvGrpSpPr>
            <p:grpSpPr>
              <a:xfrm>
                <a:off x="2684318" y="962521"/>
                <a:ext cx="541276" cy="1693455"/>
                <a:chOff x="4853911" y="2196725"/>
                <a:chExt cx="541276" cy="1693455"/>
              </a:xfrm>
            </p:grpSpPr>
            <p:sp>
              <p:nvSpPr>
                <p:cNvPr id="158" name="Oval 157"/>
                <p:cNvSpPr/>
                <p:nvPr/>
              </p:nvSpPr>
              <p:spPr>
                <a:xfrm>
                  <a:off x="4903029" y="2196725"/>
                  <a:ext cx="432048" cy="43204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9" name="Group 158"/>
                <p:cNvGrpSpPr/>
                <p:nvPr/>
              </p:nvGrpSpPr>
              <p:grpSpPr>
                <a:xfrm>
                  <a:off x="4853911" y="3366960"/>
                  <a:ext cx="541276" cy="523220"/>
                  <a:chOff x="2633058" y="1949760"/>
                  <a:chExt cx="541276" cy="523220"/>
                </a:xfrm>
              </p:grpSpPr>
              <p:sp>
                <p:nvSpPr>
                  <p:cNvPr id="161" name="TextBox 160"/>
                  <p:cNvSpPr txBox="1"/>
                  <p:nvPr/>
                </p:nvSpPr>
                <p:spPr>
                  <a:xfrm>
                    <a:off x="2633058" y="1949760"/>
                    <a:ext cx="541276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en-US" sz="2800" dirty="0"/>
                  </a:p>
                </p:txBody>
              </p:sp>
              <p:sp>
                <p:nvSpPr>
                  <p:cNvPr id="162" name="Oval 161"/>
                  <p:cNvSpPr/>
                  <p:nvPr/>
                </p:nvSpPr>
                <p:spPr>
                  <a:xfrm>
                    <a:off x="2682176" y="2024376"/>
                    <a:ext cx="432048" cy="43204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18" name="Group 117"/>
              <p:cNvGrpSpPr/>
              <p:nvPr/>
            </p:nvGrpSpPr>
            <p:grpSpPr>
              <a:xfrm>
                <a:off x="4370739" y="965056"/>
                <a:ext cx="432048" cy="1674364"/>
                <a:chOff x="4890474" y="2199261"/>
                <a:chExt cx="432048" cy="1674364"/>
              </a:xfrm>
            </p:grpSpPr>
            <p:sp>
              <p:nvSpPr>
                <p:cNvPr id="156" name="Oval 155"/>
                <p:cNvSpPr/>
                <p:nvPr/>
              </p:nvSpPr>
              <p:spPr>
                <a:xfrm>
                  <a:off x="4890474" y="2199261"/>
                  <a:ext cx="432048" cy="43204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" name="Oval 156"/>
                <p:cNvSpPr/>
                <p:nvPr/>
              </p:nvSpPr>
              <p:spPr>
                <a:xfrm>
                  <a:off x="4890474" y="3441577"/>
                  <a:ext cx="432048" cy="43204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9" name="Group 118"/>
              <p:cNvGrpSpPr/>
              <p:nvPr/>
            </p:nvGrpSpPr>
            <p:grpSpPr>
              <a:xfrm>
                <a:off x="6014543" y="965056"/>
                <a:ext cx="432048" cy="1674364"/>
                <a:chOff x="4890474" y="2199261"/>
                <a:chExt cx="432048" cy="1674364"/>
              </a:xfrm>
            </p:grpSpPr>
            <p:sp>
              <p:nvSpPr>
                <p:cNvPr id="153" name="Oval 152"/>
                <p:cNvSpPr/>
                <p:nvPr/>
              </p:nvSpPr>
              <p:spPr>
                <a:xfrm>
                  <a:off x="4890474" y="2199261"/>
                  <a:ext cx="432048" cy="43204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" name="Oval 153"/>
                <p:cNvSpPr/>
                <p:nvPr/>
              </p:nvSpPr>
              <p:spPr>
                <a:xfrm>
                  <a:off x="4890474" y="3441577"/>
                  <a:ext cx="432048" cy="43204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20" name="Straight Arrow Connector 119"/>
              <p:cNvCxnSpPr>
                <a:stCxn id="165" idx="0"/>
                <a:endCxn id="164" idx="4"/>
              </p:cNvCxnSpPr>
              <p:nvPr/>
            </p:nvCxnSpPr>
            <p:spPr>
              <a:xfrm flipV="1">
                <a:off x="1290074" y="1397105"/>
                <a:ext cx="0" cy="810267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arrow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/>
              <p:cNvCxnSpPr>
                <a:stCxn id="164" idx="6"/>
                <a:endCxn id="158" idx="2"/>
              </p:cNvCxnSpPr>
              <p:nvPr/>
            </p:nvCxnSpPr>
            <p:spPr>
              <a:xfrm flipV="1">
                <a:off x="1506098" y="1178545"/>
                <a:ext cx="1227338" cy="2536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arrow" w="lg" len="lg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Arrow Connector 121"/>
              <p:cNvCxnSpPr>
                <a:stCxn id="158" idx="3"/>
                <a:endCxn id="165" idx="7"/>
              </p:cNvCxnSpPr>
              <p:nvPr/>
            </p:nvCxnSpPr>
            <p:spPr>
              <a:xfrm flipH="1">
                <a:off x="1442826" y="1331297"/>
                <a:ext cx="1353882" cy="939347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arrow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>
                <a:stCxn id="165" idx="6"/>
                <a:endCxn id="162" idx="2"/>
              </p:cNvCxnSpPr>
              <p:nvPr/>
            </p:nvCxnSpPr>
            <p:spPr>
              <a:xfrm>
                <a:off x="1506098" y="2423396"/>
                <a:ext cx="1227338" cy="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arrow" w="lg" len="lg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Arrow Connector 126"/>
              <p:cNvCxnSpPr>
                <a:stCxn id="158" idx="6"/>
                <a:endCxn id="156" idx="2"/>
              </p:cNvCxnSpPr>
              <p:nvPr/>
            </p:nvCxnSpPr>
            <p:spPr>
              <a:xfrm>
                <a:off x="3165484" y="1178545"/>
                <a:ext cx="1205255" cy="2535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arrow" w="lg" len="lg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8" name="Group 127"/>
              <p:cNvGrpSpPr/>
              <p:nvPr/>
            </p:nvGrpSpPr>
            <p:grpSpPr>
              <a:xfrm>
                <a:off x="4670583" y="872716"/>
                <a:ext cx="1476164" cy="615087"/>
                <a:chOff x="7983309" y="2106920"/>
                <a:chExt cx="1476164" cy="615087"/>
              </a:xfrm>
            </p:grpSpPr>
            <p:sp>
              <p:nvSpPr>
                <p:cNvPr id="151" name="Arc 150"/>
                <p:cNvSpPr/>
                <p:nvPr/>
              </p:nvSpPr>
              <p:spPr>
                <a:xfrm>
                  <a:off x="7983309" y="2106920"/>
                  <a:ext cx="1476164" cy="481893"/>
                </a:xfrm>
                <a:prstGeom prst="arc">
                  <a:avLst>
                    <a:gd name="adj1" fmla="val 11293691"/>
                    <a:gd name="adj2" fmla="val 21133742"/>
                  </a:avLst>
                </a:prstGeom>
                <a:ln w="19050">
                  <a:solidFill>
                    <a:schemeClr val="tx1"/>
                  </a:solidFill>
                  <a:headEnd type="arrow" w="lg" len="lg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Arc 151"/>
                <p:cNvSpPr/>
                <p:nvPr/>
              </p:nvSpPr>
              <p:spPr>
                <a:xfrm flipH="1" flipV="1">
                  <a:off x="7983309" y="2240114"/>
                  <a:ext cx="1476164" cy="481893"/>
                </a:xfrm>
                <a:prstGeom prst="arc">
                  <a:avLst>
                    <a:gd name="adj1" fmla="val 11293691"/>
                    <a:gd name="adj2" fmla="val 21132157"/>
                  </a:avLst>
                </a:prstGeom>
                <a:ln w="19050">
                  <a:solidFill>
                    <a:schemeClr val="tx1"/>
                  </a:solidFill>
                  <a:headEnd type="arrow" w="lg" len="lg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3" name="Group 132"/>
              <p:cNvGrpSpPr/>
              <p:nvPr/>
            </p:nvGrpSpPr>
            <p:grpSpPr>
              <a:xfrm>
                <a:off x="3023752" y="2121634"/>
                <a:ext cx="1476164" cy="615087"/>
                <a:chOff x="7983309" y="2106920"/>
                <a:chExt cx="1476164" cy="615087"/>
              </a:xfrm>
            </p:grpSpPr>
            <p:sp>
              <p:nvSpPr>
                <p:cNvPr id="147" name="Arc 146"/>
                <p:cNvSpPr/>
                <p:nvPr/>
              </p:nvSpPr>
              <p:spPr>
                <a:xfrm>
                  <a:off x="7983309" y="2106920"/>
                  <a:ext cx="1476164" cy="481893"/>
                </a:xfrm>
                <a:prstGeom prst="arc">
                  <a:avLst>
                    <a:gd name="adj1" fmla="val 11293691"/>
                    <a:gd name="adj2" fmla="val 21133742"/>
                  </a:avLst>
                </a:prstGeom>
                <a:ln w="19050">
                  <a:solidFill>
                    <a:schemeClr val="tx1"/>
                  </a:solidFill>
                  <a:headEnd type="arrow" w="lg" len="lg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Arc 149"/>
                <p:cNvSpPr/>
                <p:nvPr/>
              </p:nvSpPr>
              <p:spPr>
                <a:xfrm flipH="1" flipV="1">
                  <a:off x="7983309" y="2240114"/>
                  <a:ext cx="1476164" cy="481893"/>
                </a:xfrm>
                <a:prstGeom prst="arc">
                  <a:avLst>
                    <a:gd name="adj1" fmla="val 11293691"/>
                    <a:gd name="adj2" fmla="val 21133742"/>
                  </a:avLst>
                </a:prstGeom>
                <a:ln w="19050">
                  <a:solidFill>
                    <a:schemeClr val="tx1"/>
                  </a:solidFill>
                  <a:headEnd type="arrow" w="lg" len="lg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36" name="Straight Arrow Connector 135"/>
              <p:cNvCxnSpPr>
                <a:stCxn id="158" idx="4"/>
                <a:endCxn id="162" idx="0"/>
              </p:cNvCxnSpPr>
              <p:nvPr/>
            </p:nvCxnSpPr>
            <p:spPr>
              <a:xfrm>
                <a:off x="2949460" y="1394569"/>
                <a:ext cx="0" cy="812803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arrow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Arrow Connector 136"/>
              <p:cNvCxnSpPr>
                <a:stCxn id="156" idx="4"/>
                <a:endCxn id="157" idx="0"/>
              </p:cNvCxnSpPr>
              <p:nvPr/>
            </p:nvCxnSpPr>
            <p:spPr>
              <a:xfrm>
                <a:off x="4586763" y="1397104"/>
                <a:ext cx="0" cy="810268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arrow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Arrow Connector 137"/>
              <p:cNvCxnSpPr>
                <a:stCxn id="153" idx="4"/>
                <a:endCxn id="154" idx="0"/>
              </p:cNvCxnSpPr>
              <p:nvPr/>
            </p:nvCxnSpPr>
            <p:spPr>
              <a:xfrm>
                <a:off x="6230567" y="1397104"/>
                <a:ext cx="0" cy="810268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arrow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/>
              <p:cNvCxnSpPr>
                <a:stCxn id="157" idx="6"/>
                <a:endCxn id="154" idx="2"/>
              </p:cNvCxnSpPr>
              <p:nvPr/>
            </p:nvCxnSpPr>
            <p:spPr>
              <a:xfrm>
                <a:off x="4802787" y="2423396"/>
                <a:ext cx="1211756" cy="0"/>
              </a:xfrm>
              <a:prstGeom prst="straightConnector1">
                <a:avLst/>
              </a:prstGeom>
              <a:ln w="19050">
                <a:solidFill>
                  <a:srgbClr val="000000"/>
                </a:solidFill>
                <a:headEnd type="arrow" w="lg" len="lg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4" name="Arc 143"/>
              <p:cNvSpPr/>
              <p:nvPr/>
            </p:nvSpPr>
            <p:spPr>
              <a:xfrm flipV="1">
                <a:off x="6308550" y="2199591"/>
                <a:ext cx="655948" cy="487424"/>
              </a:xfrm>
              <a:prstGeom prst="arc">
                <a:avLst>
                  <a:gd name="adj1" fmla="val 12641152"/>
                  <a:gd name="adj2" fmla="val 8720833"/>
                </a:avLst>
              </a:prstGeom>
              <a:ln w="19050">
                <a:solidFill>
                  <a:schemeClr val="tx1"/>
                </a:solidFill>
                <a:headEnd type="arrow" w="lg" len="lg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TextBox 166"/>
                <p:cNvSpPr txBox="1"/>
                <p:nvPr/>
              </p:nvSpPr>
              <p:spPr>
                <a:xfrm>
                  <a:off x="5609214" y="5040855"/>
                  <a:ext cx="35427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67" name="TextBox 1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9214" y="5040855"/>
                  <a:ext cx="354273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/>
                <p:cNvSpPr txBox="1"/>
                <p:nvPr/>
              </p:nvSpPr>
              <p:spPr>
                <a:xfrm>
                  <a:off x="8895495" y="5030240"/>
                  <a:ext cx="35427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69" name="TextBox 1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5495" y="5030240"/>
                  <a:ext cx="354273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/>
                <p:cNvSpPr txBox="1"/>
                <p:nvPr/>
              </p:nvSpPr>
              <p:spPr>
                <a:xfrm>
                  <a:off x="7258192" y="5036939"/>
                  <a:ext cx="35427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83" name="TextBox 1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8192" y="5036939"/>
                  <a:ext cx="354273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TextBox 184"/>
                <p:cNvSpPr txBox="1"/>
                <p:nvPr/>
              </p:nvSpPr>
              <p:spPr>
                <a:xfrm>
                  <a:off x="8903292" y="3786092"/>
                  <a:ext cx="35427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85" name="TextBox 1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3292" y="3786092"/>
                  <a:ext cx="354273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TextBox 185"/>
                <p:cNvSpPr txBox="1"/>
                <p:nvPr/>
              </p:nvSpPr>
              <p:spPr>
                <a:xfrm>
                  <a:off x="7244289" y="3807476"/>
                  <a:ext cx="35427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86" name="TextBox 1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4289" y="3807476"/>
                  <a:ext cx="354273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7" name="Group 186"/>
            <p:cNvGrpSpPr/>
            <p:nvPr/>
          </p:nvGrpSpPr>
          <p:grpSpPr>
            <a:xfrm>
              <a:off x="3946682" y="3790923"/>
              <a:ext cx="2024731" cy="1782329"/>
              <a:chOff x="1084972" y="917779"/>
              <a:chExt cx="2024731" cy="178232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TextBox 190"/>
                  <p:cNvSpPr txBox="1"/>
                  <p:nvPr/>
                </p:nvSpPr>
                <p:spPr>
                  <a:xfrm>
                    <a:off x="1105012" y="2176888"/>
                    <a:ext cx="35427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91" name="TextBox 19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5012" y="2176888"/>
                    <a:ext cx="354273" cy="52322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2" name="TextBox 191"/>
                  <p:cNvSpPr txBox="1"/>
                  <p:nvPr/>
                </p:nvSpPr>
                <p:spPr>
                  <a:xfrm>
                    <a:off x="1084972" y="927337"/>
                    <a:ext cx="35427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92" name="TextBox 19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4972" y="927337"/>
                    <a:ext cx="354273" cy="52322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3" name="TextBox 192"/>
                  <p:cNvSpPr txBox="1"/>
                  <p:nvPr/>
                </p:nvSpPr>
                <p:spPr>
                  <a:xfrm>
                    <a:off x="2755430" y="917779"/>
                    <a:ext cx="35427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93" name="TextBox 1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5430" y="917779"/>
                    <a:ext cx="354273" cy="52322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5" name="Group 14"/>
          <p:cNvGrpSpPr/>
          <p:nvPr/>
        </p:nvGrpSpPr>
        <p:grpSpPr>
          <a:xfrm>
            <a:off x="3441632" y="1162554"/>
            <a:ext cx="1885949" cy="1231913"/>
            <a:chOff x="1235460" y="3834789"/>
            <a:chExt cx="1885949" cy="1231913"/>
          </a:xfrm>
        </p:grpSpPr>
        <p:sp>
          <p:nvSpPr>
            <p:cNvPr id="194" name="Oval 193"/>
            <p:cNvSpPr/>
            <p:nvPr/>
          </p:nvSpPr>
          <p:spPr>
            <a:xfrm>
              <a:off x="2689361" y="3834789"/>
              <a:ext cx="432048" cy="432048"/>
            </a:xfrm>
            <a:prstGeom prst="ellipse">
              <a:avLst/>
            </a:prstGeom>
            <a:solidFill>
              <a:srgbClr val="0000FF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5" name="Straight Arrow Connector 194"/>
            <p:cNvCxnSpPr/>
            <p:nvPr/>
          </p:nvCxnSpPr>
          <p:spPr>
            <a:xfrm>
              <a:off x="1467066" y="4042946"/>
              <a:ext cx="1211756" cy="0"/>
            </a:xfrm>
            <a:prstGeom prst="straightConnector1">
              <a:avLst/>
            </a:prstGeom>
            <a:ln w="76200">
              <a:solidFill>
                <a:srgbClr val="0000FF">
                  <a:alpha val="30196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Arrow Connector 195"/>
            <p:cNvCxnSpPr/>
            <p:nvPr/>
          </p:nvCxnSpPr>
          <p:spPr>
            <a:xfrm flipV="1">
              <a:off x="1235460" y="4256435"/>
              <a:ext cx="0" cy="810267"/>
            </a:xfrm>
            <a:prstGeom prst="straightConnector1">
              <a:avLst/>
            </a:prstGeom>
            <a:ln w="76200">
              <a:solidFill>
                <a:srgbClr val="0000FF">
                  <a:alpha val="30196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6528797" y="1162778"/>
            <a:ext cx="1762625" cy="516297"/>
            <a:chOff x="7388299" y="3923036"/>
            <a:chExt cx="1762625" cy="516297"/>
          </a:xfrm>
        </p:grpSpPr>
        <p:sp>
          <p:nvSpPr>
            <p:cNvPr id="197" name="Oval 196"/>
            <p:cNvSpPr/>
            <p:nvPr/>
          </p:nvSpPr>
          <p:spPr>
            <a:xfrm>
              <a:off x="7388299" y="3923036"/>
              <a:ext cx="432048" cy="432048"/>
            </a:xfrm>
            <a:prstGeom prst="ellipse">
              <a:avLst/>
            </a:prstGeom>
            <a:solidFill>
              <a:srgbClr val="0000FF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Arc 197"/>
            <p:cNvSpPr/>
            <p:nvPr/>
          </p:nvSpPr>
          <p:spPr>
            <a:xfrm flipH="1" flipV="1">
              <a:off x="7674760" y="3957440"/>
              <a:ext cx="1476164" cy="481893"/>
            </a:xfrm>
            <a:prstGeom prst="arc">
              <a:avLst>
                <a:gd name="adj1" fmla="val 11293691"/>
                <a:gd name="adj2" fmla="val 21133742"/>
              </a:avLst>
            </a:prstGeom>
            <a:ln w="76200">
              <a:solidFill>
                <a:srgbClr val="0000FF">
                  <a:alpha val="30196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9" name="Group 198"/>
          <p:cNvGrpSpPr/>
          <p:nvPr/>
        </p:nvGrpSpPr>
        <p:grpSpPr>
          <a:xfrm>
            <a:off x="5182650" y="2314520"/>
            <a:ext cx="1771695" cy="502730"/>
            <a:chOff x="6048652" y="3852354"/>
            <a:chExt cx="1771695" cy="502730"/>
          </a:xfrm>
        </p:grpSpPr>
        <p:sp>
          <p:nvSpPr>
            <p:cNvPr id="200" name="Oval 199"/>
            <p:cNvSpPr/>
            <p:nvPr/>
          </p:nvSpPr>
          <p:spPr>
            <a:xfrm>
              <a:off x="7388299" y="3923036"/>
              <a:ext cx="432048" cy="432048"/>
            </a:xfrm>
            <a:prstGeom prst="ellipse">
              <a:avLst/>
            </a:prstGeom>
            <a:solidFill>
              <a:srgbClr val="0000FF">
                <a:alpha val="30196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Arc 200"/>
            <p:cNvSpPr/>
            <p:nvPr/>
          </p:nvSpPr>
          <p:spPr>
            <a:xfrm flipH="1">
              <a:off x="6048652" y="3852354"/>
              <a:ext cx="1476164" cy="481893"/>
            </a:xfrm>
            <a:prstGeom prst="arc">
              <a:avLst>
                <a:gd name="adj1" fmla="val 11293691"/>
                <a:gd name="adj2" fmla="val 21133742"/>
              </a:avLst>
            </a:prstGeom>
            <a:ln w="76200">
              <a:solidFill>
                <a:srgbClr val="0000FF">
                  <a:alpha val="30196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2" name="Oval 201"/>
          <p:cNvSpPr/>
          <p:nvPr/>
        </p:nvSpPr>
        <p:spPr>
          <a:xfrm>
            <a:off x="8166101" y="2393112"/>
            <a:ext cx="432048" cy="432048"/>
          </a:xfrm>
          <a:prstGeom prst="ellipse">
            <a:avLst/>
          </a:prstGeom>
          <a:solidFill>
            <a:srgbClr val="0000FF">
              <a:alpha val="2980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965430" y="3356992"/>
                <a:ext cx="10261140" cy="2754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sz="2800" dirty="0"/>
                  <a:t>2</a:t>
                </a:r>
                <a:r>
                  <a:rPr lang="en-US" sz="2800" baseline="30000" dirty="0"/>
                  <a:t>nd</a:t>
                </a:r>
                <a:r>
                  <a:rPr lang="en-US" sz="2800" dirty="0"/>
                  <a:t> pass: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Derive </a:t>
                </a:r>
                <a14:m>
                  <m:oMath xmlns:m="http://schemas.openxmlformats.org/officeDocument/2006/math">
                    <m:acc>
                      <m:accPr>
                        <m:chr m:val="⃖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r>
                      <a:rPr lang="en-US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⃖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by reverting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sz="2800" dirty="0"/>
                  <a:t>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latin typeface="Cambria Math" panose="02040503050406030204" pitchFamily="18" charset="0"/>
                      </a:rPr>
                      <m:t>SCCs</m:t>
                    </m:r>
                  </m:oMath>
                </a14:m>
                <a:r>
                  <a:rPr lang="en-US" sz="2800" dirty="0"/>
                  <a:t> unchanged).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Run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DFS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⃖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en-US" sz="2800" dirty="0"/>
                  <a:t>. Encounter </a:t>
                </a:r>
                <a:r>
                  <a:rPr lang="en-US" sz="2800" b="1" dirty="0">
                    <a:solidFill>
                      <a:srgbClr val="0000FF"/>
                    </a:solidFill>
                  </a:rPr>
                  <a:t>Roots</a:t>
                </a:r>
                <a:r>
                  <a:rPr lang="en-US" sz="2800" dirty="0"/>
                  <a:t> in descending label order.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DFS</m:t>
                    </m:r>
                  </m:oMath>
                </a14:m>
                <a:r>
                  <a:rPr lang="en-US" sz="2800" dirty="0"/>
                  <a:t> forest yields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800" dirty="0"/>
                  <a:t>’s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SCC</m:t>
                    </m:r>
                  </m:oMath>
                </a14:m>
                <a:r>
                  <a:rPr lang="en-US" sz="2800" dirty="0"/>
                  <a:t>s.</a:t>
                </a:r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30" y="3356992"/>
                <a:ext cx="10261140" cy="2754472"/>
              </a:xfrm>
              <a:prstGeom prst="rect">
                <a:avLst/>
              </a:prstGeom>
              <a:blipFill>
                <a:blip r:embed="rId18"/>
                <a:stretch>
                  <a:fillRect l="-1188" t="-442" b="-39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06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969656" y="1211312"/>
                <a:ext cx="10261140" cy="4449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So why is it working?  (hand waving, informal)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>
                    <a:ea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be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SCC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s.t.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be the root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DFS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subtree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/>
                  <a:t>, and let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/>
                  <a:t> (ensured by lemma 5). 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Since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8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ea typeface="Cambria Math" panose="02040503050406030204" pitchFamily="18" charset="0"/>
                  </a:rPr>
                  <a:t>is also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SCC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of </a:t>
                </a:r>
                <a14:m>
                  <m:oMath xmlns:m="http://schemas.openxmlformats.org/officeDocument/2006/math">
                    <m:acc>
                      <m:accPr>
                        <m:chr m:val="⃖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⃖"/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1800"/>
                  </a:spcAft>
                </a:pPr>
                <a:r>
                  <a:rPr lang="en-US" sz="2800" dirty="0"/>
                  <a:t>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⃖"/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/>
                  <a:t> can happen if some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/>
                  <a:t>but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∄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in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⃖"/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/>
                  <a:t>. Since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SCC</a:t>
                </a:r>
                <a:r>
                  <a:rPr lang="en-US" sz="2800" dirty="0"/>
                  <a:t> s.t.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56" y="1211312"/>
                <a:ext cx="10261140" cy="4449936"/>
              </a:xfrm>
              <a:prstGeom prst="rect">
                <a:avLst/>
              </a:prstGeom>
              <a:blipFill>
                <a:blip r:embed="rId2"/>
                <a:stretch>
                  <a:fillRect l="-1188" t="-274" r="-1248" b="-219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213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969656" y="1232756"/>
                <a:ext cx="10261140" cy="4381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 be the root of a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DFS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subtree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/>
                  <a:t> since it was “wrongly” discovered by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DFS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earlier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How are such “accidents” avoided by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DFS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 in </a:t>
                </a:r>
                <a14:m>
                  <m:oMath xmlns:m="http://schemas.openxmlformats.org/officeDocument/2006/math">
                    <m:acc>
                      <m:accPr>
                        <m:chr m:val="⃖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en-US" sz="2800" dirty="0"/>
                  <a:t>?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Starting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DFS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⃖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en-US" sz="2800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800" dirty="0"/>
                  <a:t> (root) ensures that:</a:t>
                </a:r>
              </a:p>
              <a:p>
                <a:pPr marL="514350" indent="-514350" algn="just">
                  <a:lnSpc>
                    <a:spcPct val="120000"/>
                  </a:lnSpc>
                  <a:spcAft>
                    <a:spcPts val="2400"/>
                  </a:spcAft>
                  <a:buFont typeface="+mj-lt"/>
                  <a:buAutoNum type="arabicPeriod"/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800" dirty="0"/>
                  <a:t> , then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in </a:t>
                </a:r>
                <a14:m>
                  <m:oMath xmlns:m="http://schemas.openxmlformats.org/officeDocument/2006/math">
                    <m:acc>
                      <m:accPr>
                        <m:chr m:val="⃖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⃖"/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56" y="1232756"/>
                <a:ext cx="10261140" cy="4381328"/>
              </a:xfrm>
              <a:prstGeom prst="rect">
                <a:avLst/>
              </a:prstGeom>
              <a:blipFill>
                <a:blip r:embed="rId2"/>
                <a:stretch>
                  <a:fillRect l="-1248" b="-23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955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Algorithms and DS I: Exploring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969656" y="1475579"/>
                <a:ext cx="10261140" cy="4087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 algn="just">
                  <a:lnSpc>
                    <a:spcPct val="120000"/>
                  </a:lnSpc>
                  <a:spcAft>
                    <a:spcPts val="2400"/>
                  </a:spcAft>
                  <a:buFont typeface="+mj-lt"/>
                  <a:buAutoNum type="arabicPeriod" startAt="2"/>
                </a:pPr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800" dirty="0"/>
                  <a:t>, then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⃖"/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. Otherwise, 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⃖"/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800" dirty="0"/>
                  <a:t> in </a:t>
                </a:r>
                <a14:m>
                  <m:oMath xmlns:m="http://schemas.openxmlformats.org/officeDocument/2006/math">
                    <m:acc>
                      <m:accPr>
                        <m:chr m:val="⃖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in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800" dirty="0"/>
                  <a:t> (root) couldn’t left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/>
                  <a:t>, but rather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800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for some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/>
                  <a:t>, contradiction. </a:t>
                </a:r>
              </a:p>
              <a:p>
                <a:pPr marL="0" lvl="1"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DFS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 derives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800" dirty="0"/>
                  <a:t> correctly.</a:t>
                </a:r>
              </a:p>
              <a:p>
                <a:pPr algn="just">
                  <a:lnSpc>
                    <a:spcPct val="120000"/>
                  </a:lnSpc>
                  <a:spcAft>
                    <a:spcPts val="2400"/>
                  </a:spcAft>
                </a:pPr>
                <a:r>
                  <a:rPr lang="en-US" sz="2800" dirty="0"/>
                  <a:t>Correctness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DFS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 established by applying last argument inductively from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.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56" y="1475579"/>
                <a:ext cx="10261140" cy="4087529"/>
              </a:xfrm>
              <a:prstGeom prst="rect">
                <a:avLst/>
              </a:prstGeom>
              <a:blipFill>
                <a:blip r:embed="rId2"/>
                <a:stretch>
                  <a:fillRect l="-1248" r="-1248" b="-327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3686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37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1379476" y="763248"/>
            <a:ext cx="9455482" cy="5402056"/>
            <a:chOff x="1118585" y="582067"/>
            <a:chExt cx="9455482" cy="5402056"/>
          </a:xfrm>
        </p:grpSpPr>
        <p:grpSp>
          <p:nvGrpSpPr>
            <p:cNvPr id="16" name="Group 15"/>
            <p:cNvGrpSpPr/>
            <p:nvPr/>
          </p:nvGrpSpPr>
          <p:grpSpPr>
            <a:xfrm>
              <a:off x="1118585" y="582067"/>
              <a:ext cx="9455482" cy="5402056"/>
              <a:chOff x="1118585" y="582067"/>
              <a:chExt cx="9455482" cy="540205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1118585" y="582067"/>
                    <a:ext cx="7331246" cy="540205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2800" i="0" dirty="0" smtClean="0">
                              <a:latin typeface="Cambria Math" panose="02040503050406030204" pitchFamily="18" charset="0"/>
                            </a:rPr>
                            <m:t>Procedure</m:t>
                          </m:r>
                          <m:r>
                            <m:rPr>
                              <m:nor/>
                            </m:rPr>
                            <a:rPr lang="en-US" sz="280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i="0" dirty="0" smtClean="0">
                              <a:latin typeface="Cambria Math" panose="02040503050406030204" pitchFamily="18" charset="0"/>
                            </a:rPr>
                            <m:t>DFS</m:t>
                          </m:r>
                          <m:r>
                            <m:rPr>
                              <m:nor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d>
                            <m:dPr>
                              <m:ctrlP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sz="2800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𝓗</m:t>
                              </m:r>
                            </m:e>
                          </m:d>
                        </m:oMath>
                      </m:oMathPara>
                    </a14:m>
                    <a:endParaRPr lang="en-US" sz="2800" dirty="0"/>
                  </a:p>
                  <a:p>
                    <a:pPr algn="just"/>
                    <a:r>
                      <a:rPr lang="en-US" sz="2800" dirty="0"/>
                      <a:t>      </a:t>
                    </a:r>
                    <a14:m>
                      <m:oMath xmlns:m="http://schemas.openxmlformats.org/officeDocument/2006/math"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acc>
                          <m:accPr>
                            <m:chr m:val="⃗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mark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new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</m:oMath>
                    </a14:m>
                    <a:endParaRPr lang="en-US" sz="2800" dirty="0"/>
                  </a:p>
                  <a:p>
                    <a:pPr algn="just"/>
                    <a:r>
                      <a:rPr lang="en-US" sz="2800" dirty="0">
                        <a:ea typeface="Cambria Math" panose="02040503050406030204" pitchFamily="18" charset="0"/>
                      </a:rPr>
                      <a:t>      </a:t>
                    </a:r>
                    <a14:m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mark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new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𝓕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sz="2800" b="0" i="1" dirty="0">
                      <a:latin typeface="Cambria Math" panose="02040503050406030204" pitchFamily="18" charset="0"/>
                    </a:endParaRPr>
                  </a:p>
                  <a:p>
                    <a:pPr algn="just"/>
                    <a:r>
                      <a:rPr lang="en-US" sz="2800" dirty="0"/>
                      <a:t>      </a:t>
                    </a:r>
                    <a14:m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endParaRPr lang="en-US" sz="2800" dirty="0"/>
                  </a:p>
                  <a:p>
                    <a:pPr algn="just"/>
                    <a:r>
                      <a:rPr lang="en-US" sz="2800" dirty="0"/>
                      <a:t>     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i="0" dirty="0">
                            <a:latin typeface="Cambria Math" panose="02040503050406030204" pitchFamily="18" charset="0"/>
                          </a:rPr>
                          <m:t>while</m:t>
                        </m:r>
                      </m:oMath>
                    </a14:m>
                    <a:r>
                      <a:rPr lang="en-US" sz="2800" dirty="0"/>
                      <a:t> </a:t>
                    </a:r>
                    <a:r>
                      <a:rPr lang="en-US" sz="2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∃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new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a14:m>
                    <a:endParaRPr lang="en-US" sz="2800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 algn="just"/>
                    <a:r>
                      <a:rPr lang="en-US" sz="2800" dirty="0">
                        <a:ea typeface="Cambria Math" panose="02040503050406030204" pitchFamily="18" charset="0"/>
                      </a:rPr>
                      <a:t>           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mark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old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</m:oMath>
                    </a14:m>
                    <a:endParaRPr lang="en-US" sz="2800" dirty="0"/>
                  </a:p>
                  <a:p>
                    <a:pPr algn="just"/>
                    <a:r>
                      <a:rPr lang="en-US" sz="2800" dirty="0"/>
                      <a:t>           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i="0" dirty="0" smtClean="0">
                            <a:latin typeface="Cambria Math" panose="02040503050406030204" pitchFamily="18" charset="0"/>
                          </a:rPr>
                          <m:t>while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new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m:rPr>
                                <m:nor/>
                              </m:rPr>
                              <a:rPr lang="en-US" sz="28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/>
                          <m:t>||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𝓕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≠∅</m:t>
                        </m:r>
                      </m:oMath>
                    </a14:m>
                    <a:endParaRPr lang="en-US" sz="2800" dirty="0"/>
                  </a:p>
                  <a:p>
                    <a:r>
                      <a:rPr lang="en-US" sz="2800" b="0" dirty="0"/>
                      <a:t>                 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if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new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m:rPr>
                                <m:nor/>
                              </m:rPr>
                              <a:rPr lang="en-US" sz="28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oMath>
                    </a14:m>
                    <a:r>
                      <a:rPr lang="en-US" sz="2800" dirty="0"/>
                      <a:t>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mark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old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</m:oMath>
                    </a14:m>
                    <a:endParaRPr lang="en-US" sz="2800" dirty="0"/>
                  </a:p>
                  <a:p>
                    <a:r>
                      <a:rPr lang="en-US" sz="2800" dirty="0"/>
                      <a:t>                        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i="0" dirty="0">
                            <a:latin typeface="Cambria Math" panose="02040503050406030204" pitchFamily="18" charset="0"/>
                          </a:rPr>
                          <m:t>if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is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new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</m:oMath>
                    </a14:m>
                    <a:endParaRPr lang="en-US" sz="2800" b="0" i="1" dirty="0">
                      <a:latin typeface="Cambria Math" panose="02040503050406030204" pitchFamily="18" charset="0"/>
                    </a:endParaRPr>
                  </a:p>
                  <a:p>
                    <a:pPr algn="just"/>
                    <a:r>
                      <a:rPr lang="en-US" sz="2800" dirty="0">
                        <a:ea typeface="Cambria Math" panose="02040503050406030204" pitchFamily="18" charset="0"/>
                      </a:rPr>
                      <a:t>                             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mark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old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𝓕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oMath>
                    </a14:m>
                    <a:endParaRPr lang="en-US" sz="2800" dirty="0"/>
                  </a:p>
                  <a:p>
                    <a:pPr algn="just"/>
                    <a:r>
                      <a:rPr lang="en-US" sz="2800" dirty="0"/>
                      <a:t>                  </a:t>
                    </a: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else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;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𝓕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a14:m>
                    <a:endParaRPr lang="en-US" sz="2800" dirty="0"/>
                  </a:p>
                  <a:p>
                    <a:pPr algn="just"/>
                    <a:r>
                      <a:rPr lang="en-US" sz="2800" dirty="0"/>
                      <a:t>           </a:t>
                    </a:r>
                    <a14:m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US" sz="2800" dirty="0">
                        <a:ea typeface="Cambria Math" panose="020405030504060302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++</m:t>
                        </m:r>
                      </m:oMath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8585" y="582067"/>
                    <a:ext cx="7331246" cy="540205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3" name="Group 12"/>
              <p:cNvGrpSpPr/>
              <p:nvPr/>
            </p:nvGrpSpPr>
            <p:grpSpPr>
              <a:xfrm>
                <a:off x="3949331" y="2399651"/>
                <a:ext cx="6624736" cy="3548386"/>
                <a:chOff x="3949331" y="2399651"/>
                <a:chExt cx="6624736" cy="354838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" name="TextBox 4"/>
                    <p:cNvSpPr txBox="1"/>
                    <p:nvPr/>
                  </p:nvSpPr>
                  <p:spPr>
                    <a:xfrm>
                      <a:off x="4129350" y="2831699"/>
                      <a:ext cx="4824536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// grow DFS subtree rooted at </a:t>
                      </a:r>
                      <a14:m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a14:m>
                      <a:r>
                        <a:rPr lang="en-US" sz="2800" dirty="0">
                          <a:solidFill>
                            <a:srgbClr val="009900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5" name="TextBox 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29350" y="2831699"/>
                      <a:ext cx="4824536" cy="52322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525" t="-11765" b="-3411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" name="TextBox 6"/>
                <p:cNvSpPr txBox="1"/>
                <p:nvPr/>
              </p:nvSpPr>
              <p:spPr>
                <a:xfrm>
                  <a:off x="4741418" y="2399651"/>
                  <a:ext cx="476609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get root for new DFS subtree</a:t>
                  </a:r>
                </a:p>
              </p:txBody>
            </p:sp>
            <p:sp>
              <p:nvSpPr>
                <p:cNvPr id="8" name="TextBox 7"/>
                <p:cNvSpPr txBox="1"/>
                <p:nvPr/>
              </p:nvSpPr>
              <p:spPr>
                <a:xfrm>
                  <a:off x="7081679" y="3723168"/>
                  <a:ext cx="316835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explore new edge </a:t>
                  </a:r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5101459" y="4091417"/>
                  <a:ext cx="253856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first time visit</a:t>
                  </a:r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6829651" y="5016505"/>
                  <a:ext cx="374441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record backtrack time</a:t>
                  </a:r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3949331" y="5424817"/>
                  <a:ext cx="392555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solidFill>
                        <a:srgbClr val="009900"/>
                      </a:solidFill>
                    </a:rPr>
                    <a:t>// DFS subtree completed </a:t>
                  </a:r>
                </a:p>
              </p:txBody>
            </p:sp>
          </p:grpSp>
        </p:grpSp>
        <p:sp>
          <p:nvSpPr>
            <p:cNvPr id="15" name="Rectangle 14"/>
            <p:cNvSpPr/>
            <p:nvPr/>
          </p:nvSpPr>
          <p:spPr>
            <a:xfrm>
              <a:off x="1118585" y="610194"/>
              <a:ext cx="9455482" cy="5373929"/>
            </a:xfrm>
            <a:prstGeom prst="rect">
              <a:avLst/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28933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Algorithms and DS I: Exploring Graphs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156EA-883B-491A-9A56-90F6CDBF6EC4}" type="slidenum">
              <a:rPr lang="en-US" smtClean="0"/>
              <a:t>38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839416" y="728700"/>
            <a:ext cx="10517599" cy="5401030"/>
            <a:chOff x="839416" y="764274"/>
            <a:chExt cx="10517599" cy="54010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839417" y="764274"/>
                  <a:ext cx="9401475" cy="54010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800" i="0" dirty="0" smtClean="0">
                            <a:latin typeface="Cambria Math" panose="02040503050406030204" pitchFamily="18" charset="0"/>
                          </a:rPr>
                          <m:t>Procedure</m:t>
                        </m:r>
                        <m:r>
                          <m:rPr>
                            <m:nor/>
                          </m:rPr>
                          <a:rPr lang="en-US" sz="280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i="0" dirty="0" smtClean="0">
                            <a:latin typeface="Cambria Math" panose="02040503050406030204" pitchFamily="18" charset="0"/>
                          </a:rPr>
                          <m:t>DFS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⃖"/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⃖"/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𝓗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SSCs</m:t>
                        </m:r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dirty="0"/>
                </a:p>
                <a:p>
                  <a:pPr algn="just"/>
                  <a:r>
                    <a:rPr lang="en-US" sz="2800" dirty="0"/>
                    <a:t>      </a:t>
                  </a:r>
                  <a14:m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acc>
                        <m:accPr>
                          <m:chr m:val="⃖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m:rPr>
                          <m:nor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mark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new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</m:oMath>
                  </a14:m>
                  <a:endParaRPr lang="en-US" sz="2800" dirty="0"/>
                </a:p>
                <a:p>
                  <a:pPr algn="just"/>
                  <a:r>
                    <a:rPr lang="en-US" sz="2800" dirty="0">
                      <a:ea typeface="Cambria Math" panose="02040503050406030204" pitchFamily="18" charset="0"/>
                    </a:rPr>
                    <a:t>     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mark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new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𝓕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a14:m>
                  <a:endParaRPr lang="en-US" sz="2800" b="0" i="1" dirty="0">
                    <a:latin typeface="Cambria Math" panose="02040503050406030204" pitchFamily="18" charset="0"/>
                  </a:endParaRPr>
                </a:p>
                <a:p>
                  <a:pPr algn="just"/>
                  <a:r>
                    <a:rPr lang="en-US" sz="2800" dirty="0"/>
                    <a:t>     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>
                          <a:latin typeface="Cambria Math" panose="02040503050406030204" pitchFamily="18" charset="0"/>
                        </a:rPr>
                        <m:t>while</m:t>
                      </m:r>
                    </m:oMath>
                  </a14:m>
                  <a:r>
                    <a:rPr lang="en-US" sz="2800" dirty="0"/>
                    <a:t> </a:t>
                  </a:r>
                  <a14:m>
                    <m:oMath xmlns:m="http://schemas.openxmlformats.org/officeDocument/2006/math"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</m:oMath>
                  </a14:m>
                  <a:r>
                    <a:rPr lang="en-US" sz="28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∃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new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just"/>
                  <a:r>
                    <a:rPr lang="en-US" sz="28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            let </a:t>
                  </a:r>
                  <a14:m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"</m:t>
                              </m:r>
                              <m:r>
                                <m:rPr>
                                  <m:nor/>
                                </m:rP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new</m:t>
                              </m:r>
                              <m:r>
                                <m:rPr>
                                  <m:nor/>
                                </m:rP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"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fName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𝓗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a14:m>
                  <a:endParaRPr lang="en-US" sz="2800" b="0" i="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just"/>
                  <a:r>
                    <a:rPr lang="en-US" sz="2800" dirty="0">
                      <a:ea typeface="Cambria Math" panose="02040503050406030204" pitchFamily="18" charset="0"/>
                    </a:rPr>
                    <a:t>           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mark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old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“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;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a14:m>
                  <a:endParaRPr lang="en-US" sz="2800" dirty="0"/>
                </a:p>
                <a:p>
                  <a:pPr algn="just"/>
                  <a:r>
                    <a:rPr lang="en-US" sz="2800" dirty="0"/>
                    <a:t>           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latin typeface="Cambria Math" panose="02040503050406030204" pitchFamily="18" charset="0"/>
                        </a:rPr>
                        <m:t>while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 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new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 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m:rPr>
                              <m:nor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m:rPr>
                          <m:nor/>
                        </m:rPr>
                        <a:rPr lang="en-US" sz="2800" dirty="0"/>
                        <m:t>||</m:t>
                      </m:r>
                      <m:r>
                        <m:rPr>
                          <m:nor/>
                        </m:rPr>
                        <a:rPr lang="en-US" sz="2800" b="0" i="0" dirty="0" smtClean="0"/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𝓕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a14:m>
                  <a:endParaRPr lang="en-US" sz="2800" dirty="0"/>
                </a:p>
                <a:p>
                  <a:r>
                    <a:rPr lang="en-US" sz="2800" b="0" dirty="0"/>
                    <a:t>                 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 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new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 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m:rPr>
                              <m:nor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a14:m>
                  <a:r>
                    <a:rPr lang="en-US" sz="2800" dirty="0"/>
                    <a:t>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mark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m:rPr>
                          <m:nor/>
                        </m:rPr>
                        <a:rPr lang="en-US" sz="280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old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“</m:t>
                      </m:r>
                    </m:oMath>
                  </a14:m>
                  <a:endParaRPr lang="en-US" sz="2800" dirty="0"/>
                </a:p>
                <a:p>
                  <a:pPr algn="just"/>
                  <a:r>
                    <a:rPr lang="en-US" sz="2800" dirty="0"/>
                    <a:t>                        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dirty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new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</m:oMath>
                  </a14:m>
                  <a:endParaRPr lang="en-US" sz="2800" b="0" i="1" dirty="0">
                    <a:latin typeface="Cambria Math" panose="02040503050406030204" pitchFamily="18" charset="0"/>
                  </a:endParaRPr>
                </a:p>
                <a:p>
                  <a:pPr algn="just"/>
                  <a:r>
                    <a:rPr lang="en-US" sz="2800" dirty="0">
                      <a:ea typeface="Cambria Math" panose="02040503050406030204" pitchFamily="18" charset="0"/>
                    </a:rPr>
                    <a:t>                             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mark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old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𝓕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m:rPr>
                          <m:sty m:val="p"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a14:m>
                  <a:endParaRPr lang="en-US" sz="2800" dirty="0"/>
                </a:p>
                <a:p>
                  <a:pPr algn="just"/>
                  <a:r>
                    <a:rPr lang="en-US" sz="2800" dirty="0"/>
                    <a:t>                 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else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𝓕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a14:m>
                  <a:endParaRPr lang="en-US" sz="2800" dirty="0"/>
                </a:p>
                <a:p>
                  <a:pPr algn="just"/>
                  <a:r>
                    <a:rPr lang="en-US" sz="2800" dirty="0"/>
                    <a:t>           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</a:rPr>
                        <m:t>SSC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800">
                          <a:latin typeface="Cambria Math" panose="02040503050406030204" pitchFamily="18" charset="0"/>
                        </a:rPr>
                        <m:t>SSC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m:rPr>
                          <m:sty m:val="p"/>
                        </m:rP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417" y="764274"/>
                  <a:ext cx="9401475" cy="540103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/>
            <p:cNvSpPr/>
            <p:nvPr/>
          </p:nvSpPr>
          <p:spPr>
            <a:xfrm>
              <a:off x="839416" y="768446"/>
              <a:ext cx="10517599" cy="5396858"/>
            </a:xfrm>
            <a:prstGeom prst="rect">
              <a:avLst/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4551050" y="2600908"/>
              <a:ext cx="6549506" cy="3521062"/>
              <a:chOff x="4551050" y="2600908"/>
              <a:chExt cx="6549506" cy="3521062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5204763" y="3032526"/>
                <a:ext cx="55086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initialize new SCC and DFS subtree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822290" y="4293971"/>
                <a:ext cx="23762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expand  SCC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551050" y="5598750"/>
                <a:ext cx="28083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SCC completed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551050" y="5178774"/>
                <a:ext cx="19782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backtrack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6780076" y="2600908"/>
                <a:ext cx="43204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9900"/>
                    </a:solidFill>
                  </a:rPr>
                  <a:t>// get largest backtrack time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9076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25923</TotalTime>
  <Words>3308</Words>
  <Application>Microsoft Office PowerPoint</Application>
  <PresentationFormat>Widescreen</PresentationFormat>
  <Paragraphs>453</Paragraphs>
  <Slides>38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Cambria</vt:lpstr>
      <vt:lpstr>Cambria Math</vt:lpstr>
      <vt:lpstr>Office Theme</vt:lpstr>
      <vt:lpstr>Exploring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Programming</dc:title>
  <dc:creator>USER</dc:creator>
  <cp:lastModifiedBy>Shmuel Wimer</cp:lastModifiedBy>
  <cp:revision>898</cp:revision>
  <dcterms:created xsi:type="dcterms:W3CDTF">2021-10-08T01:25:47Z</dcterms:created>
  <dcterms:modified xsi:type="dcterms:W3CDTF">2026-03-10T15:36:39Z</dcterms:modified>
</cp:coreProperties>
</file>